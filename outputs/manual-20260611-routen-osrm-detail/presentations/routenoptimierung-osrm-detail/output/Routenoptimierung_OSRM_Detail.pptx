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b6791f1a3c4c33" /><Relationship Type="http://schemas.openxmlformats.org/officeDocument/2006/relationships/extended-properties" Target="/docProps/app.xml" Id="Reb5c190f8b8a475b" /><Relationship Type="http://schemas.openxmlformats.org/officeDocument/2006/relationships/officeDocument" Target="/ppt/presentation.xml" Id="R33bb5b5b0b1f45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340908d6164684"/>
  </p:sldMasterIdLst>
  <p:notesMasterIdLst>
    <p:notesMasterId xmlns:r="http://schemas.openxmlformats.org/officeDocument/2006/relationships" r:id="Rbbdae551cedd4f60"/>
  </p:notesMasterIdLst>
  <p:sldIdLst>
    <p:sldId xmlns:r="http://schemas.openxmlformats.org/officeDocument/2006/relationships" id="256" r:id="R2e9bedd902644f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c20133efcf4b51" /><Relationship Type="http://schemas.openxmlformats.org/officeDocument/2006/relationships/slideMaster" Target="/ppt/slideMasters/slideMaster1.xml" Id="R98340908d6164684" /><Relationship Type="http://schemas.openxmlformats.org/officeDocument/2006/relationships/notesMaster" Target="/ppt/notesMasters/notesMaster1.xml" Id="Rbbdae551cedd4f60" /><Relationship Type="http://schemas.openxmlformats.org/officeDocument/2006/relationships/presProps" Target="/ppt/presProps.xml" Id="R77729de4cf524d72" /><Relationship Type="http://schemas.openxmlformats.org/officeDocument/2006/relationships/viewProps" Target="/ppt/viewProps.xml" Id="R25f348e6e5474d5b" /><Relationship Type="http://schemas.openxmlformats.org/officeDocument/2006/relationships/tableStyles" Target="/ppt/tableStyles.xml" Id="R824e79581fa746ff" /><Relationship Type="http://schemas.openxmlformats.org/officeDocument/2006/relationships/slide" Target="/ppt/slides/slide1.xml" Id="R2e9bedd902644f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eb92658c5b48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08497b0841494a" /><Relationship Type="http://schemas.openxmlformats.org/officeDocument/2006/relationships/notesMaster" Target="/ppt/notesMasters/notesMaster1.xml" Id="R34d733e558db42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0459fc4f24f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1ebcbb68424530" /><Relationship Type="http://schemas.openxmlformats.org/officeDocument/2006/relationships/slideLayout" Target="/ppt/slideLayouts/slideLayout1.xml" Id="R7d901697df8c49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901697df8c49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a15fa21a94a8e" /><Relationship Type="http://schemas.openxmlformats.org/officeDocument/2006/relationships/image" Target="/ppt/media/image.png" Id="Rfc033549ccd542f8" /><Relationship Type="http://schemas.openxmlformats.org/officeDocument/2006/relationships/image" Target="/ppt/media/image.svg" Id="R3f9b548d25054bb0" /><Relationship Type="http://schemas.openxmlformats.org/officeDocument/2006/relationships/image" Target="/ppt/media/image2.png" Id="R0ce208cd55844564" /><Relationship Type="http://schemas.openxmlformats.org/officeDocument/2006/relationships/image" Target="/ppt/media/image2.svg" Id="Re6d0d7b0a1924a4f" /><Relationship Type="http://schemas.openxmlformats.org/officeDocument/2006/relationships/image" Target="/ppt/media/image3.png" Id="Rc4ef4c6b045944f7" /><Relationship Type="http://schemas.openxmlformats.org/officeDocument/2006/relationships/image" Target="/ppt/media/image3.svg" Id="R88e37882441a44d7" /><Relationship Type="http://schemas.openxmlformats.org/officeDocument/2006/relationships/image" Target="/ppt/media/image4.png" Id="Re4df92bfe8f243b2" /><Relationship Type="http://schemas.openxmlformats.org/officeDocument/2006/relationships/image" Target="/ppt/media/image4.svg" Id="R3e0ed52e5de2422c" /><Relationship Type="http://schemas.openxmlformats.org/officeDocument/2006/relationships/image" Target="/ppt/media/image5.png" Id="Rae5f1eb503614324" /><Relationship Type="http://schemas.openxmlformats.org/officeDocument/2006/relationships/image" Target="/ppt/media/image5.svg" Id="R79ae1ef45bea4efd" /><Relationship Type="http://schemas.openxmlformats.org/officeDocument/2006/relationships/notesSlide" Target="/ppt/notesSlides/notesSlide1.xml" Id="R05247b32030d42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36A69A-21BC-4352-B387-E63ECB37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532A7-A5C8-464F-AFD1-96EE34AD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50059-3C91-4D29-9A65-228E210D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ROUTENOPTIMIERUNG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990C5-3184-4EA9-81A5-75D11F5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OSRM im Greedy-VRP: echte Straßenzeiten statt Luftlinie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40BB2-8C08-4FBC-8231-E7B69C13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Für jeden Hub fragt Step 4 eine Straßenmatrix ab. Der Algorithmus testet danach alle zulässigen nächsten Stopps und wählt den mit den geringsten normierten Grenzkosten.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98704-017F-4679-8848-FA23A25B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4290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0EE65-1B07-4E49-A805-AE775DA4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34290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911F8-ACE3-4AAA-B4D3-53F2FE50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086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OSRM /table pro Depot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CD180-29F0-4469-B0BF-06AF162B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annotations = distance,duration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688B9-072A-44C9-A699-B9654A43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Depot + Stopps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E0B93-CCEF-45E1-9475-5C9072D2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7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AD87C-BB2C-4D4A-9264-51C40D8A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289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2D0C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761C1-C0FA-49BE-9A0A-A5A979B8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D5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C8AE3-7D12-48C9-B7F8-CD70A119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0289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FE5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B3318-B579-4EE5-91F6-A91EBF9D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289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629BD-F0ED-4194-88A7-0E8572A7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861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2D0C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3BAF1-5AE9-4430-A41C-B60A92F6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2861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7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B86F9-90E3-4400-84B0-D58529AF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861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FE5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A27DE-C37B-4C7C-B910-6357AFCF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861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C7A20-94E6-4303-9FFE-977ED168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861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D5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A2384-99E1-42FA-B94D-C6565E46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D5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BDF98-D514-44CE-BBAD-B8669974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433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FE5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1F789-BCCC-4BEB-87AD-CC1BE535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7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D143D6-17AA-4FFF-9A78-9BF2EB40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5433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2D0C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C29BC-4DAB-4EF2-B79C-E7A63D8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433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FE5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EC1EE-3017-4C83-8AB8-6612BF70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FE5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6E936E-EA8C-4726-AB7B-A306BFE0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004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5103E-AC0C-4424-9F25-0932B0DB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004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2D0C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D3214-442F-4CF5-A968-4686C5E0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004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7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C2A0F-DDCD-427F-AD29-8192D2F5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004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FE5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5EFC8F-3777-4386-9E6C-DE0BBF06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3F4C27-2583-4776-BF8D-7A5DB26B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57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D5A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D5E1EC-369B-4B29-893E-55DF44CB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57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FE5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47D74E-470A-4225-A142-CD2297C7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057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2D0C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CA3F30-05AF-417C-B71B-DBE3AF6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57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7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57D3A9-FD80-4CF5-A825-1453E1A0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133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3DEF50-60C2-481F-B21D-CE6241E5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Distanzmatrix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3F7534-3555-43D5-9951-CCF0D4D4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5755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km fuer Kosten,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Reichweite und CO2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5DCA18-9E2B-4ADA-B196-7D6E0A87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990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CEB6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0D959E-60BB-4C49-AA53-5750DAB4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52850"/>
            <a:ext cx="781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Zeitmatrix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64B3C0-E6B7-4A5E-8318-241362E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0050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 fuer Score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33549ccd542f8">
            <a:extLst>
              <a:ext uri="{96DAC541-7B7A-43D3-8B79-37D633B846F1}">
                <asvg:svgBlip xmlns:asvg="http://schemas.microsoft.com/office/drawing/2016/SVG/main" r:embed="R3f9b548d25054b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71950" y="3486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730DA7-ACDC-4424-BC75-F0F829BC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337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1DEDB2-B9A1-482C-AC9F-DB8A34A3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337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9DEBDF-BC33-4A43-B766-F7F5003C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77E0B3-D5D9-4AE0-BD85-712319DF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60AF8E-B9FE-460A-ACE9-EAC512F6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43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208cd55844564">
            <a:extLst>
              <a:ext uri="{96DAC541-7B7A-43D3-8B79-37D633B846F1}">
                <asvg:svgBlip xmlns:asvg="http://schemas.microsoft.com/office/drawing/2016/SVG/main" r:embed="Re6d0d7b0a1924a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67600" y="25431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635761-D237-4940-8A78-F3C1EC6E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95550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08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Matrix laden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D028E6-9573-4E01-9680-8BD0700C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3367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Knoten = Depot + alle zugewiesenen Apotheken; OSRM liefert km und h in einem /table-Aufruf.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208BB2-8227-48CF-844C-CAB38DD0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337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79D588-5622-4BFA-8DD1-2ED82230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337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389D41-FE53-4A2B-831E-8CC69DD1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DAA35E-9FC6-4D7F-B9E1-5424483F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201A53-688F-45D5-A864-F9D4DCC6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19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f4c6b045944f7">
            <a:extLst>
              <a:ext uri="{96DAC541-7B7A-43D3-8B79-37D633B846F1}">
                <asvg:svgBlip xmlns:asvg="http://schemas.microsoft.com/office/drawing/2016/SVG/main" r:embed="R88e37882441a44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67600" y="34194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395F44-EF88-4E49-8B93-E9496FDA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08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Kandidaten filtern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2C6FEC-C8C5-45C4-A889-5BAD6F43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0997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Kapazität, Reichweite, Schichtzeit und Öffnungszeit entscheiden, welche Stopps zulässig bleiben.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97D990-5ED6-47B2-A297-69AC6413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52900"/>
            <a:ext cx="3371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7DC50C-A6DB-4CD4-B2CF-DA9FDD6C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3371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DF3363-23B7-45C5-A58D-E205FDC8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326915D-97A5-4D42-BC12-6BED4677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67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732082-0EB6-4AB9-BADD-E756981A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95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f92bfe8f243b2">
            <a:extLst>
              <a:ext uri="{96DAC541-7B7A-43D3-8B79-37D633B846F1}">
                <asvg:svgBlip xmlns:asvg="http://schemas.microsoft.com/office/drawing/2016/SVG/main" r:embed="R3e0ed52e5de242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67600" y="42957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5CA1CC-854E-4BF6-97F8-83A797B9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48150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08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Grenzkosten bewerten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958A28-9F9A-484C-BCCD-895EEBED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86275"/>
            <a:ext cx="2552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Für jeden Kandidaten wird das Insertions-Delta berechnet: zusätzliche km, zusätzliche h und zusätzlicher CO2-Ausstoß.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f1eb503614324">
            <a:extLst>
              <a:ext uri="{96DAC541-7B7A-43D3-8B79-37D633B846F1}">
                <asvg:svgBlip xmlns:asvg="http://schemas.microsoft.com/office/drawing/2016/SVG/main" r:embed="R79ae1ef45bea4e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81950" y="3486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53E600-7B5D-4C26-9A12-ABD1A020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32385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D5BE4C-E65D-44F9-9E0E-5FC7EBD8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32385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99541B-5C20-4075-850B-474E71DB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955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Warum OSRM wichtig ist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3995966-DAB0-4513-9B2D-E0F8C803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432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Zeit ist nicht proportional zur Distanz.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351B9D9-CD6F-4B72-A1CA-E24DB610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27051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DE7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80CCB3D-2BC7-472F-BF87-67F9C650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86250"/>
            <a:ext cx="2038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A7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3EB603-0A92-44CB-B43C-C4832D6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28575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D7324E6-3D92-49E8-9F0B-8E3CBE77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9906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23AB2E1-B4A1-4BDA-AFFE-D440A410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43300"/>
            <a:ext cx="28575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54CB790-DEC1-4424-B8FE-0CDEFDE2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0"/>
            <a:ext cx="9906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AD4A9C-D2FC-43DD-8D63-276846FA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81475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04D9033-1AC4-4D2C-87C3-22613D00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195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E77A77B-7B47-459E-A529-87DB0649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48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3D0B977-7D0A-4063-9813-8DCDE8CC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DCA2A77-5D66-4731-B651-08C2AA8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48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FA03047-4008-4129-9D4C-6578AAA8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47662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4C35094-848D-494B-8F3C-E4F744A1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181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EED9628-C0BE-4DD2-A203-40BEB654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195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CDBC30-24BC-4A14-96A8-93835DAD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3C2C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04DB54D-EE4D-4A57-A290-7D1639DB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1028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kuerzeste Strecke ≠ schnellste Route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AE23D80-2138-4FB4-B4C8-847F9E30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6245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ADAE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31BEE23-A4F6-415A-9D72-7BEB8EE4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29125"/>
            <a:ext cx="933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OSRM bewertet echte Straßenzeit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287CF15-9DE3-4594-8D4E-BF8542EB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529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Rueckgabe: GeoJSON-Route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B86F81-E759-4C89-BBF2-6539652D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339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Die finale Tour wird mit /route als echte Liniengeometrie gespeichert.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CD6CA08-5CD4-4212-96D9-5E36BE03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9156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62DD582-6BD6-4CBD-AB15-97C55516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D7E2F1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D7E2F1"/>
                </a:solidFill>
                <a:latin typeface="Aptos Display"/>
                <a:ea typeface="Aptos Display"/>
                <a:cs typeface="Aptos Display"/>
              </a:rPr>
              <a:t>Insertions-Delta fuer jeden Kandidaten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E65BEE3-9856-4A24-B7A0-7BCF4982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D7E2F1"/>
                </a:solidFill>
                <a:latin typeface="Aptos Mono"/>
                <a:ea typeface="Aptos Mono"/>
                <a:cs typeface="Aptos Mono"/>
              </a:defRPr>
            </a:pPr>
            <a:r>
              <a:rPr sz="855" b="1">
                <a:solidFill>
                  <a:srgbClr val="D7E2F1"/>
                </a:solidFill>
                <a:latin typeface="Aptos Mono"/>
                <a:ea typeface="Aptos Mono"/>
                <a:cs typeface="Aptos Mono"/>
              </a:rPr>
              <a:t>Δkm = d(hier-&gt;Stop) + d(Stop-&gt;Depot) - d(hier-&gt;Depot)</a:t>
            </a:r>
          </a:p>
          <a:p xmlns:a="http://schemas.openxmlformats.org/drawingml/2006/main">
            <a:pPr algn="l">
              <a:defRPr sz="855" b="1">
                <a:solidFill>
                  <a:srgbClr val="D7E2F1"/>
                </a:solidFill>
                <a:latin typeface="Aptos Mono"/>
                <a:ea typeface="Aptos Mono"/>
                <a:cs typeface="Aptos Mono"/>
              </a:defRPr>
            </a:pPr>
            <a:r>
              <a:rPr sz="855" b="1">
                <a:solidFill>
                  <a:srgbClr val="D7E2F1"/>
                </a:solidFill>
                <a:latin typeface="Aptos Mono"/>
                <a:ea typeface="Aptos Mono"/>
                <a:cs typeface="Aptos Mono"/>
              </a:rPr>
              <a:t>Δh  = t(hier-&gt;Stop) + t(Stop-&gt;Depot) - t(hier-&gt;Depot)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EC877C5-032F-4197-AD26-D8D048FE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5911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Score = wc·norm(ΔCHF) + wt·norm(Δh) + we·norm(ΔCO2)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3F74632-5760-4C5B-A6FD-97202D40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5911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DC9B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FFDC9B"/>
                </a:solidFill>
                <a:latin typeface="Aptos"/>
                <a:ea typeface="Aptos"/>
                <a:cs typeface="Aptos"/>
              </a:rPr>
              <a:t>kleinster Score = naechster Stopp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FC359DF-C247-4152-A5E3-BFA6F964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C35BA0C-6E12-4166-8BAF-5774AD91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6BCD892-659C-4CD8-98E3-81B566CF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9834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2026-06-11T00:51:47.1250000Z</dcterms:created>
  <dcterms:modified xsi:type="dcterms:W3CDTF">2026-06-11T00:51:47.1250000Z</dcterms:modified>
</coreProperties>
</file>