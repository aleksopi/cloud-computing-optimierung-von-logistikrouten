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0d86133f548c0" /><Relationship Type="http://schemas.openxmlformats.org/officeDocument/2006/relationships/extended-properties" Target="/docProps/app.xml" Id="Rb351526540c14e9d" /><Relationship Type="http://schemas.openxmlformats.org/officeDocument/2006/relationships/officeDocument" Target="/ppt/presentation.xml" Id="R40eef33557b1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2e48929ce4046"/>
  </p:sldMasterIdLst>
  <p:notesMasterIdLst>
    <p:notesMasterId xmlns:r="http://schemas.openxmlformats.org/officeDocument/2006/relationships" r:id="Rd7e4ffe5b04845d3"/>
  </p:notesMasterIdLst>
  <p:sldIdLst>
    <p:sldId xmlns:r="http://schemas.openxmlformats.org/officeDocument/2006/relationships" id="256" r:id="R37d59d894963414e"/>
    <p:sldId xmlns:r="http://schemas.openxmlformats.org/officeDocument/2006/relationships" id="257" r:id="Rfe4dc67ed8cc423e"/>
    <p:sldId xmlns:r="http://schemas.openxmlformats.org/officeDocument/2006/relationships" id="258" r:id="R391db72f52934ed8"/>
    <p:sldId xmlns:r="http://schemas.openxmlformats.org/officeDocument/2006/relationships" id="259" r:id="R2ad5dbd639544c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988c75663c4f6f" /><Relationship Type="http://schemas.openxmlformats.org/officeDocument/2006/relationships/slideMaster" Target="/ppt/slideMasters/slideMaster1.xml" Id="Rdc32e48929ce4046" /><Relationship Type="http://schemas.openxmlformats.org/officeDocument/2006/relationships/notesMaster" Target="/ppt/notesMasters/notesMaster1.xml" Id="Rd7e4ffe5b04845d3" /><Relationship Type="http://schemas.openxmlformats.org/officeDocument/2006/relationships/presProps" Target="/ppt/presProps.xml" Id="R77ba2c07c9e14a4e" /><Relationship Type="http://schemas.openxmlformats.org/officeDocument/2006/relationships/viewProps" Target="/ppt/viewProps.xml" Id="R9310233049874fde" /><Relationship Type="http://schemas.openxmlformats.org/officeDocument/2006/relationships/tableStyles" Target="/ppt/tableStyles.xml" Id="R060067602b5d4f0e" /><Relationship Type="http://schemas.openxmlformats.org/officeDocument/2006/relationships/slide" Target="/ppt/slides/slide1.xml" Id="R37d59d894963414e" /><Relationship Type="http://schemas.openxmlformats.org/officeDocument/2006/relationships/slide" Target="/ppt/slides/slide2.xml" Id="Rfe4dc67ed8cc423e" /><Relationship Type="http://schemas.openxmlformats.org/officeDocument/2006/relationships/slide" Target="/ppt/slides/slide3.xml" Id="R391db72f52934ed8" /><Relationship Type="http://schemas.openxmlformats.org/officeDocument/2006/relationships/slide" Target="/ppt/slides/slide4.xml" Id="R2ad5dbd63954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5a8af5c89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291af8105403f" /><Relationship Type="http://schemas.openxmlformats.org/officeDocument/2006/relationships/notesMaster" Target="/ppt/notesMasters/notesMaster1.xml" Id="R6cfefa7c05a94f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ea29a1cb5446c1" /><Relationship Type="http://schemas.openxmlformats.org/officeDocument/2006/relationships/notesMaster" Target="/ppt/notesMasters/notesMaster1.xml" Id="R80b176616e034e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4a760390e48a8" /><Relationship Type="http://schemas.openxmlformats.org/officeDocument/2006/relationships/notesMaster" Target="/ppt/notesMasters/notesMaster1.xml" Id="Rb134b4b40399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8e78fb1a4246de" /><Relationship Type="http://schemas.openxmlformats.org/officeDocument/2006/relationships/notesMaster" Target="/ppt/notesMasters/notesMaster1.xml" Id="Reaeefbdfd56844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b2491a83c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3681c37df648df" /><Relationship Type="http://schemas.openxmlformats.org/officeDocument/2006/relationships/slideLayout" Target="/ppt/slideLayouts/slideLayout1.xml" Id="R67f547247bc64f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547247bc64f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fe4ce0858429c" /><Relationship Type="http://schemas.openxmlformats.org/officeDocument/2006/relationships/image" Target="/ppt/media/image.png" Id="R85defc477a96453e" /><Relationship Type="http://schemas.openxmlformats.org/officeDocument/2006/relationships/image" Target="/ppt/media/image.svg" Id="R62f5d870fd09456a" /><Relationship Type="http://schemas.openxmlformats.org/officeDocument/2006/relationships/image" Target="/ppt/media/image2.png" Id="R1da68b5720d347eb" /><Relationship Type="http://schemas.openxmlformats.org/officeDocument/2006/relationships/image" Target="/ppt/media/image2.svg" Id="R34f2f638d23c44e5" /><Relationship Type="http://schemas.openxmlformats.org/officeDocument/2006/relationships/image" Target="/ppt/media/image3.png" Id="Re9a7619d4b1345b5" /><Relationship Type="http://schemas.openxmlformats.org/officeDocument/2006/relationships/image" Target="/ppt/media/image3.svg" Id="Rab776498872442f9" /><Relationship Type="http://schemas.openxmlformats.org/officeDocument/2006/relationships/image" Target="/ppt/media/image4.png" Id="R6d2bad8300714126" /><Relationship Type="http://schemas.openxmlformats.org/officeDocument/2006/relationships/image" Target="/ppt/media/image4.svg" Id="Rbe073b3500f04810" /><Relationship Type="http://schemas.openxmlformats.org/officeDocument/2006/relationships/image" Target="/ppt/media/image5.png" Id="R23784eaff37f44c4" /><Relationship Type="http://schemas.openxmlformats.org/officeDocument/2006/relationships/image" Target="/ppt/media/image5.svg" Id="Rb34df2e285964752" /><Relationship Type="http://schemas.openxmlformats.org/officeDocument/2006/relationships/image" Target="/ppt/media/image6.png" Id="R98cd19cd693c4779" /><Relationship Type="http://schemas.openxmlformats.org/officeDocument/2006/relationships/image" Target="/ppt/media/image6.svg" Id="R036b0123d6e44ea8" /><Relationship Type="http://schemas.openxmlformats.org/officeDocument/2006/relationships/image" Target="/ppt/media/image7.png" Id="Rcbd1e0ddacb24528" /><Relationship Type="http://schemas.openxmlformats.org/officeDocument/2006/relationships/image" Target="/ppt/media/image7.svg" Id="Re127ebc7530e425d" /><Relationship Type="http://schemas.openxmlformats.org/officeDocument/2006/relationships/image" Target="/ppt/media/image8.png" Id="Rf14f63d85e3443d7" /><Relationship Type="http://schemas.openxmlformats.org/officeDocument/2006/relationships/image" Target="/ppt/media/image8.svg" Id="R5ab7bb7858a348d6" /><Relationship Type="http://schemas.openxmlformats.org/officeDocument/2006/relationships/image" Target="/ppt/media/image9.png" Id="R37b55b2eca4f4487" /><Relationship Type="http://schemas.openxmlformats.org/officeDocument/2006/relationships/image" Target="/ppt/media/image9.svg" Id="R19e3b214eafd4424" /><Relationship Type="http://schemas.openxmlformats.org/officeDocument/2006/relationships/notesSlide" Target="/ppt/notesSlides/notesSlide1.xml" Id="Rfa4b4ebb404c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7e61074b84c50" /><Relationship Type="http://schemas.openxmlformats.org/officeDocument/2006/relationships/image" Target="/ppt/media/image10.png" Id="Rfa7070f1e0bb428a" /><Relationship Type="http://schemas.openxmlformats.org/officeDocument/2006/relationships/image" Target="/ppt/media/image10.svg" Id="R2e28277a84244426" /><Relationship Type="http://schemas.openxmlformats.org/officeDocument/2006/relationships/image" Target="/ppt/media/image11.png" Id="R4b1fa1620c2441dd" /><Relationship Type="http://schemas.openxmlformats.org/officeDocument/2006/relationships/image" Target="/ppt/media/image11.svg" Id="R44070ed396c6406a" /><Relationship Type="http://schemas.openxmlformats.org/officeDocument/2006/relationships/image" Target="/ppt/media/image12.png" Id="Rbd41c6d40e684ac7" /><Relationship Type="http://schemas.openxmlformats.org/officeDocument/2006/relationships/image" Target="/ppt/media/image12.svg" Id="R355b54a7bf51438a" /><Relationship Type="http://schemas.openxmlformats.org/officeDocument/2006/relationships/notesSlide" Target="/ppt/notesSlides/notesSlide2.xml" Id="R6a7d19ae238e4b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7df55e1fd4243" /><Relationship Type="http://schemas.openxmlformats.org/officeDocument/2006/relationships/image" Target="/ppt/media/image13.png" Id="R3932393acc4841c5" /><Relationship Type="http://schemas.openxmlformats.org/officeDocument/2006/relationships/image" Target="/ppt/media/image13.svg" Id="Re48d5a029d5342c5" /><Relationship Type="http://schemas.openxmlformats.org/officeDocument/2006/relationships/image" Target="/ppt/media/image14.png" Id="R84a7a73d506b47f9" /><Relationship Type="http://schemas.openxmlformats.org/officeDocument/2006/relationships/image" Target="/ppt/media/image14.svg" Id="R5a6b77e6859d450b" /><Relationship Type="http://schemas.openxmlformats.org/officeDocument/2006/relationships/image" Target="/ppt/media/image15.png" Id="R5173ac2116334ed3" /><Relationship Type="http://schemas.openxmlformats.org/officeDocument/2006/relationships/image" Target="/ppt/media/image15.svg" Id="R044cdc479ba34c05" /><Relationship Type="http://schemas.openxmlformats.org/officeDocument/2006/relationships/image" Target="/ppt/media/image16.png" Id="Rdec4dd4392f341e5" /><Relationship Type="http://schemas.openxmlformats.org/officeDocument/2006/relationships/image" Target="/ppt/media/image16.svg" Id="R20ab1d09d74f4d73" /><Relationship Type="http://schemas.openxmlformats.org/officeDocument/2006/relationships/image" Target="/ppt/media/image17.png" Id="R0e288cf40ad5442e" /><Relationship Type="http://schemas.openxmlformats.org/officeDocument/2006/relationships/image" Target="/ppt/media/image17.svg" Id="R94f628727c2f4874" /><Relationship Type="http://schemas.openxmlformats.org/officeDocument/2006/relationships/image" Target="/ppt/media/image18.png" Id="Ra7e2e536083d43ef" /><Relationship Type="http://schemas.openxmlformats.org/officeDocument/2006/relationships/image" Target="/ppt/media/image18.svg" Id="Rd138aac349924800" /><Relationship Type="http://schemas.openxmlformats.org/officeDocument/2006/relationships/notesSlide" Target="/ppt/notesSlides/notesSlide3.xml" Id="R12bc64d5b1ba4e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2c3461ee0406d" /><Relationship Type="http://schemas.openxmlformats.org/officeDocument/2006/relationships/image" Target="/ppt/media/image19.png" Id="Rbb60ae77fc15410a" /><Relationship Type="http://schemas.openxmlformats.org/officeDocument/2006/relationships/image" Target="/ppt/media/image19.svg" Id="Ra1362329ef704b42" /><Relationship Type="http://schemas.openxmlformats.org/officeDocument/2006/relationships/notesSlide" Target="/ppt/notesSlides/notesSlide4.xml" Id="R5a642c679bc84d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35A66F-176C-4997-8E64-6679A25F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2CDD9-426B-4B3C-A529-2220F6E9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F4BD5-12D6-4B76-8358-549F3737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ROUTENBERECHNUNG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6B8C8-0A8B-4DFB-9D5D-2E7BE1AD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Datenbasis: OSRM-Matrix und Live Traffic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D2359-51B0-44C3-A0D3-E4845CEC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Step 4 arbeitet pro Depot mit echten Straßendistanzen und Fahrzeiten. Live Traffic kann die Zeitmatrix ersetzen; sonst greifen Simulation oder statischer Faktor.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7391E-4311-4ED5-A05C-E89EC24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0E17B-20D9-4769-AD96-6AE09F38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F1A82-5A71-4082-B77B-D8B8204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AC050-A21E-444D-9EE5-1E8CC81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1432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D2791-4B3E-4F9F-BCBD-065EA091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1432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7634E-9558-46DE-9555-B6CEE4AD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1 OSRM als Routing-Engine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efc477a96453e">
            <a:extLst>
              <a:ext uri="{96DAC541-7B7A-43D3-8B79-37D633B846F1}">
                <asvg:svgBlip xmlns:asvg="http://schemas.microsoft.com/office/drawing/2016/SVG/main" r:embed="R62f5d870fd0945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0" y="2533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EA55C-1413-46DE-8707-A8BC2CCB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Schweizer OpenStreetMap-Straßennetz liegt als vorverarbeiteter OSRM-Graph im Container.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FDD35-CB70-4E33-AFDB-1C9A062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68b5720d347eb">
            <a:extLst>
              <a:ext uri="{96DAC541-7B7A-43D3-8B79-37D633B846F1}">
                <asvg:svgBlip xmlns:asvg="http://schemas.microsoft.com/office/drawing/2016/SVG/main" r:embed="R34f2f638d23c44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35052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A8282-3522-421A-AFCA-DD38C16F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/table: km + Stunden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50AB9-BF90-4DD6-8E63-4E4E9CC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7619d4b1345b5">
            <a:extLst>
              <a:ext uri="{96DAC541-7B7A-43D3-8B79-37D633B846F1}">
                <asvg:svgBlip xmlns:asvg="http://schemas.microsoft.com/office/drawing/2016/SVG/main" r:embed="Rab776498872442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40005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9983F-FD3C-484D-B0F7-0FA2E8D4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/route: GeoJSON-Linie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29031-3161-4F35-9906-7B3EE62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bad8300714126">
            <a:extLst>
              <a:ext uri="{96DAC541-7B7A-43D3-8B79-37D633B846F1}">
                <asvg:svgBlip xmlns:asvg="http://schemas.microsoft.com/office/drawing/2016/SVG/main" r:embed="Rbe073b3500f048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44958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AC59C-AD02-4DA2-8729-4D7F8C5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OSRM_URL = http://osrm:5000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D595B-B17B-4FED-B38C-BBFCA58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Ergebnis: keine Luftlinie, sondern Straßenkilometer und Straßenfahrzeit.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84eaff37f44c4">
            <a:extLst>
              <a:ext uri="{96DAC541-7B7A-43D3-8B79-37D633B846F1}">
                <asvg:svgBlip xmlns:asvg="http://schemas.microsoft.com/office/drawing/2016/SVG/main" r:embed="Rb34df2e2859647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43350" y="3638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D8B23-EC0E-452D-ACD8-ACD9AD3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4480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CA720-F030-4DF4-BB4C-CD54288C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4480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0851B-E2C9-4EA1-9D2A-523B1D62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2 Pro Hub: Depot + Stopps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8F533-8D33-49F5-A1C0-D848BE2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Knotenliste = Hub als Depot plus alle zugeordneten Apotheken.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AFB65-3ED5-4B84-9085-678E8194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009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F02E7-7814-4357-857B-9B696A0D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480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3CE26-8F66-461F-BFA1-539592C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FD8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E9AD1D-EA93-4AC5-9C12-F15B3F2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76766D-5733-4404-9035-B896E80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FD8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0733E6-2803-4491-A989-728EDE1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57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448E5A-5BD3-4BCB-BB68-7E0D4F60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C27AEF-83BD-4D29-A6C7-FF74717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F8B28-51F7-4858-8A7C-9689290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36501F-DA17-4464-9C4A-5C54C284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CA0F14-438C-4D18-9242-1A400DF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Distanzmatrix d(i,j)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38E09-C47A-4AF0-BCE0-DBB54633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1009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13D3AB-023F-4133-974C-349F32A9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9E653A-EA89-4DC0-9EB7-FD4C9BE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FD8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B9B5E3-D71C-4170-AA7F-E082AD2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31EF33-015A-4EBE-9EC1-9CBB81E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FD8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DAD41E-53EA-459C-B21C-574B6183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5FC8E9-3119-4F93-B29D-F47322F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26E741-F5A9-4163-9B32-31002252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9E1CFD-2CEE-457B-9ED2-47E3961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35DB8F-FB3A-4B11-AF02-4593759E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F7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3423C8-FC91-4CB9-BE2F-B6DF7C6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Zeitmatrix t(i,j)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B5C96A-FEDC-48F8-A045-A929343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38650"/>
            <a:ext cx="2819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FBA766-992C-49C3-838B-85EB0C7E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defRPr>
            </a:pPr>
            <a:r>
              <a:rPr sz="915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rPr>
              <a:t>Input fuer den VRP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83071E-C802-4292-9D91-2C8099DD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nodes = [Depot, Stop_1, ..., Stop_n]</a:t>
            </a:r>
          </a:p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OSRM /table -&gt; dmat[km], durmat[h]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d19cd693c4779">
            <a:extLst>
              <a:ext uri="{96DAC541-7B7A-43D3-8B79-37D633B846F1}">
                <asvg:svgBlip xmlns:asvg="http://schemas.microsoft.com/office/drawing/2016/SVG/main" r:embed="R036b0123d6e44e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43850" y="3638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48AAF8-EB49-43D7-97FA-11E615A3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0FC9A9-9DEB-4C78-BEC4-F7FB2E7D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AFAC47-3B72-446D-9F82-995F755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3 Zeitquelle im Optimierer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B92CFD-8B2B-4514-8522-68146E4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F1A91B-1744-4B58-9569-9EE9C1AE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F02D41-D255-4918-BC4A-C433D89C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BA1445-3F68-4A83-AB95-56F608D4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47A66A-E0A3-4A9E-8CF1-DFFB1E7E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52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1e0ddacb24528">
            <a:extLst>
              <a:ext uri="{96DAC541-7B7A-43D3-8B79-37D633B846F1}">
                <asvg:svgBlip xmlns:asvg="http://schemas.microsoft.com/office/drawing/2016/SVG/main" r:embed="Re127ebc7530e42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0" y="3143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2C018D-2B4C-4AF2-AEDC-EE4621B4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95625"/>
            <a:ext cx="1524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OSRM Free Flow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B250C9-FD73-4A48-AE90-86E4CB3C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43275"/>
            <a:ext cx="1790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Basisdauer mit Straßentypen: Stadt, Autobahn, Passstraße.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B2FB58-5AB4-45A6-A5B6-BEAA8C9A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83A4B7-61BF-498D-A18D-E5666B9F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F2677F-AC2E-4BA2-B4BB-172F9433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884090-B4B3-441A-875F-E956FAE6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A826F1-1731-439C-8702-13C9B3D6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f63d85e3443d7">
            <a:extLst>
              <a:ext uri="{96DAC541-7B7A-43D3-8B79-37D633B846F1}">
                <asvg:svgBlip xmlns:asvg="http://schemas.microsoft.com/office/drawing/2016/SVG/main" r:embed="R5ab7bb7858a348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0" y="3848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432624-9678-4B62-9A2A-27752FD6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00475"/>
            <a:ext cx="1524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Simulation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0C3368-E57D-4B98-9C41-A3F4E8EB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48125"/>
            <a:ext cx="1790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Tageszeitprofil skaliert freie Fahrzeit, z. B. Berufsverkehr.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BB7A82-1103-4A90-8874-A2C642C1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1960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717440-B605-45FF-B1E1-FEFF06EB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2590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B5AAAF-B784-44CB-95CB-DA51E5B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985372-6B34-476D-8ED6-5FF46CD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262A63-49DF-430B-8602-59F942A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55b2eca4f4487">
            <a:extLst>
              <a:ext uri="{96DAC541-7B7A-43D3-8B79-37D633B846F1}">
                <asvg:svgBlip xmlns:asvg="http://schemas.microsoft.com/office/drawing/2016/SVG/main" r:embed="R19e3b214eafd44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0" y="4552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5A7B35-5539-4855-9ED6-410330F1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05325"/>
            <a:ext cx="1524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TomTom live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603593-21CD-4F74-B67F-D2E9377B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52975"/>
            <a:ext cx="1790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Optional: Matrix Routing mit echten aktuellen Fahrzeiten.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770776-93C9-43AC-971A-3F39FA3F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Fallback: Wenn TomTom fehlt, bleibt die Tour berechenbar: OSRM-Zeit × Faktor oder Distanz/Geschwindigkeit.</a:t>
            </a:r>
          </a:p>
        </p:txBody>
      </p:sp>
    </p:spTree>
    <p:extLst>
      <p:ext uri="{BB962C8B-B14F-4D97-AF65-F5344CB8AC3E}">
        <p14:creationId xmlns:p14="http://schemas.microsoft.com/office/powerpoint/2010/main" val="845710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30B5D-7576-4B8E-9F0C-56C723EA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CC2AD-5B3A-4150-9799-A44EAA22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E6774-2C12-4DD3-ADC0-5C8EC42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ROUTENBERECHNUNG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3225D-B76D-4B42-83DD-BEC5D8EB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Kosten, Zeit und Umwelt werden als Grenzkosten bewertet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4B763-673B-432A-9F82-004CD85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Der Greedy-VRP wählt keinen bloß nächstgelegenen Stopp. Er bewertet, was ein Stopp zusätzlich verursacht: CHF, Stunden und kg CO₂.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AFB31-CE41-4975-952D-B6CA5B96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F7D29-C305-4645-9ABA-F79C8840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8AB10-0ACD-4C9A-90F8-74799863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EDABA-6160-45C1-9880-91170A1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390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0DFC9-C1CE-4C46-985C-5D5F601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390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FAEC6-93AE-4FCF-A6D3-0B1CAED7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3909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070f1e0bb428a">
            <a:extLst>
              <a:ext uri="{96DAC541-7B7A-43D3-8B79-37D633B846F1}">
                <asvg:svgBlip xmlns:asvg="http://schemas.microsoft.com/office/drawing/2016/SVG/main" r:embed="R2e28277a842444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571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8A183-497A-473C-806A-F95373A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Kosten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BC53-3ED1-48C0-B102-DC0A5EA8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255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F4C81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0F4C81"/>
                </a:solidFill>
                <a:latin typeface="Aptos Mono"/>
                <a:ea typeface="Aptos Mono"/>
                <a:cs typeface="Aptos Mono"/>
              </a:rPr>
              <a:t>ΔCHF = Δkm·CHF/km + Δh·Lohn/h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BF4AB-7914-4A39-A449-8D253AA7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Kosten kombinieren Betriebskosten der zusätzlichen Strecke mit Fahrerlohn der zusätzlichen Fahrzeit.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4C71D-FD70-4866-8070-DCB5B738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390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63213-1B14-420A-AB38-EF9407E6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390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B9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728AB-18B7-4128-A256-DB82AA4D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33909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fa1620c2441dd">
            <a:extLst>
              <a:ext uri="{96DAC541-7B7A-43D3-8B79-37D633B846F1}">
                <asvg:svgBlip xmlns:asvg="http://schemas.microsoft.com/office/drawing/2016/SVG/main" r:embed="R44070ed396c640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2571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C817F-9F5A-4333-9551-6AE9CC41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Zeit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20DAC-BF2A-4F6B-BBA6-08F0C3D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76550"/>
            <a:ext cx="255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D9488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0D9488"/>
                </a:solidFill>
                <a:latin typeface="Aptos Mono"/>
                <a:ea typeface="Aptos Mono"/>
                <a:cs typeface="Aptos Mono"/>
              </a:rPr>
              <a:t>Δh = tneu - tbisher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03A38-AD31-4EA1-B41E-9E3465BB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Zeit stammt aus OSRM-Straßenzeiten oder TomTom-Live-Matrix. Deshalb kann ein längerer Autobahnweg schneller sein.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2B1F9-86F0-4212-988D-7C3736EF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390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D099D-65C1-45DD-95E6-1FB72359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3909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9E7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4821A-52F4-4F0E-8AF1-E359746D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3909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1c6d40e684ac7">
            <a:extLst>
              <a:ext uri="{96DAC541-7B7A-43D3-8B79-37D633B846F1}">
                <asvg:svgBlip xmlns:asvg="http://schemas.microsoft.com/office/drawing/2016/SVG/main" r:embed="R355b54a7bf5143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62950" y="2571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DBF68-2FF4-483E-A584-F4760396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Umwelt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D2132-7F26-4E66-8C3F-6572DD78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55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6A34A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16A34A"/>
                </a:solidFill>
                <a:latin typeface="Aptos Mono"/>
                <a:ea typeface="Aptos Mono"/>
                <a:cs typeface="Aptos Mono"/>
              </a:rPr>
              <a:t>ΔCO2 = Δkm·gCO2/km / 1000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A9F7F5-05A8-4860-9327-C97FD37E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Emissionen entstehen aus zusätzlicher Straßenstrecke und Fahrzeug-Emissionsfaktor.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BE6FB-8E40-43B0-8385-DCCF674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5391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A6798-7775-4B60-8194-390B68DF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504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defRPr>
            </a:pPr>
            <a:r>
              <a:rPr sz="915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rPr>
              <a:t>Multi-Objective-Score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6B9A2-5C6C-46CE-9B4C-2DB6816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 = wc·norm(ΔCHF) + wt·norm(Δh) + we·norm(ΔCO2)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norm(...) = Min-Max über alle aktuell zulässigen Kandidaten</a:t>
            </a:r>
          </a:p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1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kleiner Score = besserer nächster Stopp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01A020-B77D-453B-A66F-BAE29DE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9BF6BD-E202-4B87-BB6B-5A66F247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0BDFC-B373-42C8-A065-BAECDB9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95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Default-Gewichtung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39860E-6AC6-43FF-8379-68DDFC8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Kosten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09E0E8-9095-411F-990F-CB47E9DD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29175"/>
            <a:ext cx="1809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045095-8C05-45DD-90A3-959BBA6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29175"/>
            <a:ext cx="723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9AAAAD-E7E2-4261-9528-149D3B9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9107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40 %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6D62D5-3EB0-4CAB-A5AF-71901B0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Zeit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926CE-DA7E-4E3F-88CE-D7DB9705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57775"/>
            <a:ext cx="1809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6C9BC6-F100-42BD-89ED-4171331F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57775"/>
            <a:ext cx="633413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7B0461-FF1D-4AA4-BFEC-B6C5C2A7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1967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35 %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A6D93C-5826-4C42-878C-60736862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Umwelt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C93916-F0BA-4534-A05D-5D859A4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86375"/>
            <a:ext cx="1809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ADA2B7-2490-4BE1-9BF7-2621657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86375"/>
            <a:ext cx="452438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0DCB5E-E355-4E84-82E3-296C3D3A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48275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25 %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68B826-7D3A-4DE0-A51D-02DE50F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81500"/>
            <a:ext cx="2457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B3F1D4-2F76-4CCB-87A6-33ECD7B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24350"/>
            <a:ext cx="2457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FD5A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239733-B57B-4795-B05C-AD60E96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243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C4C141-9D69-454D-BAE6-42F76E9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958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Wichtig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275940-B540-49CB-BB5B-1E8B3608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62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Die Gewichte steuern den nächsten Stopp und zusätzlich die Reihenfolge der Last-Mile-Fahrzeuge.</a:t>
            </a:r>
          </a:p>
        </p:txBody>
      </p:sp>
    </p:spTree>
    <p:extLst>
      <p:ext uri="{BB962C8B-B14F-4D97-AF65-F5344CB8AC3E}">
        <p14:creationId xmlns:p14="http://schemas.microsoft.com/office/powerpoint/2010/main" val="15714546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0EF6D-7B2A-4627-B537-AC31955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2FFDE-7617-45C6-AB26-48783BC2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FEF3E-D5BA-4B01-ACEF-8B9585AA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ROUTENBERECHNUNG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4C5BA-DAF6-4916-80FD-E09A8781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So berechnet der Greedy-VRP eine Fahrzeugtour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FB3FB-1F82-4FC1-830F-C0EF07D5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Für jeden Hub wird eine eigene Mehrstopp-Tour gebaut. Der Algorithmus prüft erst harte Nebenbedingungen, dann entscheidet der gewichtete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BE9B2-3C8E-4F5C-AEAE-3BC8039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19CB5-9507-43E7-A477-657AA391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F45E0-A702-4207-A7A6-E28F409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44A1D-EDDA-4CD2-8C9C-5216CC0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C0267-9895-4987-9C8B-B86B46F7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A3238-8800-4484-BF5C-7032413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5166E-EB09-42CE-B1E9-E7543FD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F4FB8-E997-4BE1-B009-E0328C2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2393acc4841c5">
            <a:extLst>
              <a:ext uri="{96DAC541-7B7A-43D3-8B79-37D633B846F1}">
                <asvg:svgBlip xmlns:asvg="http://schemas.microsoft.com/office/drawing/2016/SVG/main" r:embed="Re48d5a029d5342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2533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AEEBD-AF55-43B4-A65A-A38ECB8C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190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Depot + Stopps laden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B1A14-328C-4E38-AEAA-6C3CE610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3675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Alle Apotheken, die Step 3 diesem Hub zugeordnet hat, werden als Stopps geladen.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1481B-364A-43BE-846A-F5F26C8A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2AE81-35C1-4069-95A1-EF7EB655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2E473-A0C4-435E-8B4E-A6257FFF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A5AE2-59DA-4B20-8F95-E228081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F7F50-AEA8-46F6-B488-1B1FABF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7a73d506b47f9">
            <a:extLst>
              <a:ext uri="{96DAC541-7B7A-43D3-8B79-37D633B846F1}">
                <asvg:svgBlip xmlns:asvg="http://schemas.microsoft.com/office/drawing/2016/SVG/main" r:embed="R5a6b77e6859d45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35433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59F37-6913-43B7-860B-CC45099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2190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Zulässige Kandidaten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1B61C-D895-4C40-A566-73DA295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Kapazität, Reichweite, Schichtdauer und Öffnungszeiten filtern unzulässige Stopps.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5E2FA-0806-472C-960C-0F9489EE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257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0DEB0-8286-4B69-AE46-C4BCB0B3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3257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62834-BD65-4445-A418-6F119277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ABDBB-5B45-44B8-8A13-402BD1DB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5ADD0-82E1-4568-8C92-0F4C45F5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3ac2116334ed3">
            <a:extLst>
              <a:ext uri="{96DAC541-7B7A-43D3-8B79-37D633B846F1}">
                <asvg:svgBlip xmlns:asvg="http://schemas.microsoft.com/office/drawing/2016/SVG/main" r:embed="R044cdc479ba34c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4552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5AFC59-E638-46EF-9AA7-82DDDCD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2190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Nächsten Stopp wählen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4F71BB-BC4F-4A4C-A2AA-64E8562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Für jeden Kandidaten wird das Insertions-Delta berechnet; der kleinste Score wird angefahren.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4dd4392f341e5">
            <a:extLst>
              <a:ext uri="{96DAC541-7B7A-43D3-8B79-37D633B846F1}">
                <asvg:svgBlip xmlns:asvg="http://schemas.microsoft.com/office/drawing/2016/SVG/main" r:embed="R20ab1d09d74f4d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76700" y="3638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CBDE7-1441-4BBA-A26D-8549C24F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952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19F7B-C372-422D-BED5-1C9112A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D7E2F1"/>
                </a:solidFill>
                <a:latin typeface="Aptos Display"/>
                <a:ea typeface="Aptos Display"/>
                <a:cs typeface="Aptos Display"/>
              </a:rPr>
              <a:t>Greedy-Schleife pro Fahrzeug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C62B4F-453F-4C0D-AC55-A53CDE92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26098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while noch Stopps offen: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kandidaten = zulässige Stopps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best = min(score(kandidaten))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route.append(best)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update Kapazität, km, Zeit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route.append(Depot)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88cf40ad5442e">
            <a:extLst>
              <a:ext uri="{96DAC541-7B7A-43D3-8B79-37D633B846F1}">
                <asvg:svgBlip xmlns:asvg="http://schemas.microsoft.com/office/drawing/2016/SVG/main" r:embed="R94f628727c2f48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58100" y="3638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B72B92-5FF6-4C24-9F0B-5780A7B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3909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A76A42-405B-48D2-AFE2-509DE996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3909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080CDA-FFBD-472F-AEBB-D461E40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Route entsteht iterativ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22321B-D734-4ABE-9134-12EDAE62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895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DE7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BA31AB-5802-4EDC-A012-3D7ACFDD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34332">
            <a:off x="8801100" y="4152900"/>
            <a:ext cx="1109816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8BE0EF-46AD-462B-8541-45C9AC09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6917">
            <a:off x="9505950" y="3295650"/>
            <a:ext cx="901007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A20AFC-8400-45E8-85A4-7AFAFC8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55679">
            <a:off x="10382250" y="3505200"/>
            <a:ext cx="815376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B3E5C9-B794-4AE2-B9BF-7B0487C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10842">
            <a:off x="10877550" y="4152900"/>
            <a:ext cx="1005328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BEF6DC-3033-429E-BCB4-F99C3FB6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61642">
            <a:off x="9886950" y="4324350"/>
            <a:ext cx="1099302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8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E19373-28A6-4EF4-ABC2-D04EDD1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48125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B59E3B-BC3A-4C0D-B7CB-F98B1A7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8622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2B94F6-FDD0-4DA8-96AE-0D505840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972CD5-0A88-4631-B324-814EAAB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2289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FD7F0D-F797-4C36-9735-51AA404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400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E726E1-8627-41B2-956D-63BA3E88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3852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0A629D-C5C3-470D-834B-BF04594F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048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085205-DC1C-4EE8-9E72-14A5D5B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08622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66CC8A-0AF2-4120-B388-C805A9BF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19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DEFFAD-3E46-409E-A264-D7A8794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2576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F995E1-D163-46D9-8CEF-9A4E8E8E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911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OSRM /route erzeugt am Ende die echte Liniengeometrie für die Karte.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28FEB6-45AC-41A6-AC92-0F67778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96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30F00A-5CE1-4FA6-A898-09A3354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896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2e536083d43ef">
            <a:extLst>
              <a:ext uri="{96DAC541-7B7A-43D3-8B79-37D633B846F1}">
                <asvg:svgBlip xmlns:asvg="http://schemas.microsoft.com/office/drawing/2016/SVG/main" r:embed="Rd138aac3499248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6388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542045-DC21-4E26-B6A2-0CD23051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Last-Mile: Fahrzeuge mit can_last_mile, gewichtsabhängig sortiert. Backbone: Fahrzeuge mit can_backbone, kapazitätsstark zuerst.</a:t>
            </a:r>
          </a:p>
        </p:txBody>
      </p:sp>
    </p:spTree>
    <p:extLst>
      <p:ext uri="{BB962C8B-B14F-4D97-AF65-F5344CB8AC3E}">
        <p14:creationId xmlns:p14="http://schemas.microsoft.com/office/powerpoint/2010/main" val="10285963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92586-27A5-41A7-8B7B-2C5127A4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4B6C6-CFBD-477A-A85E-2D5C1BB8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53F56-124B-4FFE-A399-DB85C598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ROUTENBERECHNUNG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7C0B0-4279-4D1E-A1A0-E8F9783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Mini-Beispiel: so wird der nächste Stopp ausgewählt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A565-5BDE-4C92-993D-0E17365C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Die Route entsteht aus wiederholten lokalen Entscheidungen. Pro Kandidat werden echte Grenzwerte berechnet, normalisiert und gewichtet.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DF4DC-666F-4E97-8843-A051EEF1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22356-DAA8-4900-9419-C9C8813D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ED0FA-7632-4740-93E4-ED97CF2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FD94D-6633-42A7-9270-06F69D34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096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C15DB-4F49-4667-BBE9-AC31261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6096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4ECD7-D574-4B7A-B9AA-B69F865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Beispiel: drei mögliche nächste Stopps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889F7-9018-438B-AFCC-310F00A5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Sprinter, Default-Gewichte: Kosten 40 %, Zeit 35 %, Umwelt 25 %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2D172-4F1B-43DF-91A1-AD2C8181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240AF-B128-4A53-AC38-24A332B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1BEC5-8FDA-4D11-804A-ED9E4BB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861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8363E-3012-4AED-8B92-8AFF74F2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99320-2B55-4CC5-B2F7-1BF7AD99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86100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8ED2D-530C-400D-85B5-707DAD5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2FDD7-6949-4E8B-84EF-53B23AD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C760F-F394-42CD-A027-7B82EBD8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ΔCHF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62FFD-3E8F-42C7-AAAC-773C396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8E5FB-5515-4C72-83D2-6EFC8C5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3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ΔCO2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42276-46F4-4021-AAA3-0EA8B2D2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861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244E5-F272-494D-A00F-6E9AE1A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EF333-45AF-46C8-94A1-9CFBE585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CE852-C880-4A61-91F3-9DC0276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Entscheid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6E9DEB-662E-435C-B105-609D1384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2A4F8-CDB2-49E4-85D1-0E2F460C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 Stadt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74238-2E5D-407D-8C4A-BD0EB809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528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C6C111-574A-46BA-B74E-1437DE7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8 km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0D52F-CC83-4F14-916F-B813BAF4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41294E-1E35-477A-8E14-F8769059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71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0,33 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3A0A0D-E32B-4492-A0C2-BC2985D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528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CDF45-469B-4C45-B10C-27FEB941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671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17,89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6330A7-2C22-4B50-9EA4-1AC98D0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0DD2D0-82E2-409A-8ADA-5970BD51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671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1,48 kg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015B12-A500-43AE-8947-0544833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943D0-03B6-4C41-8F66-C0B48FC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0,75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7F87C7-1DDF-40A7-B4CA-544BEA9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AD6436-7A9F-4FDD-AFEB-6063DD44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263663-7463-4B75-92B2-B3A6B555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89FD4B-4CD6-4047-AB45-83D7948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B Autobahn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144ABE-28FD-48B1-8123-C0E909E0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764661-E7D9-4279-86EA-95552EE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14 km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FFE80E-5990-49A8-84AD-4C79FB9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C5E0AF-AF10-449F-BF05-53C6F006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90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0,22 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8AB304-8C8E-4721-B085-0D017686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766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D4349E-DAD2-41D6-9584-9C9B72B6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9095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15,22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3A1847-A059-4723-8035-9C9F49C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F1DD3D-6FDB-43CC-BBF6-8628600E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2,59 kg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DFA110-8073-41A9-AFDB-24C1B97F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1CBE01-0587-4C18-800D-7748C6D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0,25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099396-99B9-4CE9-9750-6583D021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8F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8190C6-1437-4483-A84F-192F03AF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gewählt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D16E0C-E71B-452E-B305-CF60E3AB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3366D2-BA35-49A1-913A-20603C9C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 Umweg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D8893C-DC47-42CA-97CF-ED7617BA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EEE04D-7F56-4E81-922B-A24BD365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11 km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4F36E9-5C01-43AC-A412-604E0F8A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8FBF08-290A-4510-8725-679AE11E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0,30 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BDFE7E-63E5-4A93-8AF0-821E96A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89F510-56F6-46D3-91F7-A92FFC7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148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17,68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0CC894-108E-4E33-8949-33AE2E5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82CBF1-293F-40DE-B84C-392C5D7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2,04 kg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1976E8-B7C0-49AC-B1E4-B5E54AA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622634-F51A-447F-837C-88A0320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14800"/>
            <a:ext cx="57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7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0,75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3A44F3-842F-49B8-888D-36E9C1A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00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AF1324-F9F8-4370-8216-49000099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40442-1001-444D-A1FA-FBE4D172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 hat mehr Kilometer als A, aber weniger Fahrzeit und geringere CHF-Grenzkosten. Der Score macht diesen Zielkonflikt sichtbar.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FF191A-92F3-4438-B271-03C1B3F5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44386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0B0B46-AB39-4915-9DAF-9F24E069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43150"/>
            <a:ext cx="44386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27D9C0-578B-4976-9730-CE2F122D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Was Live Traffic verändert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C6D2D0-A5DA-4612-9612-B8509F8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A Stadt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78DA39-AB26-4762-857E-32A2D9B3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1428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EEAFB0-5DAE-401F-A2F4-37AA4772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857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8311FD-8DBD-4464-BF81-B268D71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1428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6E9C78-3A40-41B9-A60E-20150E51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1298864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68C16C-6E44-4267-B992-09E6B5E7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8607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0,33 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E257B0-4EB4-477E-9D85-1D7A69A0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3847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0,5 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34F7E0-B58A-45AC-BC9A-7A55092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B Autobahn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50E011-A525-412E-8E65-9C1C6A75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428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BB21EC-50A8-4546-929A-9B9DC32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571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6CCA2F-A25E-4838-B93D-A12F909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1428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9314E7C-1945-4030-A258-2D7D2F8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62345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05003F6-85BE-448A-89C5-C9764704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4327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0,22 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52DC5E-28C4-4442-8816-FF3D7261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9567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0,24 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CF38B9-A5C0-42AE-A1B4-E6520FEB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C Umweg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8854A1-FFD9-4A6E-8961-AB97CEA9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1428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F646EF1-81E9-434A-8577-72344C5B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779318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8591D85-E8B3-4338-B041-6C42B704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1428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C0318BF-A463-499C-A468-8B4353F8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90975"/>
            <a:ext cx="883227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683C49-F57E-4919-9BE2-F1FFC6E3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0047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0,3 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9749511-BA11-4285-8041-EA63F535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5287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0,34 h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7A474E9-0518-42B6-960E-27793AF1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05350"/>
            <a:ext cx="114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B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E67254-87C2-40C8-BBB4-3FB3600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OSRM Free Flow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710F84-D191-4E08-A9F1-6F92D2CD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05350"/>
            <a:ext cx="114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FF985ED-530F-4047-8D4F-0FDAE063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672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Live/Traffic-Zeit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63103F7-6BDB-4691-8C31-C95B452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9156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5AE325-033B-4D29-AD9E-84238A5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9156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FD5A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D4BB8B7-B8FB-4769-BEDE-80E98C0F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0ae77fc15410a">
            <a:extLst>
              <a:ext uri="{96DAC541-7B7A-43D3-8B79-37D633B846F1}">
                <asvg:svgBlip xmlns:asvg="http://schemas.microsoft.com/office/drawing/2016/SVG/main" r:embed="Ra1362329ef704b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6388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9FD06B-8AF6-427A-8F0D-67ABA3A1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In der nächsten Iteration startet die Berechnung bei Stopp B: neue Kandidaten, neue Δkm/Δh, neuer Score. So wächst die Tour bis kein zulässiger Stopp mehr übrig ist.</a:t>
            </a:r>
          </a:p>
        </p:txBody>
      </p:sp>
    </p:spTree>
    <p:extLst>
      <p:ext uri="{BB962C8B-B14F-4D97-AF65-F5344CB8AC3E}">
        <p14:creationId xmlns:p14="http://schemas.microsoft.com/office/powerpoint/2010/main" val="1874020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2026-06-11T01:01:44.4830000Z</dcterms:created>
  <dcterms:modified xsi:type="dcterms:W3CDTF">2026-06-11T01:01:44.4830000Z</dcterms:modified>
</coreProperties>
</file>