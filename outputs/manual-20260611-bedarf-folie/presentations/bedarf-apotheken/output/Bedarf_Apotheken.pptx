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166f9593de41ee" /><Relationship Type="http://schemas.openxmlformats.org/officeDocument/2006/relationships/extended-properties" Target="/docProps/app.xml" Id="Rf6664548909e4ad0" /><Relationship Type="http://schemas.openxmlformats.org/officeDocument/2006/relationships/officeDocument" Target="/ppt/presentation.xml" Id="R1f1146790e0c43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ad3d8a3924788"/>
  </p:sldMasterIdLst>
  <p:notesMasterIdLst>
    <p:notesMasterId xmlns:r="http://schemas.openxmlformats.org/officeDocument/2006/relationships" r:id="Rf435c88bd59242de"/>
  </p:notesMasterIdLst>
  <p:sldIdLst>
    <p:sldId xmlns:r="http://schemas.openxmlformats.org/officeDocument/2006/relationships" id="256" r:id="R7c21d243db1540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768ccdfe0b41bb" /><Relationship Type="http://schemas.openxmlformats.org/officeDocument/2006/relationships/slideMaster" Target="/ppt/slideMasters/slideMaster1.xml" Id="Ra7cad3d8a3924788" /><Relationship Type="http://schemas.openxmlformats.org/officeDocument/2006/relationships/notesMaster" Target="/ppt/notesMasters/notesMaster1.xml" Id="Rf435c88bd59242de" /><Relationship Type="http://schemas.openxmlformats.org/officeDocument/2006/relationships/presProps" Target="/ppt/presProps.xml" Id="R5fb6a82fc08b449d" /><Relationship Type="http://schemas.openxmlformats.org/officeDocument/2006/relationships/viewProps" Target="/ppt/viewProps.xml" Id="R3c09d5ad60d74152" /><Relationship Type="http://schemas.openxmlformats.org/officeDocument/2006/relationships/tableStyles" Target="/ppt/tableStyles.xml" Id="R04f02bd83fcf4258" /><Relationship Type="http://schemas.openxmlformats.org/officeDocument/2006/relationships/slide" Target="/ppt/slides/slide1.xml" Id="R7c21d243db1540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430a7261934e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144d19aa94f06" /><Relationship Type="http://schemas.openxmlformats.org/officeDocument/2006/relationships/notesMaster" Target="/ppt/notesMasters/notesMaster1.xml" Id="R51612c31f057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erklärt die Warenbedarf-Berechnung. Für jede Apotheke wird zuerst ein Einzugsgebiet bestimmt: zwei Drittel der Distanz zur nächsten konkurrierenden Apotheke, maximal zehn Kilometer. Anschließend werden alle Eurostat-Bevölkerungszellen innerhalb dieses Radius summiert. Der Warenbedarf ist max(1, ceil(Bevölkerung / 12000)). Im aktuellen Datensatz ergeben sich daraus 610 Wareneinheiten über 400 Apotheken, mit einem Bedarf von 1 bis 12 Einheiten je Apotheke.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6b2d8448240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42e0146614b9f" /><Relationship Type="http://schemas.openxmlformats.org/officeDocument/2006/relationships/slideLayout" Target="/ppt/slideLayouts/slideLayout1.xml" Id="R00b78c7c896b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b78c7c896b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3955a9e9f4ed7" /><Relationship Type="http://schemas.openxmlformats.org/officeDocument/2006/relationships/image" Target="/ppt/media/image.png" Id="Rd1dcd2ae697a4d52" /><Relationship Type="http://schemas.openxmlformats.org/officeDocument/2006/relationships/image" Target="/ppt/media/image.svg" Id="R694022fa41184810" /><Relationship Type="http://schemas.openxmlformats.org/officeDocument/2006/relationships/image" Target="/ppt/media/image2.png" Id="R49db874aac034475" /><Relationship Type="http://schemas.openxmlformats.org/officeDocument/2006/relationships/image" Target="/ppt/media/image2.svg" Id="Rf569099ed9df4fe7" /><Relationship Type="http://schemas.openxmlformats.org/officeDocument/2006/relationships/image" Target="/ppt/media/image3.png" Id="Rc1469a8c99674ac3" /><Relationship Type="http://schemas.openxmlformats.org/officeDocument/2006/relationships/image" Target="/ppt/media/image3.svg" Id="R85155bad9dc842a4" /><Relationship Type="http://schemas.openxmlformats.org/officeDocument/2006/relationships/notesSlide" Target="/ppt/notesSlides/notesSlide1.xml" Id="Ra8a26037a0ed4e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C4957-6D57-4B8D-BD6F-D98D592D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F8DF7-7762-4353-84E1-8105F372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F26F2-98A3-4452-8F06-4B444A5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BEDARFSMODELL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D4684-37D3-411F-8BCD-D9F346D6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Warenbedarf je Apotheke aus Bevölkerung ableiten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43373-4BDA-4C44-867F-078CFD5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885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Nicht jede Apotheke erhält pauschal dieselbe Menge: Das System schätzt pro Standort ein Einzugsgebiet und wandelt die dortige Bevölkerung in Wareneinheiten 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06457-DBAC-43D7-AA96-173522C7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314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03710-CBA3-4D11-8990-5AB7202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3314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FDF69-C569-4DF9-9543-7652FF8F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35473-E45C-45B6-85C3-81081FC5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7E80F-DE58-4353-BE97-9C0D312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74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cd2ae697a4d52">
            <a:extLst>
              <a:ext uri="{96DAC541-7B7A-43D3-8B79-37D633B846F1}">
                <asvg:svgBlip xmlns:asvg="http://schemas.microsoft.com/office/drawing/2016/SVG/main" r:embed="R694022fa411848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29000" y="2628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DFC08-5DA2-4AC2-9EC0-9E049D8E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Einzugsgebiet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25B0D-EAEB-40F2-AFB7-7D51D90C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527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Je Apotheke: 2/3 der Distanz zur nächsten Konkurrenz, gedeckelt auf 10 km.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7F34C-63AD-4B4B-9CFF-7089FE44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314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AE7D3-DC73-4153-9DB2-3DD5C7E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3314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8BE0C-6829-44A2-84CC-E141608B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7413B-33B5-4BAC-8AC7-D52D7F32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03214-882F-4C3A-B735-8A81FEE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574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b874aac034475">
            <a:extLst>
              <a:ext uri="{96DAC541-7B7A-43D3-8B79-37D633B846F1}">
                <asvg:svgBlip xmlns:asvg="http://schemas.microsoft.com/office/drawing/2016/SVG/main" r:embed="Rf569099ed9df4f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19950" y="2628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BBAC0-EA5E-4602-8114-D02CF291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Bevölkerung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CA46F4-C5E1-4D83-A978-11817536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Alle Eurostat-Zellen innerhalb dieses Radius werden aufsummiert.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F1B29-5967-47DF-BC9A-6CFD5BAA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3314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5B5F5-971C-4647-8E32-9C856DBB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314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CFB0A-2D10-4178-8869-A75233DA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996C52-D8BE-4B6E-8DA5-105A2C96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01798-9216-4F23-8E10-9729BCB7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5747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69a8c99674ac3">
            <a:extLst>
              <a:ext uri="{96DAC541-7B7A-43D3-8B79-37D633B846F1}">
                <asvg:svgBlip xmlns:asvg="http://schemas.microsoft.com/office/drawing/2016/SVG/main" r:embed="R85155bad9dc842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10900" y="2628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3C3DC-59DC-4496-90A2-450D6D95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19375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Bedarf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8EECF-8056-4726-848D-925F9CF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Aus der Einwohnerzahl entsteht ein ganzzahliger demand-Wert je Apotheke.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404BD-7E28-4B33-8503-6AB3890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993B9-A12C-4662-AE63-282BE3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388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E2F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7E2F1"/>
                </a:solidFill>
                <a:latin typeface="Aptos Mono"/>
                <a:ea typeface="Aptos Mono"/>
                <a:cs typeface="Aptos Mono"/>
              </a:rPr>
              <a:t>radius = min(2/3 × nächste Apotheke, 10 km)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E06DE3-48CB-4530-BDC1-E99C41A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33800"/>
            <a:ext cx="495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8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D0213B-4AD9-4708-AF60-6B33AB2F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57625"/>
            <a:ext cx="464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E2F1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7E2F1"/>
                </a:solidFill>
                <a:latin typeface="Aptos Mono"/>
                <a:ea typeface="Aptos Mono"/>
                <a:cs typeface="Aptos Mono"/>
              </a:rPr>
              <a:t>demand = max(1, ceil(Bevölkerung / 12.000))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12F87-A242-4C57-9FE5-0CDCB48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B3CC8-A868-43C3-99FE-80EFA4B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08A5E9-6171-468F-89EF-D5FB5573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Einzugsgebiet einer Apotheke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1B3CAC-BA94-4C44-AF63-8B46C321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6F1"/>
          </a:solidFill>
          <a:ln xmlns:a="http://schemas.openxmlformats.org/drawingml/2006/main" w="9525">
            <a:solidFill>
              <a:srgbClr val="A7DE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F3645D-B46D-4CE5-B02D-5DD303D6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D52ED1-9C39-4949-AE87-8431D468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DE46EE-D63A-4BE1-93EF-43E1DC49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42384F-0089-4BCE-945F-59E15305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72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44E304-31C2-4B1D-B54A-90E1BEEE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581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7B7FA0-FF42-4553-82C1-AE78E99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81625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8827DB-2211-44CC-8AF2-C3E7CBAB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339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97706"/>
                </a:solidFill>
                <a:latin typeface="Aptos"/>
                <a:ea typeface="Aptos"/>
                <a:cs typeface="Aptos"/>
              </a:rPr>
              <a:t>nächste Konkurrenz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457A5F-8F8B-4D45-9C54-ACCEE767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7200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4206AB-3C51-464C-AA7C-B1FEAD13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32766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0ECFB6-FA36-47AA-B134-1E28E3DD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8630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Bevölkerung summieren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9598FA-92DE-45BD-9112-58DA7CB6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E0B798-C0C5-4DC9-9558-E4AFD6C9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694643-A62D-43D6-BD94-8DAEB813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EEF986-B104-4FB1-8B6B-1DE2AAD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12E5AF-5F81-48E9-A0A0-E7A55D54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74BA8D-A22D-4E87-A2E3-A723F236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49FE67-4CFE-4312-9FD8-6E5AE74F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9A740E-A514-4F17-892C-FCE0A49B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BE313B-1BE2-4F55-A9A4-98382014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CF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00FEF21-542F-473D-9644-D604533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CF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9C10F8-9FBE-488B-B5B9-5C9034F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FB0D13-8BDF-4F1E-966B-6EC25DB5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E24D57-97CE-4620-8D3C-07EB08CC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CF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41B591-E17A-44BD-ADC2-F26F0A42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B3EB96-C8A9-42D2-ABE6-E4665638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CF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B18F50-CC27-4511-92A4-829A179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0A828B-9BC3-4354-8E81-CB831D62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A33EBC-81F8-4DB9-855C-2A5A790D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1D3EFA-C5CD-4832-8724-420EFB6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24A6D4-8868-4CD4-84CE-A8747FA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D24388-84F8-4F4C-BBBD-DB0310CA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2D193B-8E1B-41C9-AC7C-3761096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894815-27D1-4C95-BA69-E83EFFC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2CFC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4D15E3-0B01-4502-8761-CC36830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67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585A70-E669-4EF5-A883-CED3D1A0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A803FC-FC5A-4E79-BDC5-D5F2CDEE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F0C55B-A3FE-4BE5-AB93-03ABEBE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5F7551-6A87-4E17-8FA3-15BEFECD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B76132-E88D-4230-B2CC-C6C3A413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A6E415-0DBC-489B-B187-AACB4DAC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19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EE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F9886B-26E3-4AF1-BF23-448BAB9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149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624D67-ED47-4E4F-8E7F-4166BC00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95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1-km²-Zellen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01B2AF3-27F8-45CB-BE50-64B005A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581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DA3BD57-E3F7-453E-B443-A01E0168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14850"/>
            <a:ext cx="3581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9B639E-ABA1-45EF-9C79-A2B9D42D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Ergebnis im Datensatz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358526-46DB-4DBA-81ED-6461D98C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E2B76C-8212-4582-9E15-869B092E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38725"/>
            <a:ext cx="1428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C228FF-1511-4BED-B7F4-AE9AC31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38725"/>
            <a:ext cx="1428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E2F946-8F7E-465D-B146-D55A6CC8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006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281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ACFD9E-A9B9-4CA1-9BC1-0145590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625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C93314-5F1C-427F-A059-42A3AC13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1428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933E0C7-C8DD-4DFA-94EC-73DCEEC6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91125"/>
            <a:ext cx="376254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D031D84-E855-4F7F-A1EA-1C0CFE27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1530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3B688BA-4660-4141-B693-0F22AE3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E231159-8BA8-410D-A5C2-E55D1FF8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43525"/>
            <a:ext cx="1428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928011-D47C-451B-8D4D-CC4CE0F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43525"/>
            <a:ext cx="122028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334F20-BC6D-434E-94B2-CB64439F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3054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D51486-ABC8-4C3D-AE37-7D083656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673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7F35A0-EEF3-42E2-ABD7-0CD3A577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95925"/>
            <a:ext cx="1428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D72484-2DFA-45A7-9E6B-E4357C44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95925"/>
            <a:ext cx="76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5AE0AEC-6296-4E5A-932F-77CD3825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578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1DD1A4D-B3E4-4566-9A1D-9EC8DFF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19750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5+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A351AF4-2DC7-446D-8EF5-27240296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48325"/>
            <a:ext cx="1428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727968-1011-4F92-82F4-9EB6D41A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48325"/>
            <a:ext cx="76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EC4D22E-9870-4F29-92B4-45FDFD8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10225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84189D5-5751-40DC-B9C7-19D16EB0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010150"/>
            <a:ext cx="704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rPr>
              <a:t>610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29A9E30-735B-46EF-993A-FB0CF178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353050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gesamt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267E5C-86EF-4C38-80DB-EC68C3C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5435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1-12 je Apotheke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61FB5B-5567-4695-ACEC-D366335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789190-C613-4523-BF38-B4FA03BB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13D6E72-61C0-4D02-9890-04013D1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1069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2026-06-10T23:04:27.1100000Z</dcterms:created>
  <dcterms:modified xsi:type="dcterms:W3CDTF">2026-06-10T23:04:27.1100000Z</dcterms:modified>
</coreProperties>
</file>