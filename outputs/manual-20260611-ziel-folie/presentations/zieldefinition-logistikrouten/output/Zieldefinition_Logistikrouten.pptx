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21885e97484037" /><Relationship Type="http://schemas.openxmlformats.org/officeDocument/2006/relationships/extended-properties" Target="/docProps/app.xml" Id="R5f3c4afd0928433e" /><Relationship Type="http://schemas.openxmlformats.org/officeDocument/2006/relationships/officeDocument" Target="/ppt/presentation.xml" Id="Rdb8e91949d774483" /></Relationships>
</file>

<file path=ppt/presentation.xml><?xml version="1.0" encoding="utf-8"?>
<p:presentation xmlns:p="http://schemas.openxmlformats.org/presentationml/2006/main">
  <p:sldMasterIdLst>
    <p:sldMasterId xmlns:r="http://schemas.openxmlformats.org/officeDocument/2006/relationships" id="2147483648" r:id="R83830dc5667c4dd7"/>
  </p:sldMasterIdLst>
  <p:notesMasterIdLst>
    <p:notesMasterId xmlns:r="http://schemas.openxmlformats.org/officeDocument/2006/relationships" r:id="Ra96df7fdfab94ad4"/>
  </p:notesMasterIdLst>
  <p:sldIdLst>
    <p:sldId xmlns:r="http://schemas.openxmlformats.org/officeDocument/2006/relationships" id="256" r:id="R4cc1dacf3d3143d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1d3baef4f4a432b" /><Relationship Type="http://schemas.openxmlformats.org/officeDocument/2006/relationships/slideMaster" Target="/ppt/slideMasters/slideMaster1.xml" Id="R83830dc5667c4dd7" /><Relationship Type="http://schemas.openxmlformats.org/officeDocument/2006/relationships/notesMaster" Target="/ppt/notesMasters/notesMaster1.xml" Id="Ra96df7fdfab94ad4" /><Relationship Type="http://schemas.openxmlformats.org/officeDocument/2006/relationships/presProps" Target="/ppt/presProps.xml" Id="R68eff5a5cb7e480d" /><Relationship Type="http://schemas.openxmlformats.org/officeDocument/2006/relationships/viewProps" Target="/ppt/viewProps.xml" Id="Ra199cafcf8a34702" /><Relationship Type="http://schemas.openxmlformats.org/officeDocument/2006/relationships/tableStyles" Target="/ppt/tableStyles.xml" Id="R7eb3f3f0bdc5426a" /><Relationship Type="http://schemas.openxmlformats.org/officeDocument/2006/relationships/slide" Target="/ppt/slides/slide1.xml" Id="R4cc1dacf3d3143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289c6d985449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281725adda4003" /><Relationship Type="http://schemas.openxmlformats.org/officeDocument/2006/relationships/notesMaster" Target="/ppt/notesMasters/notesMaster1.xml" Id="R2e7630d2d97c43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definiert das Ziel: Der Prototyp berechnet realistische Lieferwege für 400 Schweizer Apotheken. Optimiert wird nicht nur nach kürzester Strecke, sondern nach einer Abwägung aus Kosten, Zeit und CO2. Entfernung, Verkehr und Kapazität sind dabei Eingangsgrößen und Restriktionen, der Erfolg wird quantitativ in Kilometern, CHF, Stunden und kg CO2 gemessen.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ad2ee7418740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952e7477cd4a87" /><Relationship Type="http://schemas.openxmlformats.org/officeDocument/2006/relationships/slideLayout" Target="/ppt/slideLayouts/slideLayout1.xml" Id="R689369f7883946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9369f7883946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bf50692a8f4f44" /><Relationship Type="http://schemas.openxmlformats.org/officeDocument/2006/relationships/image" Target="/ppt/media/image.png" Id="Rdf860f699c2c41f2" /><Relationship Type="http://schemas.openxmlformats.org/officeDocument/2006/relationships/image" Target="/ppt/media/image.svg" Id="R4bfeae43ab7f42ed" /><Relationship Type="http://schemas.openxmlformats.org/officeDocument/2006/relationships/image" Target="/ppt/media/image2.png" Id="Rbc7a3585387643f2" /><Relationship Type="http://schemas.openxmlformats.org/officeDocument/2006/relationships/image" Target="/ppt/media/image2.svg" Id="Rc52a9a3109174ce7" /><Relationship Type="http://schemas.openxmlformats.org/officeDocument/2006/relationships/image" Target="/ppt/media/image3.png" Id="Rdaf0473c3b4343c6" /><Relationship Type="http://schemas.openxmlformats.org/officeDocument/2006/relationships/image" Target="/ppt/media/image3.svg" Id="R74018a9adadf48ba" /><Relationship Type="http://schemas.openxmlformats.org/officeDocument/2006/relationships/image" Target="/ppt/media/image4.png" Id="Raf74a2788e6544f1" /><Relationship Type="http://schemas.openxmlformats.org/officeDocument/2006/relationships/image" Target="/ppt/media/image4.svg" Id="R8760b3f120594cec" /><Relationship Type="http://schemas.openxmlformats.org/officeDocument/2006/relationships/image" Target="/ppt/media/image5.png" Id="Rff5be2e25e994921" /><Relationship Type="http://schemas.openxmlformats.org/officeDocument/2006/relationships/image" Target="/ppt/media/image5.svg" Id="R9c64b55d98c347a0" /><Relationship Type="http://schemas.openxmlformats.org/officeDocument/2006/relationships/image" Target="/ppt/media/image6.png" Id="R83ae0630e3824b8e" /><Relationship Type="http://schemas.openxmlformats.org/officeDocument/2006/relationships/image" Target="/ppt/media/image6.svg" Id="R3e47c6cf326b4365" /><Relationship Type="http://schemas.openxmlformats.org/officeDocument/2006/relationships/notesSlide" Target="/ppt/notesSlides/notesSlide1.xml" Id="R14e8068aba9e430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62AD462-3CF1-47A0-B023-8DD218EE02C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DE9810F-DA04-4048-9BCF-70819612D9C4}"/>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F7F9F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92AD6AE-D6E5-41DF-A45E-A7DF96A3F3B3}"/>
              </a:ext>
            </a:extLst>
          </p:cNvPr>
          <p:cNvSpPr>
            <a:spLocks xmlns:a="http://schemas.openxmlformats.org/drawingml/2006/main" noGrp="1"/>
          </p:cNvSpPr>
          <p:nvPr/>
        </p:nvSpPr>
        <p:spPr>
          <a:xfrm xmlns:a="http://schemas.openxmlformats.org/drawingml/2006/main">
            <a:off x="638175" y="666750"/>
            <a:ext cx="152400" cy="152400"/>
          </a:xfrm>
          <a:prstGeom xmlns:a="http://schemas.openxmlformats.org/drawingml/2006/main" prst="rect">
            <a:avLst/>
          </a:prstGeom>
          <a:solidFill xmlns:a="http://schemas.openxmlformats.org/drawingml/2006/main">
            <a:srgbClr val="109A8F"/>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019C360-2A3F-41E8-AB56-70349F51B9A1}"/>
              </a:ext>
            </a:extLst>
          </p:cNvPr>
          <p:cNvSpPr>
            <a:spLocks xmlns:a="http://schemas.openxmlformats.org/drawingml/2006/main" noGrp="1"/>
          </p:cNvSpPr>
          <p:nvPr/>
        </p:nvSpPr>
        <p:spPr>
          <a:xfrm xmlns:a="http://schemas.openxmlformats.org/drawingml/2006/main">
            <a:off x="876300" y="647700"/>
            <a:ext cx="2476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09A8F"/>
                </a:solidFill>
                <a:latin typeface="Aptos"/>
                <a:ea typeface="Aptos"/>
                <a:cs typeface="Aptos"/>
              </a:defRPr>
            </a:pPr>
            <a:r>
              <a:rPr sz="975" b="1">
                <a:solidFill>
                  <a:srgbClr val="109A8F"/>
                </a:solidFill>
                <a:latin typeface="Aptos"/>
                <a:ea typeface="Aptos"/>
                <a:cs typeface="Aptos"/>
              </a:rPr>
              <a:t>ZIELDEFINITION</a:t>
            </a:r>
          </a:p>
        </p:txBody>
      </p:sp>
      <p:sp>
        <p:nvSpPr>
          <p:cNvPr id="5" name="">
            <a:extLst xmlns:a="http://schemas.openxmlformats.org/drawingml/2006/main">
              <a:ext uri="{FF2B5EF4-FFF2-40B4-BE49-F238E27FC236}">
                <a16:creationId xmlns:a16="http://schemas.microsoft.com/office/drawing/2014/main" id="{C99F3F9D-25C4-4E0D-81C6-CEC85D3E0F0A}"/>
              </a:ext>
            </a:extLst>
          </p:cNvPr>
          <p:cNvSpPr>
            <a:spLocks xmlns:a="http://schemas.openxmlformats.org/drawingml/2006/main" noGrp="1"/>
          </p:cNvSpPr>
          <p:nvPr/>
        </p:nvSpPr>
        <p:spPr>
          <a:xfrm xmlns:a="http://schemas.openxmlformats.org/drawingml/2006/main">
            <a:off x="638175" y="1028700"/>
            <a:ext cx="8096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1B2537"/>
                </a:solidFill>
                <a:latin typeface="Aptos Display"/>
                <a:ea typeface="Aptos Display"/>
                <a:cs typeface="Aptos Display"/>
              </a:defRPr>
            </a:pPr>
            <a:r>
              <a:rPr sz="2475" b="1">
                <a:solidFill>
                  <a:srgbClr val="1B2537"/>
                </a:solidFill>
                <a:latin typeface="Aptos Display"/>
                <a:ea typeface="Aptos Display"/>
                <a:cs typeface="Aptos Display"/>
              </a:rPr>
              <a:t>Transportrouten nach Kosten, Zeit und Umwelt optimieren</a:t>
            </a:r>
          </a:p>
        </p:txBody>
      </p:sp>
      <p:sp>
        <p:nvSpPr>
          <p:cNvPr id="6" name="">
            <a:extLst xmlns:a="http://schemas.openxmlformats.org/drawingml/2006/main">
              <a:ext uri="{FF2B5EF4-FFF2-40B4-BE49-F238E27FC236}">
                <a16:creationId xmlns:a16="http://schemas.microsoft.com/office/drawing/2014/main" id="{0061C42C-B72F-4486-AB70-843E0B32F846}"/>
              </a:ext>
            </a:extLst>
          </p:cNvPr>
          <p:cNvSpPr>
            <a:spLocks xmlns:a="http://schemas.openxmlformats.org/drawingml/2006/main" noGrp="1"/>
          </p:cNvSpPr>
          <p:nvPr/>
        </p:nvSpPr>
        <p:spPr>
          <a:xfrm xmlns:a="http://schemas.openxmlformats.org/drawingml/2006/main">
            <a:off x="8172450" y="876300"/>
            <a:ext cx="2981325" cy="1009650"/>
          </a:xfrm>
          <a:prstGeom xmlns:a="http://schemas.openxmlformats.org/drawingml/2006/main" prst="roundRect">
            <a:avLst>
              <a:gd name="adj" fmla="val 7547"/>
            </a:avLst>
          </a:prstGeom>
          <a:solidFill xmlns:a="http://schemas.openxmlformats.org/drawingml/2006/main">
            <a:srgbClr val="F3F7FA"/>
          </a:solidFill>
          <a:ln xmlns:a="http://schemas.openxmlformats.org/drawingml/2006/main" w="9525">
            <a:solidFill>
              <a:srgbClr val="D9E1EA"/>
            </a:solidFill>
            <a:prstDash val="solid"/>
          </a:ln>
        </p:spPr>
      </p:sp>
      <p:sp>
        <p:nvSpPr>
          <p:cNvPr id="7" name="">
            <a:extLst xmlns:a="http://schemas.openxmlformats.org/drawingml/2006/main">
              <a:ext uri="{FF2B5EF4-FFF2-40B4-BE49-F238E27FC236}">
                <a16:creationId xmlns:a16="http://schemas.microsoft.com/office/drawing/2014/main" id="{46CFF786-6783-4883-A012-B92055E461B2}"/>
              </a:ext>
            </a:extLst>
          </p:cNvPr>
          <p:cNvSpPr>
            <a:spLocks xmlns:a="http://schemas.openxmlformats.org/drawingml/2006/main" noGrp="1"/>
          </p:cNvSpPr>
          <p:nvPr/>
        </p:nvSpPr>
        <p:spPr>
          <a:xfrm xmlns:a="http://schemas.openxmlformats.org/drawingml/2006/main">
            <a:off x="8410575" y="1057275"/>
            <a:ext cx="2381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3657A"/>
                </a:solidFill>
                <a:latin typeface="Aptos"/>
                <a:ea typeface="Aptos"/>
                <a:cs typeface="Aptos"/>
              </a:defRPr>
            </a:pPr>
            <a:r>
              <a:rPr sz="975" b="1">
                <a:solidFill>
                  <a:srgbClr val="53657A"/>
                </a:solidFill>
                <a:latin typeface="Aptos"/>
                <a:ea typeface="Aptos"/>
                <a:cs typeface="Aptos"/>
              </a:rPr>
              <a:t>Erfolg wird messbar in</a:t>
            </a:r>
          </a:p>
        </p:txBody>
      </p:sp>
      <p:sp>
        <p:nvSpPr>
          <p:cNvPr id="8" name="">
            <a:extLst xmlns:a="http://schemas.openxmlformats.org/drawingml/2006/main">
              <a:ext uri="{FF2B5EF4-FFF2-40B4-BE49-F238E27FC236}">
                <a16:creationId xmlns:a16="http://schemas.microsoft.com/office/drawing/2014/main" id="{9753007A-325B-4CA4-91BC-B794DAF06CAC}"/>
              </a:ext>
            </a:extLst>
          </p:cNvPr>
          <p:cNvSpPr>
            <a:spLocks xmlns:a="http://schemas.openxmlformats.org/drawingml/2006/main" noGrp="1"/>
          </p:cNvSpPr>
          <p:nvPr/>
        </p:nvSpPr>
        <p:spPr>
          <a:xfrm xmlns:a="http://schemas.openxmlformats.org/drawingml/2006/main">
            <a:off x="8410575" y="1333500"/>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26384F"/>
                </a:solidFill>
                <a:latin typeface="Aptos Display"/>
                <a:ea typeface="Aptos Display"/>
                <a:cs typeface="Aptos Display"/>
              </a:defRPr>
            </a:pPr>
            <a:r>
              <a:rPr sz="1725" b="1">
                <a:solidFill>
                  <a:srgbClr val="26384F"/>
                </a:solidFill>
                <a:latin typeface="Aptos Display"/>
                <a:ea typeface="Aptos Display"/>
                <a:cs typeface="Aptos Display"/>
              </a:rPr>
              <a:t>km · CHF · h · kg CO2</a:t>
            </a:r>
          </a:p>
        </p:txBody>
      </p:sp>
      <p:sp>
        <p:nvSpPr>
          <p:cNvPr id="9" name="">
            <a:extLst xmlns:a="http://schemas.openxmlformats.org/drawingml/2006/main">
              <a:ext uri="{FF2B5EF4-FFF2-40B4-BE49-F238E27FC236}">
                <a16:creationId xmlns:a16="http://schemas.microsoft.com/office/drawing/2014/main" id="{D7BC5791-16B0-4574-8434-367ABBF3ED0A}"/>
              </a:ext>
            </a:extLst>
          </p:cNvPr>
          <p:cNvSpPr>
            <a:spLocks xmlns:a="http://schemas.openxmlformats.org/drawingml/2006/main" noGrp="1"/>
          </p:cNvSpPr>
          <p:nvPr/>
        </p:nvSpPr>
        <p:spPr>
          <a:xfrm xmlns:a="http://schemas.openxmlformats.org/drawingml/2006/main">
            <a:off x="666750" y="2085975"/>
            <a:ext cx="10515600" cy="1066800"/>
          </a:xfrm>
          <a:prstGeom xmlns:a="http://schemas.openxmlformats.org/drawingml/2006/main" prst="roundRect">
            <a:avLst>
              <a:gd name="adj" fmla="val 7143"/>
            </a:avLst>
          </a:prstGeom>
          <a:solidFill xmlns:a="http://schemas.openxmlformats.org/drawingml/2006/main">
            <a:srgbClr val="D8DEE6"/>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8F97C023-A951-43C9-B9DA-C820C6CF7168}"/>
              </a:ext>
            </a:extLst>
          </p:cNvPr>
          <p:cNvSpPr>
            <a:spLocks xmlns:a="http://schemas.openxmlformats.org/drawingml/2006/main" noGrp="1"/>
          </p:cNvSpPr>
          <p:nvPr/>
        </p:nvSpPr>
        <p:spPr>
          <a:xfrm xmlns:a="http://schemas.openxmlformats.org/drawingml/2006/main">
            <a:off x="638175" y="2038350"/>
            <a:ext cx="10515600" cy="1066800"/>
          </a:xfrm>
          <a:prstGeom xmlns:a="http://schemas.openxmlformats.org/drawingml/2006/main" prst="roundRect">
            <a:avLst>
              <a:gd name="adj" fmla="val 7143"/>
            </a:avLst>
          </a:prstGeom>
          <a:solidFill xmlns:a="http://schemas.openxmlformats.org/drawingml/2006/main">
            <a:srgbClr val="F7FBFB"/>
          </a:solidFill>
          <a:ln xmlns:a="http://schemas.openxmlformats.org/drawingml/2006/main" w="9525">
            <a:solidFill>
              <a:srgbClr val="D9E1EA"/>
            </a:solidFill>
            <a:prstDash val="solid"/>
          </a:ln>
        </p:spPr>
      </p:sp>
      <p:sp>
        <p:nvSpPr>
          <p:cNvPr id="11" name="">
            <a:extLst xmlns:a="http://schemas.openxmlformats.org/drawingml/2006/main">
              <a:ext uri="{FF2B5EF4-FFF2-40B4-BE49-F238E27FC236}">
                <a16:creationId xmlns:a16="http://schemas.microsoft.com/office/drawing/2014/main" id="{11B83F28-1FBE-43A6-AA03-F78FC7DAB236}"/>
              </a:ext>
            </a:extLst>
          </p:cNvPr>
          <p:cNvSpPr>
            <a:spLocks xmlns:a="http://schemas.openxmlformats.org/drawingml/2006/main" noGrp="1"/>
          </p:cNvSpPr>
          <p:nvPr/>
        </p:nvSpPr>
        <p:spPr>
          <a:xfrm xmlns:a="http://schemas.openxmlformats.org/drawingml/2006/main">
            <a:off x="638175" y="2038350"/>
            <a:ext cx="66675" cy="1066800"/>
          </a:xfrm>
          <a:prstGeom xmlns:a="http://schemas.openxmlformats.org/drawingml/2006/main" prst="rect">
            <a:avLst/>
          </a:prstGeom>
          <a:solidFill xmlns:a="http://schemas.openxmlformats.org/drawingml/2006/main">
            <a:srgbClr val="109A8F"/>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8955DC63-4175-47B2-85CF-7B4C1AD03C73}"/>
              </a:ext>
            </a:extLst>
          </p:cNvPr>
          <p:cNvSpPr>
            <a:spLocks xmlns:a="http://schemas.openxmlformats.org/drawingml/2006/main" noGrp="1"/>
          </p:cNvSpPr>
          <p:nvPr/>
        </p:nvSpPr>
        <p:spPr>
          <a:xfrm xmlns:a="http://schemas.openxmlformats.org/drawingml/2006/main">
            <a:off x="990600" y="2305050"/>
            <a:ext cx="98107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B2537"/>
                </a:solidFill>
                <a:latin typeface="Aptos Display"/>
                <a:ea typeface="Aptos Display"/>
                <a:cs typeface="Aptos Display"/>
              </a:defRPr>
            </a:pPr>
            <a:r>
              <a:rPr sz="1500" b="1">
                <a:solidFill>
                  <a:srgbClr val="1B2537"/>
                </a:solidFill>
                <a:latin typeface="Aptos Display"/>
                <a:ea typeface="Aptos Display"/>
                <a:cs typeface="Aptos Display"/>
              </a:rPr>
              <a:t>Ziel ist ein cloudbasierter Prototyp, der für 400 Schweizer Apotheken realistische Lieferwege berechnet und die beste Route nicht nur nach Strecke, sondern als Abwägung aus Betriebskosten, Fahrzeit und CO2-Ausstoß auswählt.</a:t>
            </a:r>
          </a:p>
        </p:txBody>
      </p:sp>
      <p:sp>
        <p:nvSpPr>
          <p:cNvPr id="13" name="">
            <a:extLst xmlns:a="http://schemas.openxmlformats.org/drawingml/2006/main">
              <a:ext uri="{FF2B5EF4-FFF2-40B4-BE49-F238E27FC236}">
                <a16:creationId xmlns:a16="http://schemas.microsoft.com/office/drawing/2014/main" id="{E27E63A2-27FC-4CAC-BE7A-1E1D8803F34F}"/>
              </a:ext>
            </a:extLst>
          </p:cNvPr>
          <p:cNvSpPr>
            <a:spLocks xmlns:a="http://schemas.openxmlformats.org/drawingml/2006/main" noGrp="1"/>
          </p:cNvSpPr>
          <p:nvPr/>
        </p:nvSpPr>
        <p:spPr>
          <a:xfrm xmlns:a="http://schemas.openxmlformats.org/drawingml/2006/main">
            <a:off x="666750" y="3609975"/>
            <a:ext cx="3257550" cy="1295400"/>
          </a:xfrm>
          <a:prstGeom xmlns:a="http://schemas.openxmlformats.org/drawingml/2006/main" prst="roundRect">
            <a:avLst>
              <a:gd name="adj" fmla="val 5882"/>
            </a:avLst>
          </a:prstGeom>
          <a:solidFill xmlns:a="http://schemas.openxmlformats.org/drawingml/2006/main">
            <a:srgbClr val="D8DEE6"/>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62BEBA8C-B0D1-48DE-B263-FC95A8622430}"/>
              </a:ext>
            </a:extLst>
          </p:cNvPr>
          <p:cNvSpPr>
            <a:spLocks xmlns:a="http://schemas.openxmlformats.org/drawingml/2006/main" noGrp="1"/>
          </p:cNvSpPr>
          <p:nvPr/>
        </p:nvSpPr>
        <p:spPr>
          <a:xfrm xmlns:a="http://schemas.openxmlformats.org/drawingml/2006/main">
            <a:off x="638175" y="3562350"/>
            <a:ext cx="3257550" cy="1295400"/>
          </a:xfrm>
          <a:prstGeom xmlns:a="http://schemas.openxmlformats.org/drawingml/2006/main" prst="roundRect">
            <a:avLst>
              <a:gd name="adj" fmla="val 5882"/>
            </a:avLst>
          </a:prstGeom>
          <a:solidFill xmlns:a="http://schemas.openxmlformats.org/drawingml/2006/main">
            <a:srgbClr val="EAF3FA"/>
          </a:solidFill>
          <a:ln xmlns:a="http://schemas.openxmlformats.org/drawingml/2006/main" w="9525">
            <a:solidFill>
              <a:srgbClr val="D9E1EA"/>
            </a:solidFill>
            <a:prstDash val="solid"/>
          </a:ln>
        </p:spPr>
      </p:sp>
      <p:sp>
        <p:nvSpPr>
          <p:cNvPr id="15" name="">
            <a:extLst xmlns:a="http://schemas.openxmlformats.org/drawingml/2006/main">
              <a:ext uri="{FF2B5EF4-FFF2-40B4-BE49-F238E27FC236}">
                <a16:creationId xmlns:a16="http://schemas.microsoft.com/office/drawing/2014/main" id="{10CA181D-35B9-4D58-89C4-6EBEEAFF1067}"/>
              </a:ext>
            </a:extLst>
          </p:cNvPr>
          <p:cNvSpPr>
            <a:spLocks xmlns:a="http://schemas.openxmlformats.org/drawingml/2006/main" noGrp="1"/>
          </p:cNvSpPr>
          <p:nvPr/>
        </p:nvSpPr>
        <p:spPr>
          <a:xfrm xmlns:a="http://schemas.openxmlformats.org/drawingml/2006/main">
            <a:off x="638175" y="3562350"/>
            <a:ext cx="66675" cy="1295400"/>
          </a:xfrm>
          <a:prstGeom xmlns:a="http://schemas.openxmlformats.org/drawingml/2006/main" prst="rect">
            <a:avLst/>
          </a:prstGeom>
          <a:solidFill xmlns:a="http://schemas.openxmlformats.org/drawingml/2006/main">
            <a:srgbClr val="155A9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69BE000D-0E9D-4E2B-A5A7-027ABC3E3936}"/>
              </a:ext>
            </a:extLst>
          </p:cNvPr>
          <p:cNvSpPr>
            <a:spLocks xmlns:a="http://schemas.openxmlformats.org/drawingml/2006/main" noGrp="1"/>
          </p:cNvSpPr>
          <p:nvPr/>
        </p:nvSpPr>
        <p:spPr>
          <a:xfrm xmlns:a="http://schemas.openxmlformats.org/drawingml/2006/main">
            <a:off x="923925" y="3810000"/>
            <a:ext cx="438150" cy="438150"/>
          </a:xfrm>
          <a:prstGeom xmlns:a="http://schemas.openxmlformats.org/drawingml/2006/main" prst="ellipse">
            <a:avLst/>
          </a:prstGeom>
          <a:solidFill xmlns:a="http://schemas.openxmlformats.org/drawingml/2006/main">
            <a:srgbClr val="155A92"/>
          </a:solidFill>
          <a:ln xmlns:a="http://schemas.openxmlformats.org/drawingml/2006/main" w="0">
            <a:solidFill>
              <a:srgbClr val="000000">
                <a:alpha val="0"/>
              </a:srgbClr>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f860f699c2c41f2">
            <a:extLst>
              <a:ext uri="{96DAC541-7B7A-43D3-8B79-37D633B846F1}">
                <asvg:svgBlip xmlns:asvg="http://schemas.microsoft.com/office/drawing/2016/SVG/main" r:embed="R4bfeae43ab7f42ed"/>
              </a:ext>
            </a:extLst>
          </a:blip>
          <a:stretch xmlns:a="http://schemas.openxmlformats.org/drawingml/2006/main"/>
        </p:blipFill>
        <p:spPr>
          <a:xfrm xmlns:a="http://schemas.openxmlformats.org/drawingml/2006/main">
            <a:off x="1028700" y="3914775"/>
            <a:ext cx="228600" cy="2286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A7F3CCEC-F606-497F-9C58-E54FA30EBD87}"/>
              </a:ext>
            </a:extLst>
          </p:cNvPr>
          <p:cNvSpPr>
            <a:spLocks xmlns:a="http://schemas.openxmlformats.org/drawingml/2006/main" noGrp="1"/>
          </p:cNvSpPr>
          <p:nvPr/>
        </p:nvSpPr>
        <p:spPr>
          <a:xfrm xmlns:a="http://schemas.openxmlformats.org/drawingml/2006/main">
            <a:off x="1552575" y="3790950"/>
            <a:ext cx="2095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1">
                <a:solidFill>
                  <a:srgbClr val="1B2537"/>
                </a:solidFill>
                <a:latin typeface="Aptos Display"/>
                <a:ea typeface="Aptos Display"/>
                <a:cs typeface="Aptos Display"/>
              </a:defRPr>
            </a:pPr>
            <a:r>
              <a:rPr sz="1575" b="1">
                <a:solidFill>
                  <a:srgbClr val="1B2537"/>
                </a:solidFill>
                <a:latin typeface="Aptos Display"/>
                <a:ea typeface="Aptos Display"/>
                <a:cs typeface="Aptos Display"/>
              </a:rPr>
              <a:t>Kosten senken</a:t>
            </a:r>
          </a:p>
        </p:txBody>
      </p:sp>
      <p:sp>
        <p:nvSpPr>
          <p:cNvPr id="19" name="">
            <a:extLst xmlns:a="http://schemas.openxmlformats.org/drawingml/2006/main">
              <a:ext uri="{FF2B5EF4-FFF2-40B4-BE49-F238E27FC236}">
                <a16:creationId xmlns:a16="http://schemas.microsoft.com/office/drawing/2014/main" id="{08D1BADF-A64D-415E-A0A5-893154E8969A}"/>
              </a:ext>
            </a:extLst>
          </p:cNvPr>
          <p:cNvSpPr>
            <a:spLocks xmlns:a="http://schemas.openxmlformats.org/drawingml/2006/main" noGrp="1"/>
          </p:cNvSpPr>
          <p:nvPr/>
        </p:nvSpPr>
        <p:spPr>
          <a:xfrm xmlns:a="http://schemas.openxmlformats.org/drawingml/2006/main">
            <a:off x="1552575" y="4152900"/>
            <a:ext cx="20574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53657A"/>
                </a:solidFill>
                <a:latin typeface="Aptos"/>
                <a:ea typeface="Aptos"/>
                <a:cs typeface="Aptos"/>
              </a:defRPr>
            </a:pPr>
            <a:r>
              <a:rPr sz="1088" b="0">
                <a:solidFill>
                  <a:srgbClr val="53657A"/>
                </a:solidFill>
                <a:latin typeface="Aptos"/>
                <a:ea typeface="Aptos"/>
                <a:cs typeface="Aptos"/>
              </a:rPr>
              <a:t>Routen minimieren Kilometer, Fahrzeugkosten und Fahrerzeit.</a:t>
            </a:r>
          </a:p>
        </p:txBody>
      </p:sp>
      <p:sp>
        <p:nvSpPr>
          <p:cNvPr id="20" name="">
            <a:extLst xmlns:a="http://schemas.openxmlformats.org/drawingml/2006/main">
              <a:ext uri="{FF2B5EF4-FFF2-40B4-BE49-F238E27FC236}">
                <a16:creationId xmlns:a16="http://schemas.microsoft.com/office/drawing/2014/main" id="{AF3B9106-F291-4C6A-B9BD-C64B6B8C0C27}"/>
              </a:ext>
            </a:extLst>
          </p:cNvPr>
          <p:cNvSpPr>
            <a:spLocks xmlns:a="http://schemas.openxmlformats.org/drawingml/2006/main" noGrp="1"/>
          </p:cNvSpPr>
          <p:nvPr/>
        </p:nvSpPr>
        <p:spPr>
          <a:xfrm xmlns:a="http://schemas.openxmlformats.org/drawingml/2006/main">
            <a:off x="4305300" y="3609975"/>
            <a:ext cx="3257550" cy="1295400"/>
          </a:xfrm>
          <a:prstGeom xmlns:a="http://schemas.openxmlformats.org/drawingml/2006/main" prst="roundRect">
            <a:avLst>
              <a:gd name="adj" fmla="val 5882"/>
            </a:avLst>
          </a:prstGeom>
          <a:solidFill xmlns:a="http://schemas.openxmlformats.org/drawingml/2006/main">
            <a:srgbClr val="D8DEE6"/>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8960013F-C711-487B-B5A2-DEC9CF30AE11}"/>
              </a:ext>
            </a:extLst>
          </p:cNvPr>
          <p:cNvSpPr>
            <a:spLocks xmlns:a="http://schemas.openxmlformats.org/drawingml/2006/main" noGrp="1"/>
          </p:cNvSpPr>
          <p:nvPr/>
        </p:nvSpPr>
        <p:spPr>
          <a:xfrm xmlns:a="http://schemas.openxmlformats.org/drawingml/2006/main">
            <a:off x="4276725" y="3562350"/>
            <a:ext cx="3257550" cy="1295400"/>
          </a:xfrm>
          <a:prstGeom xmlns:a="http://schemas.openxmlformats.org/drawingml/2006/main" prst="roundRect">
            <a:avLst>
              <a:gd name="adj" fmla="val 5882"/>
            </a:avLst>
          </a:prstGeom>
          <a:solidFill xmlns:a="http://schemas.openxmlformats.org/drawingml/2006/main">
            <a:srgbClr val="FFF4E3"/>
          </a:solidFill>
          <a:ln xmlns:a="http://schemas.openxmlformats.org/drawingml/2006/main" w="9525">
            <a:solidFill>
              <a:srgbClr val="D9E1EA"/>
            </a:solidFill>
            <a:prstDash val="solid"/>
          </a:ln>
        </p:spPr>
      </p:sp>
      <p:sp>
        <p:nvSpPr>
          <p:cNvPr id="22" name="">
            <a:extLst xmlns:a="http://schemas.openxmlformats.org/drawingml/2006/main">
              <a:ext uri="{FF2B5EF4-FFF2-40B4-BE49-F238E27FC236}">
                <a16:creationId xmlns:a16="http://schemas.microsoft.com/office/drawing/2014/main" id="{35C7DCC2-82DC-4987-BC46-95C0318A3C64}"/>
              </a:ext>
            </a:extLst>
          </p:cNvPr>
          <p:cNvSpPr>
            <a:spLocks xmlns:a="http://schemas.openxmlformats.org/drawingml/2006/main" noGrp="1"/>
          </p:cNvSpPr>
          <p:nvPr/>
        </p:nvSpPr>
        <p:spPr>
          <a:xfrm xmlns:a="http://schemas.openxmlformats.org/drawingml/2006/main">
            <a:off x="4276725" y="3562350"/>
            <a:ext cx="66675" cy="1295400"/>
          </a:xfrm>
          <a:prstGeom xmlns:a="http://schemas.openxmlformats.org/drawingml/2006/main" prst="rect">
            <a:avLst/>
          </a:prstGeom>
          <a:solidFill xmlns:a="http://schemas.openxmlformats.org/drawingml/2006/main">
            <a:srgbClr val="D97A00"/>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1AE4D151-C73E-4549-B512-1D7EFD666D90}"/>
              </a:ext>
            </a:extLst>
          </p:cNvPr>
          <p:cNvSpPr>
            <a:spLocks xmlns:a="http://schemas.openxmlformats.org/drawingml/2006/main" noGrp="1"/>
          </p:cNvSpPr>
          <p:nvPr/>
        </p:nvSpPr>
        <p:spPr>
          <a:xfrm xmlns:a="http://schemas.openxmlformats.org/drawingml/2006/main">
            <a:off x="4562475" y="3810000"/>
            <a:ext cx="438150" cy="438150"/>
          </a:xfrm>
          <a:prstGeom xmlns:a="http://schemas.openxmlformats.org/drawingml/2006/main" prst="ellipse">
            <a:avLst/>
          </a:prstGeom>
          <a:solidFill xmlns:a="http://schemas.openxmlformats.org/drawingml/2006/main">
            <a:srgbClr val="D97A00"/>
          </a:solidFill>
          <a:ln xmlns:a="http://schemas.openxmlformats.org/drawingml/2006/main" w="0">
            <a:solidFill>
              <a:srgbClr val="000000">
                <a:alpha val="0"/>
              </a:srgbClr>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c7a3585387643f2">
            <a:extLst>
              <a:ext uri="{96DAC541-7B7A-43D3-8B79-37D633B846F1}">
                <asvg:svgBlip xmlns:asvg="http://schemas.microsoft.com/office/drawing/2016/SVG/main" r:embed="Rc52a9a3109174ce7"/>
              </a:ext>
            </a:extLst>
          </a:blip>
          <a:stretch xmlns:a="http://schemas.openxmlformats.org/drawingml/2006/main"/>
        </p:blipFill>
        <p:spPr>
          <a:xfrm xmlns:a="http://schemas.openxmlformats.org/drawingml/2006/main">
            <a:off x="4667250" y="3914775"/>
            <a:ext cx="228600" cy="2286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4902AB07-AE6E-4475-880C-92D47A8DCD5F}"/>
              </a:ext>
            </a:extLst>
          </p:cNvPr>
          <p:cNvSpPr>
            <a:spLocks xmlns:a="http://schemas.openxmlformats.org/drawingml/2006/main" noGrp="1"/>
          </p:cNvSpPr>
          <p:nvPr/>
        </p:nvSpPr>
        <p:spPr>
          <a:xfrm xmlns:a="http://schemas.openxmlformats.org/drawingml/2006/main">
            <a:off x="5191125" y="3790950"/>
            <a:ext cx="2095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1">
                <a:solidFill>
                  <a:srgbClr val="1B2537"/>
                </a:solidFill>
                <a:latin typeface="Aptos Display"/>
                <a:ea typeface="Aptos Display"/>
                <a:cs typeface="Aptos Display"/>
              </a:defRPr>
            </a:pPr>
            <a:r>
              <a:rPr sz="1575" b="1">
                <a:solidFill>
                  <a:srgbClr val="1B2537"/>
                </a:solidFill>
                <a:latin typeface="Aptos Display"/>
                <a:ea typeface="Aptos Display"/>
                <a:cs typeface="Aptos Display"/>
              </a:rPr>
              <a:t>Zeit reduzieren</a:t>
            </a:r>
          </a:p>
        </p:txBody>
      </p:sp>
      <p:sp>
        <p:nvSpPr>
          <p:cNvPr id="26" name="">
            <a:extLst xmlns:a="http://schemas.openxmlformats.org/drawingml/2006/main">
              <a:ext uri="{FF2B5EF4-FFF2-40B4-BE49-F238E27FC236}">
                <a16:creationId xmlns:a16="http://schemas.microsoft.com/office/drawing/2014/main" id="{D5A7CF9A-1EE9-4F1F-BC08-C51AD0F38661}"/>
              </a:ext>
            </a:extLst>
          </p:cNvPr>
          <p:cNvSpPr>
            <a:spLocks xmlns:a="http://schemas.openxmlformats.org/drawingml/2006/main" noGrp="1"/>
          </p:cNvSpPr>
          <p:nvPr/>
        </p:nvSpPr>
        <p:spPr>
          <a:xfrm xmlns:a="http://schemas.openxmlformats.org/drawingml/2006/main">
            <a:off x="5191125" y="4152900"/>
            <a:ext cx="20574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53657A"/>
                </a:solidFill>
                <a:latin typeface="Aptos"/>
                <a:ea typeface="Aptos"/>
                <a:cs typeface="Aptos"/>
              </a:defRPr>
            </a:pPr>
            <a:r>
              <a:rPr sz="1088" b="0">
                <a:solidFill>
                  <a:srgbClr val="53657A"/>
                </a:solidFill>
                <a:latin typeface="Aptos"/>
                <a:ea typeface="Aptos"/>
                <a:cs typeface="Aptos"/>
              </a:rPr>
              <a:t>Fahrzeiten werden auf realen Straßenabschnitten bewertet.</a:t>
            </a:r>
          </a:p>
        </p:txBody>
      </p:sp>
      <p:sp>
        <p:nvSpPr>
          <p:cNvPr id="27" name="">
            <a:extLst xmlns:a="http://schemas.openxmlformats.org/drawingml/2006/main">
              <a:ext uri="{FF2B5EF4-FFF2-40B4-BE49-F238E27FC236}">
                <a16:creationId xmlns:a16="http://schemas.microsoft.com/office/drawing/2014/main" id="{7A8CF914-212E-4499-88B4-A3A86757683A}"/>
              </a:ext>
            </a:extLst>
          </p:cNvPr>
          <p:cNvSpPr>
            <a:spLocks xmlns:a="http://schemas.openxmlformats.org/drawingml/2006/main" noGrp="1"/>
          </p:cNvSpPr>
          <p:nvPr/>
        </p:nvSpPr>
        <p:spPr>
          <a:xfrm xmlns:a="http://schemas.openxmlformats.org/drawingml/2006/main">
            <a:off x="7924800" y="3609975"/>
            <a:ext cx="3257550" cy="1295400"/>
          </a:xfrm>
          <a:prstGeom xmlns:a="http://schemas.openxmlformats.org/drawingml/2006/main" prst="roundRect">
            <a:avLst>
              <a:gd name="adj" fmla="val 5882"/>
            </a:avLst>
          </a:prstGeom>
          <a:solidFill xmlns:a="http://schemas.openxmlformats.org/drawingml/2006/main">
            <a:srgbClr val="D8DEE6"/>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813B8F6C-DC52-40BF-8015-08C89BCF6189}"/>
              </a:ext>
            </a:extLst>
          </p:cNvPr>
          <p:cNvSpPr>
            <a:spLocks xmlns:a="http://schemas.openxmlformats.org/drawingml/2006/main" noGrp="1"/>
          </p:cNvSpPr>
          <p:nvPr/>
        </p:nvSpPr>
        <p:spPr>
          <a:xfrm xmlns:a="http://schemas.openxmlformats.org/drawingml/2006/main">
            <a:off x="7896225" y="3562350"/>
            <a:ext cx="3257550" cy="1295400"/>
          </a:xfrm>
          <a:prstGeom xmlns:a="http://schemas.openxmlformats.org/drawingml/2006/main" prst="roundRect">
            <a:avLst>
              <a:gd name="adj" fmla="val 5882"/>
            </a:avLst>
          </a:prstGeom>
          <a:solidFill xmlns:a="http://schemas.openxmlformats.org/drawingml/2006/main">
            <a:srgbClr val="EAF8F0"/>
          </a:solidFill>
          <a:ln xmlns:a="http://schemas.openxmlformats.org/drawingml/2006/main" w="9525">
            <a:solidFill>
              <a:srgbClr val="D9E1EA"/>
            </a:solidFill>
            <a:prstDash val="solid"/>
          </a:ln>
        </p:spPr>
      </p:sp>
      <p:sp>
        <p:nvSpPr>
          <p:cNvPr id="29" name="">
            <a:extLst xmlns:a="http://schemas.openxmlformats.org/drawingml/2006/main">
              <a:ext uri="{FF2B5EF4-FFF2-40B4-BE49-F238E27FC236}">
                <a16:creationId xmlns:a16="http://schemas.microsoft.com/office/drawing/2014/main" id="{7AB195BB-A5DC-4BED-85BD-5927604E8C0E}"/>
              </a:ext>
            </a:extLst>
          </p:cNvPr>
          <p:cNvSpPr>
            <a:spLocks xmlns:a="http://schemas.openxmlformats.org/drawingml/2006/main" noGrp="1"/>
          </p:cNvSpPr>
          <p:nvPr/>
        </p:nvSpPr>
        <p:spPr>
          <a:xfrm xmlns:a="http://schemas.openxmlformats.org/drawingml/2006/main">
            <a:off x="7896225" y="3562350"/>
            <a:ext cx="66675" cy="129540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28C9AFA4-0EC1-4F93-AB86-6B685CBE0C9C}"/>
              </a:ext>
            </a:extLst>
          </p:cNvPr>
          <p:cNvSpPr>
            <a:spLocks xmlns:a="http://schemas.openxmlformats.org/drawingml/2006/main" noGrp="1"/>
          </p:cNvSpPr>
          <p:nvPr/>
        </p:nvSpPr>
        <p:spPr>
          <a:xfrm xmlns:a="http://schemas.openxmlformats.org/drawingml/2006/main">
            <a:off x="8181975" y="3810000"/>
            <a:ext cx="438150" cy="438150"/>
          </a:xfrm>
          <a:prstGeom xmlns:a="http://schemas.openxmlformats.org/drawingml/2006/main" prst="ellipse">
            <a:avLst/>
          </a:prstGeom>
          <a:solidFill xmlns:a="http://schemas.openxmlformats.org/drawingml/2006/main">
            <a:srgbClr val="16A34A"/>
          </a:solidFill>
          <a:ln xmlns:a="http://schemas.openxmlformats.org/drawingml/2006/main" w="0">
            <a:solidFill>
              <a:srgbClr val="000000">
                <a:alpha val="0"/>
              </a:srgbClr>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daf0473c3b4343c6">
            <a:extLst>
              <a:ext uri="{96DAC541-7B7A-43D3-8B79-37D633B846F1}">
                <asvg:svgBlip xmlns:asvg="http://schemas.microsoft.com/office/drawing/2016/SVG/main" r:embed="R74018a9adadf48ba"/>
              </a:ext>
            </a:extLst>
          </a:blip>
          <a:stretch xmlns:a="http://schemas.openxmlformats.org/drawingml/2006/main"/>
        </p:blipFill>
        <p:spPr>
          <a:xfrm xmlns:a="http://schemas.openxmlformats.org/drawingml/2006/main">
            <a:off x="8286750" y="3914775"/>
            <a:ext cx="228600" cy="2286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4DB9CDA4-4152-4A20-99CA-5449A79549C9}"/>
              </a:ext>
            </a:extLst>
          </p:cNvPr>
          <p:cNvSpPr>
            <a:spLocks xmlns:a="http://schemas.openxmlformats.org/drawingml/2006/main" noGrp="1"/>
          </p:cNvSpPr>
          <p:nvPr/>
        </p:nvSpPr>
        <p:spPr>
          <a:xfrm xmlns:a="http://schemas.openxmlformats.org/drawingml/2006/main">
            <a:off x="8810625" y="3790950"/>
            <a:ext cx="2095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1">
                <a:solidFill>
                  <a:srgbClr val="1B2537"/>
                </a:solidFill>
                <a:latin typeface="Aptos Display"/>
                <a:ea typeface="Aptos Display"/>
                <a:cs typeface="Aptos Display"/>
              </a:defRPr>
            </a:pPr>
            <a:r>
              <a:rPr sz="1575" b="1">
                <a:solidFill>
                  <a:srgbClr val="1B2537"/>
                </a:solidFill>
                <a:latin typeface="Aptos Display"/>
                <a:ea typeface="Aptos Display"/>
                <a:cs typeface="Aptos Display"/>
              </a:rPr>
              <a:t>Umwelt entlasten</a:t>
            </a:r>
          </a:p>
        </p:txBody>
      </p:sp>
      <p:sp>
        <p:nvSpPr>
          <p:cNvPr id="33" name="">
            <a:extLst xmlns:a="http://schemas.openxmlformats.org/drawingml/2006/main">
              <a:ext uri="{FF2B5EF4-FFF2-40B4-BE49-F238E27FC236}">
                <a16:creationId xmlns:a16="http://schemas.microsoft.com/office/drawing/2014/main" id="{E1083783-417C-4F5E-9961-490F563D5803}"/>
              </a:ext>
            </a:extLst>
          </p:cNvPr>
          <p:cNvSpPr>
            <a:spLocks xmlns:a="http://schemas.openxmlformats.org/drawingml/2006/main" noGrp="1"/>
          </p:cNvSpPr>
          <p:nvPr/>
        </p:nvSpPr>
        <p:spPr>
          <a:xfrm xmlns:a="http://schemas.openxmlformats.org/drawingml/2006/main">
            <a:off x="8810625" y="4152900"/>
            <a:ext cx="20574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53657A"/>
                </a:solidFill>
                <a:latin typeface="Aptos"/>
                <a:ea typeface="Aptos"/>
                <a:cs typeface="Aptos"/>
              </a:defRPr>
            </a:pPr>
            <a:r>
              <a:rPr sz="1088" b="0">
                <a:solidFill>
                  <a:srgbClr val="53657A"/>
                </a:solidFill>
                <a:latin typeface="Aptos"/>
                <a:ea typeface="Aptos"/>
                <a:cs typeface="Aptos"/>
              </a:rPr>
              <a:t>CO2-Emissionen fließen als eigene Zielgröße in den Score ein.</a:t>
            </a:r>
          </a:p>
        </p:txBody>
      </p:sp>
      <p:sp>
        <p:nvSpPr>
          <p:cNvPr id="34" name="">
            <a:extLst xmlns:a="http://schemas.openxmlformats.org/drawingml/2006/main">
              <a:ext uri="{FF2B5EF4-FFF2-40B4-BE49-F238E27FC236}">
                <a16:creationId xmlns:a16="http://schemas.microsoft.com/office/drawing/2014/main" id="{DFF2C449-6FC1-4ABE-BAAD-247B6FE82FAA}"/>
              </a:ext>
            </a:extLst>
          </p:cNvPr>
          <p:cNvSpPr>
            <a:spLocks xmlns:a="http://schemas.openxmlformats.org/drawingml/2006/main" noGrp="1"/>
          </p:cNvSpPr>
          <p:nvPr/>
        </p:nvSpPr>
        <p:spPr>
          <a:xfrm xmlns:a="http://schemas.openxmlformats.org/drawingml/2006/main">
            <a:off x="647700" y="5295900"/>
            <a:ext cx="5048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B2537"/>
                </a:solidFill>
                <a:latin typeface="Aptos"/>
                <a:ea typeface="Aptos"/>
                <a:cs typeface="Aptos"/>
              </a:defRPr>
            </a:pPr>
            <a:r>
              <a:rPr sz="1275" b="1">
                <a:solidFill>
                  <a:srgbClr val="1B2537"/>
                </a:solidFill>
                <a:latin typeface="Aptos"/>
                <a:ea typeface="Aptos"/>
                <a:cs typeface="Aptos"/>
              </a:rPr>
              <a:t>Berücksichtigt werden als harte Eingangsgrößen</a:t>
            </a:r>
          </a:p>
        </p:txBody>
      </p:sp>
      <p:sp>
        <p:nvSpPr>
          <p:cNvPr id="35" name="">
            <a:extLst xmlns:a="http://schemas.openxmlformats.org/drawingml/2006/main">
              <a:ext uri="{FF2B5EF4-FFF2-40B4-BE49-F238E27FC236}">
                <a16:creationId xmlns:a16="http://schemas.microsoft.com/office/drawing/2014/main" id="{3FCD667A-8D42-4512-9CC3-65F5509FC05D}"/>
              </a:ext>
            </a:extLst>
          </p:cNvPr>
          <p:cNvSpPr>
            <a:spLocks xmlns:a="http://schemas.openxmlformats.org/drawingml/2006/main" noGrp="1"/>
          </p:cNvSpPr>
          <p:nvPr/>
        </p:nvSpPr>
        <p:spPr>
          <a:xfrm xmlns:a="http://schemas.openxmlformats.org/drawingml/2006/main">
            <a:off x="638175" y="5638800"/>
            <a:ext cx="325755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D9E1EA"/>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f74a2788e6544f1">
            <a:extLst>
              <a:ext uri="{96DAC541-7B7A-43D3-8B79-37D633B846F1}">
                <asvg:svgBlip xmlns:asvg="http://schemas.microsoft.com/office/drawing/2016/SVG/main" r:embed="R8760b3f120594cec"/>
              </a:ext>
            </a:extLst>
          </a:blip>
          <a:stretch xmlns:a="http://schemas.openxmlformats.org/drawingml/2006/main"/>
        </p:blipFill>
        <p:spPr>
          <a:xfrm xmlns:a="http://schemas.openxmlformats.org/drawingml/2006/main">
            <a:off x="809625" y="5829300"/>
            <a:ext cx="266700" cy="266700"/>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29C2F4B4-AA53-4C44-A9AF-6D6D87A963A4}"/>
              </a:ext>
            </a:extLst>
          </p:cNvPr>
          <p:cNvSpPr>
            <a:spLocks xmlns:a="http://schemas.openxmlformats.org/drawingml/2006/main" noGrp="1"/>
          </p:cNvSpPr>
          <p:nvPr/>
        </p:nvSpPr>
        <p:spPr>
          <a:xfrm xmlns:a="http://schemas.openxmlformats.org/drawingml/2006/main">
            <a:off x="1190625" y="5781675"/>
            <a:ext cx="2552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B2537"/>
                </a:solidFill>
                <a:latin typeface="Aptos"/>
                <a:ea typeface="Aptos"/>
                <a:cs typeface="Aptos"/>
              </a:defRPr>
            </a:pPr>
            <a:r>
              <a:rPr sz="1163" b="1">
                <a:solidFill>
                  <a:srgbClr val="1B2537"/>
                </a:solidFill>
                <a:latin typeface="Aptos"/>
                <a:ea typeface="Aptos"/>
                <a:cs typeface="Aptos"/>
              </a:rPr>
              <a:t>Entfernung</a:t>
            </a:r>
          </a:p>
        </p:txBody>
      </p:sp>
      <p:sp>
        <p:nvSpPr>
          <p:cNvPr id="38" name="">
            <a:extLst xmlns:a="http://schemas.openxmlformats.org/drawingml/2006/main">
              <a:ext uri="{FF2B5EF4-FFF2-40B4-BE49-F238E27FC236}">
                <a16:creationId xmlns:a16="http://schemas.microsoft.com/office/drawing/2014/main" id="{8687CE01-33E4-4D96-826B-0A7942FCA27D}"/>
              </a:ext>
            </a:extLst>
          </p:cNvPr>
          <p:cNvSpPr>
            <a:spLocks xmlns:a="http://schemas.openxmlformats.org/drawingml/2006/main" noGrp="1"/>
          </p:cNvSpPr>
          <p:nvPr/>
        </p:nvSpPr>
        <p:spPr>
          <a:xfrm xmlns:a="http://schemas.openxmlformats.org/drawingml/2006/main">
            <a:off x="1190625" y="6029325"/>
            <a:ext cx="2552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3657A"/>
                </a:solidFill>
                <a:latin typeface="Aptos"/>
                <a:ea typeface="Aptos"/>
                <a:cs typeface="Aptos"/>
              </a:defRPr>
            </a:pPr>
            <a:r>
              <a:rPr sz="938" b="0">
                <a:solidFill>
                  <a:srgbClr val="53657A"/>
                </a:solidFill>
                <a:latin typeface="Aptos"/>
                <a:ea typeface="Aptos"/>
                <a:cs typeface="Aptos"/>
              </a:rPr>
              <a:t>echte OSRM-Straßendistanzen</a:t>
            </a:r>
          </a:p>
        </p:txBody>
      </p:sp>
      <p:sp>
        <p:nvSpPr>
          <p:cNvPr id="39" name="">
            <a:extLst xmlns:a="http://schemas.openxmlformats.org/drawingml/2006/main">
              <a:ext uri="{FF2B5EF4-FFF2-40B4-BE49-F238E27FC236}">
                <a16:creationId xmlns:a16="http://schemas.microsoft.com/office/drawing/2014/main" id="{1B7F0B3F-F1FA-410E-9497-A27B8765D667}"/>
              </a:ext>
            </a:extLst>
          </p:cNvPr>
          <p:cNvSpPr>
            <a:spLocks xmlns:a="http://schemas.openxmlformats.org/drawingml/2006/main" noGrp="1"/>
          </p:cNvSpPr>
          <p:nvPr/>
        </p:nvSpPr>
        <p:spPr>
          <a:xfrm xmlns:a="http://schemas.openxmlformats.org/drawingml/2006/main">
            <a:off x="4276725" y="5638800"/>
            <a:ext cx="325755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D9E1EA"/>
            </a:solidFill>
            <a:prstDash val="solid"/>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ff5be2e25e994921">
            <a:extLst>
              <a:ext uri="{96DAC541-7B7A-43D3-8B79-37D633B846F1}">
                <asvg:svgBlip xmlns:asvg="http://schemas.microsoft.com/office/drawing/2016/SVG/main" r:embed="R9c64b55d98c347a0"/>
              </a:ext>
            </a:extLst>
          </a:blip>
          <a:stretch xmlns:a="http://schemas.openxmlformats.org/drawingml/2006/main"/>
        </p:blipFill>
        <p:spPr>
          <a:xfrm xmlns:a="http://schemas.openxmlformats.org/drawingml/2006/main">
            <a:off x="4448175" y="5829300"/>
            <a:ext cx="266700" cy="266700"/>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4F417DCF-10A8-4D17-ABCF-49C69778C429}"/>
              </a:ext>
            </a:extLst>
          </p:cNvPr>
          <p:cNvSpPr>
            <a:spLocks xmlns:a="http://schemas.openxmlformats.org/drawingml/2006/main" noGrp="1"/>
          </p:cNvSpPr>
          <p:nvPr/>
        </p:nvSpPr>
        <p:spPr>
          <a:xfrm xmlns:a="http://schemas.openxmlformats.org/drawingml/2006/main">
            <a:off x="4829175" y="5781675"/>
            <a:ext cx="2552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B2537"/>
                </a:solidFill>
                <a:latin typeface="Aptos"/>
                <a:ea typeface="Aptos"/>
                <a:cs typeface="Aptos"/>
              </a:defRPr>
            </a:pPr>
            <a:r>
              <a:rPr sz="1163" b="1">
                <a:solidFill>
                  <a:srgbClr val="1B2537"/>
                </a:solidFill>
                <a:latin typeface="Aptos"/>
                <a:ea typeface="Aptos"/>
                <a:cs typeface="Aptos"/>
              </a:rPr>
              <a:t>Verkehr</a:t>
            </a:r>
          </a:p>
        </p:txBody>
      </p:sp>
      <p:sp>
        <p:nvSpPr>
          <p:cNvPr id="42" name="">
            <a:extLst xmlns:a="http://schemas.openxmlformats.org/drawingml/2006/main">
              <a:ext uri="{FF2B5EF4-FFF2-40B4-BE49-F238E27FC236}">
                <a16:creationId xmlns:a16="http://schemas.microsoft.com/office/drawing/2014/main" id="{B5B65814-23B3-4B15-B245-E0BD9F9DE342}"/>
              </a:ext>
            </a:extLst>
          </p:cNvPr>
          <p:cNvSpPr>
            <a:spLocks xmlns:a="http://schemas.openxmlformats.org/drawingml/2006/main" noGrp="1"/>
          </p:cNvSpPr>
          <p:nvPr/>
        </p:nvSpPr>
        <p:spPr>
          <a:xfrm xmlns:a="http://schemas.openxmlformats.org/drawingml/2006/main">
            <a:off x="4829175" y="6029325"/>
            <a:ext cx="2552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3657A"/>
                </a:solidFill>
                <a:latin typeface="Aptos"/>
                <a:ea typeface="Aptos"/>
                <a:cs typeface="Aptos"/>
              </a:defRPr>
            </a:pPr>
            <a:r>
              <a:rPr sz="938" b="0">
                <a:solidFill>
                  <a:srgbClr val="53657A"/>
                </a:solidFill>
                <a:latin typeface="Aptos"/>
                <a:ea typeface="Aptos"/>
                <a:cs typeface="Aptos"/>
              </a:rPr>
              <a:t>reale Fahrzeiten und Live-Traffic</a:t>
            </a:r>
          </a:p>
        </p:txBody>
      </p:sp>
      <p:sp>
        <p:nvSpPr>
          <p:cNvPr id="43" name="">
            <a:extLst xmlns:a="http://schemas.openxmlformats.org/drawingml/2006/main">
              <a:ext uri="{FF2B5EF4-FFF2-40B4-BE49-F238E27FC236}">
                <a16:creationId xmlns:a16="http://schemas.microsoft.com/office/drawing/2014/main" id="{AE5C9265-D6E4-497E-B0FE-51DA84F1B8C0}"/>
              </a:ext>
            </a:extLst>
          </p:cNvPr>
          <p:cNvSpPr>
            <a:spLocks xmlns:a="http://schemas.openxmlformats.org/drawingml/2006/main" noGrp="1"/>
          </p:cNvSpPr>
          <p:nvPr/>
        </p:nvSpPr>
        <p:spPr>
          <a:xfrm xmlns:a="http://schemas.openxmlformats.org/drawingml/2006/main">
            <a:off x="7896225" y="5638800"/>
            <a:ext cx="325755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D9E1EA"/>
            </a:solidFill>
            <a:prstDash val="solid"/>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83ae0630e3824b8e">
            <a:extLst>
              <a:ext uri="{96DAC541-7B7A-43D3-8B79-37D633B846F1}">
                <asvg:svgBlip xmlns:asvg="http://schemas.microsoft.com/office/drawing/2016/SVG/main" r:embed="R3e47c6cf326b4365"/>
              </a:ext>
            </a:extLst>
          </a:blip>
          <a:stretch xmlns:a="http://schemas.openxmlformats.org/drawingml/2006/main"/>
        </p:blipFill>
        <p:spPr>
          <a:xfrm xmlns:a="http://schemas.openxmlformats.org/drawingml/2006/main">
            <a:off x="8067675" y="5829300"/>
            <a:ext cx="266700" cy="26670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983916B0-CDA7-443B-8804-93754BFF592A}"/>
              </a:ext>
            </a:extLst>
          </p:cNvPr>
          <p:cNvSpPr>
            <a:spLocks xmlns:a="http://schemas.openxmlformats.org/drawingml/2006/main" noGrp="1"/>
          </p:cNvSpPr>
          <p:nvPr/>
        </p:nvSpPr>
        <p:spPr>
          <a:xfrm xmlns:a="http://schemas.openxmlformats.org/drawingml/2006/main">
            <a:off x="8448675" y="5781675"/>
            <a:ext cx="2552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B2537"/>
                </a:solidFill>
                <a:latin typeface="Aptos"/>
                <a:ea typeface="Aptos"/>
                <a:cs typeface="Aptos"/>
              </a:defRPr>
            </a:pPr>
            <a:r>
              <a:rPr sz="1163" b="1">
                <a:solidFill>
                  <a:srgbClr val="1B2537"/>
                </a:solidFill>
                <a:latin typeface="Aptos"/>
                <a:ea typeface="Aptos"/>
                <a:cs typeface="Aptos"/>
              </a:rPr>
              <a:t>Transportkapazität</a:t>
            </a:r>
          </a:p>
        </p:txBody>
      </p:sp>
      <p:sp>
        <p:nvSpPr>
          <p:cNvPr id="46" name="">
            <a:extLst xmlns:a="http://schemas.openxmlformats.org/drawingml/2006/main">
              <a:ext uri="{FF2B5EF4-FFF2-40B4-BE49-F238E27FC236}">
                <a16:creationId xmlns:a16="http://schemas.microsoft.com/office/drawing/2014/main" id="{E5A4246B-5D08-4ACD-9847-1AC5F8ACBDEC}"/>
              </a:ext>
            </a:extLst>
          </p:cNvPr>
          <p:cNvSpPr>
            <a:spLocks xmlns:a="http://schemas.openxmlformats.org/drawingml/2006/main" noGrp="1"/>
          </p:cNvSpPr>
          <p:nvPr/>
        </p:nvSpPr>
        <p:spPr>
          <a:xfrm xmlns:a="http://schemas.openxmlformats.org/drawingml/2006/main">
            <a:off x="8448675" y="6029325"/>
            <a:ext cx="2552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3657A"/>
                </a:solidFill>
                <a:latin typeface="Aptos"/>
                <a:ea typeface="Aptos"/>
                <a:cs typeface="Aptos"/>
              </a:defRPr>
            </a:pPr>
            <a:r>
              <a:rPr sz="938" b="0">
                <a:solidFill>
                  <a:srgbClr val="53657A"/>
                </a:solidFill>
                <a:latin typeface="Aptos"/>
                <a:ea typeface="Aptos"/>
                <a:cs typeface="Aptos"/>
              </a:rPr>
              <a:t>Fahrzeug- und Hub-Kapazitäten</a:t>
            </a:r>
          </a:p>
        </p:txBody>
      </p:sp>
      <p:sp>
        <p:nvSpPr>
          <p:cNvPr id="47" name="">
            <a:extLst xmlns:a="http://schemas.openxmlformats.org/drawingml/2006/main">
              <a:ext uri="{FF2B5EF4-FFF2-40B4-BE49-F238E27FC236}">
                <a16:creationId xmlns:a16="http://schemas.microsoft.com/office/drawing/2014/main" id="{8D6BB0D4-B93C-4A70-A536-1959DA28CD9B}"/>
              </a:ext>
            </a:extLst>
          </p:cNvPr>
          <p:cNvSpPr>
            <a:spLocks xmlns:a="http://schemas.openxmlformats.org/drawingml/2006/main" noGrp="1"/>
          </p:cNvSpPr>
          <p:nvPr/>
        </p:nvSpPr>
        <p:spPr>
          <a:xfrm xmlns:a="http://schemas.openxmlformats.org/drawingml/2006/main">
            <a:off x="638175" y="6610350"/>
            <a:ext cx="10515600" cy="9525"/>
          </a:xfrm>
          <a:prstGeom xmlns:a="http://schemas.openxmlformats.org/drawingml/2006/main" prst="rect">
            <a:avLst/>
          </a:prstGeom>
          <a:solidFill xmlns:a="http://schemas.openxmlformats.org/drawingml/2006/main">
            <a:srgbClr val="D9E1EA"/>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658CFFCF-B58A-4874-BFBE-A696D0891841}"/>
              </a:ext>
            </a:extLst>
          </p:cNvPr>
          <p:cNvSpPr>
            <a:spLocks xmlns:a="http://schemas.openxmlformats.org/drawingml/2006/main" noGrp="1"/>
          </p:cNvSpPr>
          <p:nvPr/>
        </p:nvSpPr>
        <p:spPr>
          <a:xfrm xmlns:a="http://schemas.openxmlformats.org/drawingml/2006/main">
            <a:off x="638175" y="6657975"/>
            <a:ext cx="3429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3657A"/>
                </a:solidFill>
                <a:latin typeface="Aptos"/>
                <a:ea typeface="Aptos"/>
                <a:cs typeface="Aptos"/>
              </a:defRPr>
            </a:pPr>
            <a:r>
              <a:rPr sz="750" b="0">
                <a:solidFill>
                  <a:srgbClr val="53657A"/>
                </a:solidFill>
                <a:latin typeface="Aptos"/>
                <a:ea typeface="Aptos"/>
                <a:cs typeface="Aptos"/>
              </a:rPr>
              <a:t>Optimierung von Logistikrouten</a:t>
            </a:r>
          </a:p>
        </p:txBody>
      </p:sp>
      <p:sp>
        <p:nvSpPr>
          <p:cNvPr id="49" name="">
            <a:extLst xmlns:a="http://schemas.openxmlformats.org/drawingml/2006/main">
              <a:ext uri="{FF2B5EF4-FFF2-40B4-BE49-F238E27FC236}">
                <a16:creationId xmlns:a16="http://schemas.microsoft.com/office/drawing/2014/main" id="{2AF60621-C724-4844-BCAB-E0A582024078}"/>
              </a:ext>
            </a:extLst>
          </p:cNvPr>
          <p:cNvSpPr>
            <a:spLocks xmlns:a="http://schemas.openxmlformats.org/drawingml/2006/main" noGrp="1"/>
          </p:cNvSpPr>
          <p:nvPr/>
        </p:nvSpPr>
        <p:spPr>
          <a:xfrm xmlns:a="http://schemas.openxmlformats.org/drawingml/2006/main">
            <a:off x="10810875" y="6657975"/>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3657A"/>
                </a:solidFill>
                <a:latin typeface="Aptos"/>
                <a:ea typeface="Aptos"/>
                <a:cs typeface="Aptos"/>
              </a:defRPr>
            </a:pPr>
            <a:r>
              <a:rPr sz="750" b="0">
                <a:solidFill>
                  <a:srgbClr val="53657A"/>
                </a:solidFill>
                <a:latin typeface="Aptos"/>
                <a:ea typeface="Aptos"/>
                <a:cs typeface="Aptos"/>
              </a:rPr>
              <a:t>01</a:t>
            </a:r>
          </a:p>
        </p:txBody>
      </p:sp>
    </p:spTree>
    <p:extLst>
      <p:ext uri="{BB962C8B-B14F-4D97-AF65-F5344CB8AC3E}">
        <p14:creationId xmlns:p14="http://schemas.microsoft.com/office/powerpoint/2010/main" val="13272734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2026-06-10T22:35:01.1400000Z</dcterms:created>
  <dcterms:modified xsi:type="dcterms:W3CDTF">2026-06-10T22:35:01.1400000Z</dcterms:modified>
</coreProperties>
</file>