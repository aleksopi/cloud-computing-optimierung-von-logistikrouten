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97196ebd0043d0" /><Relationship Type="http://schemas.openxmlformats.org/officeDocument/2006/relationships/extended-properties" Target="/docProps/app.xml" Id="R313e7141ce4b4a04" /><Relationship Type="http://schemas.openxmlformats.org/officeDocument/2006/relationships/officeDocument" Target="/ppt/presentation.xml" Id="R69bb9750d66540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955ac9dd3448b2"/>
  </p:sldMasterIdLst>
  <p:notesMasterIdLst>
    <p:notesMasterId xmlns:r="http://schemas.openxmlformats.org/officeDocument/2006/relationships" r:id="Rb0da2318b03247fd"/>
  </p:notesMasterIdLst>
  <p:sldIdLst>
    <p:sldId xmlns:r="http://schemas.openxmlformats.org/officeDocument/2006/relationships" id="256" r:id="R36218b9fc63c41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6b974979ae4a78" /><Relationship Type="http://schemas.openxmlformats.org/officeDocument/2006/relationships/slideMaster" Target="/ppt/slideMasters/slideMaster1.xml" Id="R83955ac9dd3448b2" /><Relationship Type="http://schemas.openxmlformats.org/officeDocument/2006/relationships/notesMaster" Target="/ppt/notesMasters/notesMaster1.xml" Id="Rb0da2318b03247fd" /><Relationship Type="http://schemas.openxmlformats.org/officeDocument/2006/relationships/presProps" Target="/ppt/presProps.xml" Id="R3906cce02c5d48ce" /><Relationship Type="http://schemas.openxmlformats.org/officeDocument/2006/relationships/viewProps" Target="/ppt/viewProps.xml" Id="Ra3a2496631b546b4" /><Relationship Type="http://schemas.openxmlformats.org/officeDocument/2006/relationships/tableStyles" Target="/ppt/tableStyles.xml" Id="R500e1d8de19a43e8" /><Relationship Type="http://schemas.openxmlformats.org/officeDocument/2006/relationships/slide" Target="/ppt/slides/slide1.xml" Id="R36218b9fc63c41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0f227aa58a41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5488cd62ae4e9e" /><Relationship Type="http://schemas.openxmlformats.org/officeDocument/2006/relationships/notesMaster" Target="/ppt/notesMasters/notesMaster1.xml" Id="Rbf729b1eb1e641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f6194307942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5844bb34f440be" /><Relationship Type="http://schemas.openxmlformats.org/officeDocument/2006/relationships/slideLayout" Target="/ppt/slideLayouts/slideLayout1.xml" Id="Ra2e42f5ac29743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42f5ac29743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7c653e2334d31" /><Relationship Type="http://schemas.openxmlformats.org/officeDocument/2006/relationships/image" Target="/ppt/media/image.png" Id="Rb42783e317374dda" /><Relationship Type="http://schemas.openxmlformats.org/officeDocument/2006/relationships/image" Target="/ppt/media/image.svg" Id="R82f08715b3b64b6d" /><Relationship Type="http://schemas.openxmlformats.org/officeDocument/2006/relationships/image" Target="/ppt/media/image2.png" Id="R03f3fd2982b641db" /><Relationship Type="http://schemas.openxmlformats.org/officeDocument/2006/relationships/image" Target="/ppt/media/image2.svg" Id="R3dde07f4402e4aa4" /><Relationship Type="http://schemas.openxmlformats.org/officeDocument/2006/relationships/image" Target="/ppt/media/image3.png" Id="Rc43b53ec26664f14" /><Relationship Type="http://schemas.openxmlformats.org/officeDocument/2006/relationships/image" Target="/ppt/media/image3.svg" Id="R80d311ee446a4a3a" /><Relationship Type="http://schemas.openxmlformats.org/officeDocument/2006/relationships/image" Target="/ppt/media/image4.png" Id="Ra8e959880b1f417d" /><Relationship Type="http://schemas.openxmlformats.org/officeDocument/2006/relationships/image" Target="/ppt/media/image4.svg" Id="R4dcc3c89bd214edb" /><Relationship Type="http://schemas.openxmlformats.org/officeDocument/2006/relationships/image" Target="/ppt/media/image5.png" Id="R94a10aa6ccac4072" /><Relationship Type="http://schemas.openxmlformats.org/officeDocument/2006/relationships/image" Target="/ppt/media/image5.svg" Id="R7b3b631720ae42dc" /><Relationship Type="http://schemas.openxmlformats.org/officeDocument/2006/relationships/image" Target="/ppt/media/image6.png" Id="Rec938cadf8964905" /><Relationship Type="http://schemas.openxmlformats.org/officeDocument/2006/relationships/image" Target="/ppt/media/image6.svg" Id="Rbc75e9fef8d24b6a" /><Relationship Type="http://schemas.openxmlformats.org/officeDocument/2006/relationships/notesSlide" Target="/ppt/notesSlides/notesSlide1.xml" Id="R6b51f6125e1e46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3074EF-7BCD-4666-A432-CD7EED2F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9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79931-3C4D-4E4C-BA4C-A5205EC8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3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061EB-3F48-4B93-A2F4-20CE4183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38576-34BC-41FC-BF72-EFCEA976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1450"/>
            <a:ext cx="11925300" cy="651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8EE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E2A67-60E5-4C00-AB0A-5274EA0C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C4B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C4B8"/>
                </a:solidFill>
                <a:latin typeface="Aptos"/>
                <a:ea typeface="Aptos"/>
                <a:cs typeface="Aptos"/>
              </a:rPr>
              <a:t>AUSBLICK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560AA-6C97-474E-AC24-F0C7A1CB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Ausblick: Multi-Trip-VRP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DBB68-9AD3-4E73-8CDA-C92AF083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23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1223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Fahrzeuge sollen mehrere Routen an einem Tag fahren können - das macht aus der Routenplanung ein kombiniertes Routing- und Scheduling-Problem.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A0744-C85A-41D4-BC32-7E7E025E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66975"/>
            <a:ext cx="49149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61D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1193C-BB20-4384-9271-DA8F2C55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9149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E314E"/>
          </a:solidFill>
          <a:ln xmlns:a="http://schemas.openxmlformats.org/drawingml/2006/main" w="9525">
            <a:solidFill>
              <a:srgbClr val="2A6688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783e317374dda">
            <a:extLst>
              <a:ext uri="{96DAC541-7B7A-43D3-8B79-37D633B846F1}">
                <asvg:svgBlip xmlns:asvg="http://schemas.microsoft.com/office/drawing/2016/SVG/main" r:embed="R82f08715b3b64b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260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52BD9-6EFB-4F98-A744-450E9DCE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403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Was wird erweitert?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63591-4A09-41C8-BF61-429AEE22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3845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Ein Fahrzeug kann nach Rückkehr wieder beladen werden und am selben Tag eine weitere Tour fahren.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2F1E6-3378-43FC-A1B4-9BF9275D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996493">
            <a:off x="1428750" y="4191000"/>
            <a:ext cx="72914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487B0-53D0-426D-B4F7-E28D601B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6402">
            <a:off x="2038350" y="3790950"/>
            <a:ext cx="686858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71AEF-DC2E-4533-A8A2-75B3AD79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334090">
            <a:off x="2686050" y="4019550"/>
            <a:ext cx="1268936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A3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D96D2-CB25-4BE9-AE37-CC957261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40345">
            <a:off x="1504950" y="4229100"/>
            <a:ext cx="1872044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5E3AD-E1FC-42D2-9A20-3B7B78A7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24463">
            <a:off x="3333750" y="3829050"/>
            <a:ext cx="84359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85626-3123-4A27-A69F-F1D4AE55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0551">
            <a:off x="1504950" y="4229100"/>
            <a:ext cx="259108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A3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186B4-139D-458A-9D6B-01A8F96E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086225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B74B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FCE541-9356-40A7-B288-2537AEA1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2432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1F9BA-8B14-408F-ADE8-D2B03008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686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BC4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D4A34-30EB-4C49-B9FC-D61060DE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42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BC4B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BC4B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75817-394C-4468-9325-A16052CD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9147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BC4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4EBDA-040E-4444-A0AE-329947AE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9528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BC4B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BC4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583C5-981D-47AF-B3D1-F3124E56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24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1E530-7524-4EC4-A158-A31EC588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76237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2A65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2A65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1E158-1CFE-41D2-AB4C-8E211C0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86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A6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5B60DF-23E1-447B-9732-7D4B75D1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124325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2A65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2A65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559C6-C5AE-4E5D-A60D-F4C046BC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624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BC4B8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BC4B8"/>
                </a:solidFill>
                <a:latin typeface="Aptos"/>
                <a:ea typeface="Aptos"/>
                <a:cs typeface="Aptos"/>
              </a:rPr>
              <a:t>Tour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84FACD-A366-4902-BC2D-4CAEBE24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624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22A65A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22A65A"/>
                </a:solidFill>
                <a:latin typeface="Aptos"/>
                <a:ea typeface="Aptos"/>
                <a:cs typeface="Aptos"/>
              </a:rPr>
              <a:t>Tour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0788AA-BAA8-4B12-B16C-363B691E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41910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91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B6A026-55EE-4B1D-BF4A-1C3978ED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0"/>
            <a:ext cx="12001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B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0FB77-30FD-4C17-8314-158E1B02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Tour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9786FA-C139-478A-B701-B344DA77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5905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2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AE1B2F-DAC4-4083-8687-0D96E021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62500"/>
            <a:ext cx="438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Laden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3B44CE-CC77-4EE5-9331-F2BE2A02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667250"/>
            <a:ext cx="12001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22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55B052-AEF9-4D13-842D-A25C2150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Tour 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47911B-42C0-4992-966B-52996B6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2865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9C44D6-8CC9-4D8F-A614-52FFA79B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6250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Puffer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395581-2622-4A88-9B5D-350DB5EE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19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E4AB12-CEEF-43AD-B14A-58C4E00C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3397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08:00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A45305-B912-4E85-BCE4-F24BB96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72050"/>
            <a:ext cx="19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B03398-CD26-45FD-B1E4-91258C4F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3397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10:30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853BDC-A1FC-4C63-B32D-E699AA40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72050"/>
            <a:ext cx="19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66A4B8-DE21-4A56-88C3-23E1C6EC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3397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11:00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7DEA19-4318-447C-9BB3-81507246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19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D30F69-B03F-40EF-A521-AC105251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3397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13:00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BE1B59-7969-4D38-BD6C-077BEA87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72050"/>
            <a:ext cx="19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B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82D65F-4316-4368-9B8D-1F1156B3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133975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14:00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83FCB7-FC14-4AA6-9E66-5B70AA5B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62175"/>
            <a:ext cx="51816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61D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BA2EDF-41DC-4B6B-9CB2-1397CFA5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51816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F3858"/>
          </a:solidFill>
          <a:ln xmlns:a="http://schemas.openxmlformats.org/drawingml/2006/main" w="9525">
            <a:solidFill>
              <a:srgbClr val="2A6688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3fd2982b641db">
            <a:extLst>
              <a:ext uri="{96DAC541-7B7A-43D3-8B79-37D633B846F1}">
                <asvg:svgBlip xmlns:asvg="http://schemas.microsoft.com/office/drawing/2016/SVG/main" r:embed="R3dde07f4402e4a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05550" y="2305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E28E43-E862-4EE1-9E1A-D721C806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30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Analogie: Timetabling Problem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F4915D-E54A-4332-A88C-521735C1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Wie beim Stundenplan werden begrenzte Ressourcen festen Zeitfenstern zugeordnet.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4F33C9-FA16-4633-819B-B9D8997A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4324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A2E4B"/>
          </a:solidFill>
          <a:ln xmlns:a="http://schemas.openxmlformats.org/drawingml/2006/main" w="9525">
            <a:solidFill>
              <a:srgbClr val="2A668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2A5093-A8A5-4C2D-97CE-37A6E31D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90875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9FB5C8"/>
                </a:solidFill>
                <a:latin typeface="Aptos"/>
                <a:ea typeface="Aptos"/>
                <a:cs typeface="Aptos"/>
              </a:rPr>
              <a:t>08:00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738377-47FE-422B-A49E-9F290A89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90875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9FB5C8"/>
                </a:solidFill>
                <a:latin typeface="Aptos"/>
                <a:ea typeface="Aptos"/>
                <a:cs typeface="Aptos"/>
              </a:rPr>
              <a:t>10:00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E70857-E953-4286-A4B7-E0FFDEB6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90875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9FB5C8"/>
                </a:solidFill>
                <a:latin typeface="Aptos"/>
                <a:ea typeface="Aptos"/>
                <a:cs typeface="Aptos"/>
              </a:rPr>
              <a:t>12:00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E3A786-732B-4ACA-8FBC-A5E47206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90875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9FB5C8"/>
                </a:solidFill>
                <a:latin typeface="Aptos"/>
                <a:ea typeface="Aptos"/>
                <a:cs typeface="Aptos"/>
              </a:rPr>
              <a:t>14:00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020DA0-7776-4374-9B20-67FE2C00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723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9FB5C8"/>
                </a:solidFill>
                <a:latin typeface="Aptos"/>
                <a:ea typeface="Aptos"/>
                <a:cs typeface="Aptos"/>
              </a:rPr>
              <a:t>16:00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64DCB7-0857-4750-B724-DB84DFE6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671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7E5F0"/>
                </a:solidFill>
                <a:latin typeface="Aptos"/>
                <a:ea typeface="Aptos"/>
                <a:cs typeface="Aptos"/>
              </a:rPr>
              <a:t>Fzg 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9DEF16-A3DE-47A3-B660-4E9BDA16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23497F-1895-4C01-A287-6EEC9AA9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2905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7E5F0"/>
                </a:solidFill>
                <a:latin typeface="Aptos"/>
                <a:ea typeface="Aptos"/>
                <a:cs typeface="Aptos"/>
              </a:rPr>
              <a:t>Fzg 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3F0074C-C1E5-4276-A14D-52D0E0CC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3E10A8-4EF4-421C-92E3-911F827D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57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D7E5F0"/>
                </a:solidFill>
                <a:latin typeface="Aptos"/>
                <a:ea typeface="Aptos"/>
                <a:cs typeface="Aptos"/>
              </a:rPr>
              <a:t>Hub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B19040-EE51-424A-90E4-CA48E7C8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350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0CCA13-F86E-4B9C-BBBB-546AF3CF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0995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1733B0-D6C4-4A31-A604-77113B59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995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9ADA95-C4D5-4C95-8D67-F2A43A1E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995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400008-87C6-4345-B7C8-E6AB5B47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0995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3CC78B-1412-4177-95CC-D515EE63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0995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E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9B8B213-CF30-4325-9C4F-F994F4C6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76625"/>
            <a:ext cx="12192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B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70C474-2FEC-429C-A6F2-F5EBA3DE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52825"/>
            <a:ext cx="10668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Tour A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529FC4F-F939-486E-B5DC-0E72640A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76625"/>
            <a:ext cx="514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D18E735-BE1C-4691-ABF4-D01843C6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52825"/>
            <a:ext cx="361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Laden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CEA9AF4-1EA0-44E1-9C62-0737E19C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76625"/>
            <a:ext cx="12001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2A6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0EE69F-C356-41F2-A9AC-1D65880F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52825"/>
            <a:ext cx="1047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Tour B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220EEB6-20FF-424F-B80B-CC4D238E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38575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B7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B16D731-C2D2-4114-B3B6-CF1D8AD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14775"/>
            <a:ext cx="1276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Tour C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810AD17-36EF-4FF0-AC42-5F05B166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38575"/>
            <a:ext cx="609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1E92F73-7F62-4EDC-867E-F970FB49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14775"/>
            <a:ext cx="45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Puffer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4724B9E-C577-440F-9BED-9A2437AE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6858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8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DCFE5A-1FCB-4344-9CDD-316CF38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76725"/>
            <a:ext cx="533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4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Slots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93AA3BC-D38A-46DF-99AD-B17BADED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67250"/>
            <a:ext cx="453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Timetabling ist ein NP-schweres Scheduling-/Constraint-Satisfaction-Problem.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13F2566-28E3-48A5-B7B2-591CAC13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205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Übertragen auf Logistik: Tour, Fahrzeug, Startzeit und Nebenbedingungen müssen gleichzeitig passen.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C28753C-589D-433F-8E41-370C4B3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800725"/>
            <a:ext cx="10420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61D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8F337FA-94B2-4BA5-8E2F-C15BFDB1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420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314F"/>
          </a:solidFill>
          <a:ln xmlns:a="http://schemas.openxmlformats.org/drawingml/2006/main" w="9525">
            <a:solidFill>
              <a:srgbClr val="3282A1"/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b53ec26664f14">
            <a:extLst>
              <a:ext uri="{96DAC541-7B7A-43D3-8B79-37D633B846F1}">
                <asvg:svgBlip xmlns:asvg="http://schemas.microsoft.com/office/drawing/2016/SVG/main" r:embed="R80d311ee446a4a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59055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DF0389E-0A5A-4D99-8588-3D66405E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86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C4B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BC4B8"/>
                </a:solidFill>
                <a:latin typeface="Aptos Display"/>
                <a:ea typeface="Aptos Display"/>
                <a:cs typeface="Aptos Display"/>
              </a:rPr>
              <a:t>Mathematischer Kern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49D1433-0593-4E07-83AE-53A0025E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95975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A2E4B"/>
          </a:solidFill>
          <a:ln xmlns:a="http://schemas.openxmlformats.org/drawingml/2006/main" w="9525">
            <a:solidFill>
              <a:srgbClr val="1BC4B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6B81143-ADF3-4C95-A20D-3C674AC6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962650"/>
            <a:ext cx="895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BC4B8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BC4B8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959880b1f417d">
            <a:extLst>
              <a:ext uri="{96DAC541-7B7A-43D3-8B79-37D633B846F1}">
                <asvg:svgBlip xmlns:asvg="http://schemas.microsoft.com/office/drawing/2016/SVG/main" r:embed="R4dcc3c89bd214e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95850" y="59245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A2B35D5-7260-495C-8808-914012A1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895975"/>
            <a:ext cx="1238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A2E4B"/>
          </a:solidFill>
          <a:ln xmlns:a="http://schemas.openxmlformats.org/drawingml/2006/main" w="9525">
            <a:solidFill>
              <a:srgbClr val="E2870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276F2DB-810B-4012-BC6B-FEB342B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962650"/>
            <a:ext cx="1009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E28700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E28700"/>
                </a:solidFill>
                <a:latin typeface="Aptos"/>
                <a:ea typeface="Aptos"/>
                <a:cs typeface="Aptos"/>
              </a:rPr>
              <a:t>Scheduling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10aa6ccac4072">
            <a:extLst>
              <a:ext uri="{96DAC541-7B7A-43D3-8B79-37D633B846F1}">
                <asvg:svgBlip xmlns:asvg="http://schemas.microsoft.com/office/drawing/2016/SVG/main" r:embed="R7b3b631720ae42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96050" y="59245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F4C440D-BE1B-4938-B9D0-C283AD72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95975"/>
            <a:ext cx="1257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A2E4B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120F6E6-BE6F-4564-B1E8-227DFFC4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62650"/>
            <a:ext cx="1028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38cadf8964905">
            <a:extLst>
              <a:ext uri="{96DAC541-7B7A-43D3-8B79-37D633B846F1}">
                <asvg:svgBlip xmlns:asvg="http://schemas.microsoft.com/office/drawing/2016/SVG/main" r:embed="Rbc75e9fef8d24b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10550" y="58959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0B5FE1-9422-4F8B-BBA8-34D80EEA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895975"/>
            <a:ext cx="1276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56A8D49-B33E-4DCB-9B55-E1027EA9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9626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NP-schwer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EC6C4B9-144B-4C70-A635-4AA5630D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91250"/>
            <a:ext cx="935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D7E5F0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D7E5F0"/>
                </a:solidFill>
                <a:latin typeface="Aptos"/>
                <a:ea typeface="Aptos"/>
                <a:cs typeface="Aptos"/>
              </a:rPr>
              <a:t>Mehrere Routen pro Tag koppeln Reihenfolge, Startzeiten, Rückkehr, Ladepausen, Kapazität, Schichtfenster sowie Kosten/Zeit/CO₂.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BB72D61-685F-4990-8DF2-31B33CA0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5320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89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5016478-B98B-40D8-B0C5-B38BB44A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865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D3EDDE-4899-4FB2-95C0-9FF92316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8655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" b="0">
                <a:solidFill>
                  <a:srgbClr val="9FB5C8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9FB5C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92036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2026-06-11T10:19:59.7970000Z</dcterms:created>
  <dcterms:modified xsi:type="dcterms:W3CDTF">2026-06-11T10:19:59.7970000Z</dcterms:modified>
</coreProperties>
</file>