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4028139f6049f1" /><Relationship Type="http://schemas.openxmlformats.org/officeDocument/2006/relationships/extended-properties" Target="/docProps/app.xml" Id="R5d2e9a390ea34c98" /><Relationship Type="http://schemas.openxmlformats.org/officeDocument/2006/relationships/officeDocument" Target="/ppt/presentation.xml" Id="R2e8f044e6ed54a55" /></Relationships>
</file>

<file path=ppt/presentation.xml><?xml version="1.0" encoding="utf-8"?>
<p:presentation xmlns:p="http://schemas.openxmlformats.org/presentationml/2006/main">
  <p:sldMasterIdLst>
    <p:sldMasterId xmlns:r="http://schemas.openxmlformats.org/officeDocument/2006/relationships" id="2147483648" r:id="R71b29a7cacc743d3"/>
  </p:sldMasterIdLst>
  <p:notesMasterIdLst>
    <p:notesMasterId xmlns:r="http://schemas.openxmlformats.org/officeDocument/2006/relationships" r:id="R3f7306671ca84c96"/>
  </p:notesMasterIdLst>
  <p:sldIdLst>
    <p:sldId xmlns:r="http://schemas.openxmlformats.org/officeDocument/2006/relationships" id="256" r:id="Rf666610f55b049f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913082680fd4b6e" /><Relationship Type="http://schemas.openxmlformats.org/officeDocument/2006/relationships/slideMaster" Target="/ppt/slideMasters/slideMaster1.xml" Id="R71b29a7cacc743d3" /><Relationship Type="http://schemas.openxmlformats.org/officeDocument/2006/relationships/notesMaster" Target="/ppt/notesMasters/notesMaster1.xml" Id="R3f7306671ca84c96" /><Relationship Type="http://schemas.openxmlformats.org/officeDocument/2006/relationships/presProps" Target="/ppt/presProps.xml" Id="Rd998c405f0ac479a" /><Relationship Type="http://schemas.openxmlformats.org/officeDocument/2006/relationships/viewProps" Target="/ppt/viewProps.xml" Id="Rb508e37bcbf4494a" /><Relationship Type="http://schemas.openxmlformats.org/officeDocument/2006/relationships/tableStyles" Target="/ppt/tableStyles.xml" Id="Rc45564097c794205" /><Relationship Type="http://schemas.openxmlformats.org/officeDocument/2006/relationships/slide" Target="/ppt/slides/slide1.xml" Id="Rf666610f55b049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fc847eb2cd40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1c5077257348fc" /><Relationship Type="http://schemas.openxmlformats.org/officeDocument/2006/relationships/notesMaster" Target="/ppt/notesMasters/notesMaster1.xml" Id="R2089f8225b0248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erklärt Step 4, die Routenoptimierung. Für jeden Hub wird ein Vehicle Routing Problem gelöst. OSRM liefert Distanz und Fahrzeit zwischen Depot und Stopps. Für jeden möglichen nächsten Stopp werden die Grenzgrößen berechnet: zusätzliche Kilometer, zusätzliche Fahrzeit und daraus Kosten sowie CO2. Nur zulässige Stopps werden betrachtet: Kapazität, Reichweite, Schichtdauer und Öffnungszeiten. Der Stopp mit dem kleinsten gewichteten, normierten Score wird angefahren. Die gleichen Gewichte steuern auch, welcher Fahrzeugtyp zuerst eingesetzt wird: Kostenfokus günstig, Zeitfokus schnell, Umweltfokus emissionsarm.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6048861b934a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a0b9e7410849b0" /><Relationship Type="http://schemas.openxmlformats.org/officeDocument/2006/relationships/slideLayout" Target="/ppt/slideLayouts/slideLayout1.xml" Id="R51548d14a4f842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548d14a4f842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de981ab8f04bfb" /><Relationship Type="http://schemas.openxmlformats.org/officeDocument/2006/relationships/image" Target="/ppt/media/image.png" Id="Redb8fb24a3044084" /><Relationship Type="http://schemas.openxmlformats.org/officeDocument/2006/relationships/image" Target="/ppt/media/image.svg" Id="R48e5c19543e34657" /><Relationship Type="http://schemas.openxmlformats.org/officeDocument/2006/relationships/image" Target="/ppt/media/image2.png" Id="Re4eb2bf4f9a1461a" /><Relationship Type="http://schemas.openxmlformats.org/officeDocument/2006/relationships/image" Target="/ppt/media/image2.svg" Id="R4028a1602eb446bb" /><Relationship Type="http://schemas.openxmlformats.org/officeDocument/2006/relationships/image" Target="/ppt/media/image3.png" Id="Ra7e4e44a2a854c05" /><Relationship Type="http://schemas.openxmlformats.org/officeDocument/2006/relationships/image" Target="/ppt/media/image3.svg" Id="R9e67a93cd77e4f74" /><Relationship Type="http://schemas.openxmlformats.org/officeDocument/2006/relationships/notesSlide" Target="/ppt/notesSlides/notesSlide1.xml" Id="Rde4e592e9bf1410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90B506-F5AF-439A-818B-DB94EAFB4C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456921B-5F78-4561-A891-5B376229D6C8}"/>
              </a:ext>
            </a:extLst>
          </p:cNvPr>
          <p:cNvSpPr>
            <a:spLocks xmlns:a="http://schemas.openxmlformats.org/drawingml/2006/main" noGrp="1"/>
          </p:cNvSpPr>
          <p:nvPr/>
        </p:nvSpPr>
        <p:spPr>
          <a:xfrm xmlns:a="http://schemas.openxmlformats.org/drawingml/2006/main">
            <a:off x="647700" y="723900"/>
            <a:ext cx="152400" cy="1524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5E9DBD0-9C90-43AB-9DA4-FA2FE184DDBE}"/>
              </a:ext>
            </a:extLst>
          </p:cNvPr>
          <p:cNvSpPr>
            <a:spLocks xmlns:a="http://schemas.openxmlformats.org/drawingml/2006/main" noGrp="1"/>
          </p:cNvSpPr>
          <p:nvPr/>
        </p:nvSpPr>
        <p:spPr>
          <a:xfrm xmlns:a="http://schemas.openxmlformats.org/drawingml/2006/main">
            <a:off x="895350" y="695325"/>
            <a:ext cx="2762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7706"/>
                </a:solidFill>
                <a:latin typeface="Aptos"/>
                <a:ea typeface="Aptos"/>
                <a:cs typeface="Aptos"/>
              </a:defRPr>
            </a:pPr>
            <a:r>
              <a:rPr sz="975" b="1">
                <a:solidFill>
                  <a:srgbClr val="D97706"/>
                </a:solidFill>
                <a:latin typeface="Aptos"/>
                <a:ea typeface="Aptos"/>
                <a:cs typeface="Aptos"/>
              </a:rPr>
              <a:t>ROUTENOPTIMIERUNG</a:t>
            </a:r>
          </a:p>
        </p:txBody>
      </p:sp>
      <p:sp>
        <p:nvSpPr>
          <p:cNvPr id="4" name="">
            <a:extLst xmlns:a="http://schemas.openxmlformats.org/drawingml/2006/main">
              <a:ext uri="{FF2B5EF4-FFF2-40B4-BE49-F238E27FC236}">
                <a16:creationId xmlns:a16="http://schemas.microsoft.com/office/drawing/2014/main" id="{ABDDA78B-00F0-4E39-8E5C-325BC54A1582}"/>
              </a:ext>
            </a:extLst>
          </p:cNvPr>
          <p:cNvSpPr>
            <a:spLocks xmlns:a="http://schemas.openxmlformats.org/drawingml/2006/main" noGrp="1"/>
          </p:cNvSpPr>
          <p:nvPr/>
        </p:nvSpPr>
        <p:spPr>
          <a:xfrm xmlns:a="http://schemas.openxmlformats.org/drawingml/2006/main">
            <a:off x="647700" y="1104900"/>
            <a:ext cx="9144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E293B"/>
                </a:solidFill>
                <a:latin typeface="Aptos Display"/>
                <a:ea typeface="Aptos Display"/>
                <a:cs typeface="Aptos Display"/>
              </a:defRPr>
            </a:pPr>
            <a:r>
              <a:rPr sz="2550" b="1">
                <a:solidFill>
                  <a:srgbClr val="1E293B"/>
                </a:solidFill>
                <a:latin typeface="Aptos Display"/>
                <a:ea typeface="Aptos Display"/>
                <a:cs typeface="Aptos Display"/>
              </a:rPr>
              <a:t>Fahrzeugtouren mit verallgemeinerten Kosten bauen</a:t>
            </a:r>
          </a:p>
        </p:txBody>
      </p:sp>
      <p:sp>
        <p:nvSpPr>
          <p:cNvPr id="5" name="">
            <a:extLst xmlns:a="http://schemas.openxmlformats.org/drawingml/2006/main">
              <a:ext uri="{FF2B5EF4-FFF2-40B4-BE49-F238E27FC236}">
                <a16:creationId xmlns:a16="http://schemas.microsoft.com/office/drawing/2014/main" id="{04EBDE64-5A2E-4F77-9F47-45EC85CCF16F}"/>
              </a:ext>
            </a:extLst>
          </p:cNvPr>
          <p:cNvSpPr>
            <a:spLocks xmlns:a="http://schemas.openxmlformats.org/drawingml/2006/main" noGrp="1"/>
          </p:cNvSpPr>
          <p:nvPr/>
        </p:nvSpPr>
        <p:spPr>
          <a:xfrm xmlns:a="http://schemas.openxmlformats.org/drawingml/2006/main">
            <a:off x="647700" y="1695450"/>
            <a:ext cx="8858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334155"/>
                </a:solidFill>
                <a:latin typeface="Aptos"/>
                <a:ea typeface="Aptos"/>
                <a:cs typeface="Aptos"/>
              </a:defRPr>
            </a:pPr>
            <a:r>
              <a:rPr sz="1350" b="0">
                <a:solidFill>
                  <a:srgbClr val="334155"/>
                </a:solidFill>
                <a:latin typeface="Aptos"/>
                <a:ea typeface="Aptos"/>
                <a:cs typeface="Aptos"/>
              </a:rPr>
              <a:t>Pro Hub entsteht eine Mehrstopp-Tour. Der Greedy-VRP wählt immer den nächsten zulässigen Stopp mit den geringsten normierten Grenzkosten aus Kosten, Zeit und CO₂.</a:t>
            </a:r>
          </a:p>
        </p:txBody>
      </p:sp>
      <p:sp>
        <p:nvSpPr>
          <p:cNvPr id="6" name="">
            <a:extLst xmlns:a="http://schemas.openxmlformats.org/drawingml/2006/main">
              <a:ext uri="{FF2B5EF4-FFF2-40B4-BE49-F238E27FC236}">
                <a16:creationId xmlns:a16="http://schemas.microsoft.com/office/drawing/2014/main" id="{E8C8FEFF-44AB-4CB9-9978-55D349436ECF}"/>
              </a:ext>
            </a:extLst>
          </p:cNvPr>
          <p:cNvSpPr>
            <a:spLocks xmlns:a="http://schemas.openxmlformats.org/drawingml/2006/main" noGrp="1"/>
          </p:cNvSpPr>
          <p:nvPr/>
        </p:nvSpPr>
        <p:spPr>
          <a:xfrm xmlns:a="http://schemas.openxmlformats.org/drawingml/2006/main">
            <a:off x="685800" y="2457450"/>
            <a:ext cx="3276600" cy="895350"/>
          </a:xfrm>
          <a:prstGeom xmlns:a="http://schemas.openxmlformats.org/drawingml/2006/main" prst="roundRect">
            <a:avLst>
              <a:gd name="adj" fmla="val 8511"/>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2961A64-0EB5-452F-A5D7-7B57734F261E}"/>
              </a:ext>
            </a:extLst>
          </p:cNvPr>
          <p:cNvSpPr>
            <a:spLocks xmlns:a="http://schemas.openxmlformats.org/drawingml/2006/main" noGrp="1"/>
          </p:cNvSpPr>
          <p:nvPr/>
        </p:nvSpPr>
        <p:spPr>
          <a:xfrm xmlns:a="http://schemas.openxmlformats.org/drawingml/2006/main">
            <a:off x="647700" y="2400300"/>
            <a:ext cx="3276600" cy="895350"/>
          </a:xfrm>
          <a:prstGeom xmlns:a="http://schemas.openxmlformats.org/drawingml/2006/main" prst="roundRect">
            <a:avLst>
              <a:gd name="adj" fmla="val 8511"/>
            </a:avLst>
          </a:prstGeom>
          <a:solidFill xmlns:a="http://schemas.openxmlformats.org/drawingml/2006/main">
            <a:srgbClr val="EAF3FA"/>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B1C1B681-85B8-48FA-9DC7-9A13DB660963}"/>
              </a:ext>
            </a:extLst>
          </p:cNvPr>
          <p:cNvSpPr>
            <a:spLocks xmlns:a="http://schemas.openxmlformats.org/drawingml/2006/main" noGrp="1"/>
          </p:cNvSpPr>
          <p:nvPr/>
        </p:nvSpPr>
        <p:spPr>
          <a:xfrm xmlns:a="http://schemas.openxmlformats.org/drawingml/2006/main">
            <a:off x="647700" y="2400300"/>
            <a:ext cx="66675" cy="895350"/>
          </a:xfrm>
          <a:prstGeom xmlns:a="http://schemas.openxmlformats.org/drawingml/2006/main" prst="rect">
            <a:avLst/>
          </a:prstGeom>
          <a:solidFill xmlns:a="http://schemas.openxmlformats.org/drawingml/2006/main">
            <a:srgbClr val="0F4C8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0268AF7-16DF-41F6-B2AA-E38CA320ACF7}"/>
              </a:ext>
            </a:extLst>
          </p:cNvPr>
          <p:cNvSpPr>
            <a:spLocks xmlns:a="http://schemas.openxmlformats.org/drawingml/2006/main" noGrp="1"/>
          </p:cNvSpPr>
          <p:nvPr/>
        </p:nvSpPr>
        <p:spPr>
          <a:xfrm xmlns:a="http://schemas.openxmlformats.org/drawingml/2006/main">
            <a:off x="876300" y="2609850"/>
            <a:ext cx="381000" cy="381000"/>
          </a:xfrm>
          <a:prstGeom xmlns:a="http://schemas.openxmlformats.org/drawingml/2006/main" prst="ellipse">
            <a:avLst/>
          </a:prstGeom>
          <a:solidFill xmlns:a="http://schemas.openxmlformats.org/drawingml/2006/main">
            <a:srgbClr val="0F4C81"/>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E562240-C7AA-4719-ADE9-E3F21564CE40}"/>
              </a:ext>
            </a:extLst>
          </p:cNvPr>
          <p:cNvSpPr>
            <a:spLocks xmlns:a="http://schemas.openxmlformats.org/drawingml/2006/main" noGrp="1"/>
          </p:cNvSpPr>
          <p:nvPr/>
        </p:nvSpPr>
        <p:spPr>
          <a:xfrm xmlns:a="http://schemas.openxmlformats.org/drawingml/2006/main">
            <a:off x="876300" y="2638425"/>
            <a:ext cx="381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db8fb24a3044084">
            <a:extLst>
              <a:ext uri="{96DAC541-7B7A-43D3-8B79-37D633B846F1}">
                <asvg:svgBlip xmlns:asvg="http://schemas.microsoft.com/office/drawing/2016/SVG/main" r:embed="R48e5c19543e34657"/>
              </a:ext>
            </a:extLst>
          </a:blip>
          <a:stretch xmlns:a="http://schemas.openxmlformats.org/drawingml/2006/main"/>
        </p:blipFill>
        <p:spPr>
          <a:xfrm xmlns:a="http://schemas.openxmlformats.org/drawingml/2006/main">
            <a:off x="3429000" y="2619375"/>
            <a:ext cx="266700" cy="2667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910993B-CA2B-4DC3-8C24-171405F98723}"/>
              </a:ext>
            </a:extLst>
          </p:cNvPr>
          <p:cNvSpPr>
            <a:spLocks xmlns:a="http://schemas.openxmlformats.org/drawingml/2006/main" noGrp="1"/>
          </p:cNvSpPr>
          <p:nvPr/>
        </p:nvSpPr>
        <p:spPr>
          <a:xfrm xmlns:a="http://schemas.openxmlformats.org/drawingml/2006/main">
            <a:off x="1428750" y="2600325"/>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88" b="1">
                <a:solidFill>
                  <a:srgbClr val="1E293B"/>
                </a:solidFill>
                <a:latin typeface="Aptos Display"/>
                <a:ea typeface="Aptos Display"/>
                <a:cs typeface="Aptos Display"/>
              </a:defRPr>
            </a:pPr>
            <a:r>
              <a:rPr sz="1388" b="1">
                <a:solidFill>
                  <a:srgbClr val="1E293B"/>
                </a:solidFill>
                <a:latin typeface="Aptos Display"/>
                <a:ea typeface="Aptos Display"/>
                <a:cs typeface="Aptos Display"/>
              </a:rPr>
              <a:t>OSRM pro Depot</a:t>
            </a:r>
          </a:p>
        </p:txBody>
      </p:sp>
      <p:sp>
        <p:nvSpPr>
          <p:cNvPr id="13" name="">
            <a:extLst xmlns:a="http://schemas.openxmlformats.org/drawingml/2006/main">
              <a:ext uri="{FF2B5EF4-FFF2-40B4-BE49-F238E27FC236}">
                <a16:creationId xmlns:a16="http://schemas.microsoft.com/office/drawing/2014/main" id="{DDD503DF-4CC0-4800-B276-49FD212138C0}"/>
              </a:ext>
            </a:extLst>
          </p:cNvPr>
          <p:cNvSpPr>
            <a:spLocks xmlns:a="http://schemas.openxmlformats.org/drawingml/2006/main" noGrp="1"/>
          </p:cNvSpPr>
          <p:nvPr/>
        </p:nvSpPr>
        <p:spPr>
          <a:xfrm xmlns:a="http://schemas.openxmlformats.org/drawingml/2006/main">
            <a:off x="1428750" y="2914650"/>
            <a:ext cx="2266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8" b="0">
                <a:solidFill>
                  <a:srgbClr val="64748B"/>
                </a:solidFill>
                <a:latin typeface="Aptos"/>
                <a:ea typeface="Aptos"/>
                <a:cs typeface="Aptos"/>
              </a:defRPr>
            </a:pPr>
            <a:r>
              <a:rPr sz="968" b="0">
                <a:solidFill>
                  <a:srgbClr val="64748B"/>
                </a:solidFill>
                <a:latin typeface="Aptos"/>
                <a:ea typeface="Aptos"/>
                <a:cs typeface="Aptos"/>
              </a:rPr>
              <a:t>Distanz und Fahrzeit für Hub + alle zugewiesenen Apotheken.</a:t>
            </a:r>
          </a:p>
        </p:txBody>
      </p:sp>
      <p:sp>
        <p:nvSpPr>
          <p:cNvPr id="14" name="">
            <a:extLst xmlns:a="http://schemas.openxmlformats.org/drawingml/2006/main">
              <a:ext uri="{FF2B5EF4-FFF2-40B4-BE49-F238E27FC236}">
                <a16:creationId xmlns:a16="http://schemas.microsoft.com/office/drawing/2014/main" id="{713E2167-3CD9-470C-AA79-5B1980A897A2}"/>
              </a:ext>
            </a:extLst>
          </p:cNvPr>
          <p:cNvSpPr>
            <a:spLocks xmlns:a="http://schemas.openxmlformats.org/drawingml/2006/main" noGrp="1"/>
          </p:cNvSpPr>
          <p:nvPr/>
        </p:nvSpPr>
        <p:spPr>
          <a:xfrm xmlns:a="http://schemas.openxmlformats.org/drawingml/2006/main">
            <a:off x="685800" y="3543300"/>
            <a:ext cx="3276600" cy="895350"/>
          </a:xfrm>
          <a:prstGeom xmlns:a="http://schemas.openxmlformats.org/drawingml/2006/main" prst="roundRect">
            <a:avLst>
              <a:gd name="adj" fmla="val 8511"/>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63C13B8-21E0-4A22-84EB-3C7CBE080E8B}"/>
              </a:ext>
            </a:extLst>
          </p:cNvPr>
          <p:cNvSpPr>
            <a:spLocks xmlns:a="http://schemas.openxmlformats.org/drawingml/2006/main" noGrp="1"/>
          </p:cNvSpPr>
          <p:nvPr/>
        </p:nvSpPr>
        <p:spPr>
          <a:xfrm xmlns:a="http://schemas.openxmlformats.org/drawingml/2006/main">
            <a:off x="647700" y="3486150"/>
            <a:ext cx="3276600" cy="895350"/>
          </a:xfrm>
          <a:prstGeom xmlns:a="http://schemas.openxmlformats.org/drawingml/2006/main" prst="roundRect">
            <a:avLst>
              <a:gd name="adj" fmla="val 8511"/>
            </a:avLst>
          </a:prstGeom>
          <a:solidFill xmlns:a="http://schemas.openxmlformats.org/drawingml/2006/main">
            <a:srgbClr val="ECFBF8"/>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E7F84FE3-3447-4C72-9E01-DDF305A9F98D}"/>
              </a:ext>
            </a:extLst>
          </p:cNvPr>
          <p:cNvSpPr>
            <a:spLocks xmlns:a="http://schemas.openxmlformats.org/drawingml/2006/main" noGrp="1"/>
          </p:cNvSpPr>
          <p:nvPr/>
        </p:nvSpPr>
        <p:spPr>
          <a:xfrm xmlns:a="http://schemas.openxmlformats.org/drawingml/2006/main">
            <a:off x="647700" y="3486150"/>
            <a:ext cx="66675" cy="895350"/>
          </a:xfrm>
          <a:prstGeom xmlns:a="http://schemas.openxmlformats.org/drawingml/2006/main" prst="rect">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38D0ABC8-BC6F-4CFC-9F7B-F16C151217F8}"/>
              </a:ext>
            </a:extLst>
          </p:cNvPr>
          <p:cNvSpPr>
            <a:spLocks xmlns:a="http://schemas.openxmlformats.org/drawingml/2006/main" noGrp="1"/>
          </p:cNvSpPr>
          <p:nvPr/>
        </p:nvSpPr>
        <p:spPr>
          <a:xfrm xmlns:a="http://schemas.openxmlformats.org/drawingml/2006/main">
            <a:off x="876300" y="3695700"/>
            <a:ext cx="381000" cy="381000"/>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86936395-96D9-42EE-83D4-19FFF0D41E1D}"/>
              </a:ext>
            </a:extLst>
          </p:cNvPr>
          <p:cNvSpPr>
            <a:spLocks xmlns:a="http://schemas.openxmlformats.org/drawingml/2006/main" noGrp="1"/>
          </p:cNvSpPr>
          <p:nvPr/>
        </p:nvSpPr>
        <p:spPr>
          <a:xfrm xmlns:a="http://schemas.openxmlformats.org/drawingml/2006/main">
            <a:off x="876300" y="3724275"/>
            <a:ext cx="381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4eb2bf4f9a1461a">
            <a:extLst>
              <a:ext uri="{96DAC541-7B7A-43D3-8B79-37D633B846F1}">
                <asvg:svgBlip xmlns:asvg="http://schemas.microsoft.com/office/drawing/2016/SVG/main" r:embed="R4028a1602eb446bb"/>
              </a:ext>
            </a:extLst>
          </a:blip>
          <a:stretch xmlns:a="http://schemas.openxmlformats.org/drawingml/2006/main"/>
        </p:blipFill>
        <p:spPr>
          <a:xfrm xmlns:a="http://schemas.openxmlformats.org/drawingml/2006/main">
            <a:off x="3429000" y="3705225"/>
            <a:ext cx="266700" cy="2667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F16DF1E9-8CEC-42BF-9311-13719912F579}"/>
              </a:ext>
            </a:extLst>
          </p:cNvPr>
          <p:cNvSpPr>
            <a:spLocks xmlns:a="http://schemas.openxmlformats.org/drawingml/2006/main" noGrp="1"/>
          </p:cNvSpPr>
          <p:nvPr/>
        </p:nvSpPr>
        <p:spPr>
          <a:xfrm xmlns:a="http://schemas.openxmlformats.org/drawingml/2006/main">
            <a:off x="1428750" y="3686175"/>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88" b="1">
                <a:solidFill>
                  <a:srgbClr val="1E293B"/>
                </a:solidFill>
                <a:latin typeface="Aptos Display"/>
                <a:ea typeface="Aptos Display"/>
                <a:cs typeface="Aptos Display"/>
              </a:defRPr>
            </a:pPr>
            <a:r>
              <a:rPr sz="1388" b="1">
                <a:solidFill>
                  <a:srgbClr val="1E293B"/>
                </a:solidFill>
                <a:latin typeface="Aptos Display"/>
                <a:ea typeface="Aptos Display"/>
                <a:cs typeface="Aptos Display"/>
              </a:rPr>
              <a:t>Kandidaten filtern</a:t>
            </a:r>
          </a:p>
        </p:txBody>
      </p:sp>
      <p:sp>
        <p:nvSpPr>
          <p:cNvPr id="21" name="">
            <a:extLst xmlns:a="http://schemas.openxmlformats.org/drawingml/2006/main">
              <a:ext uri="{FF2B5EF4-FFF2-40B4-BE49-F238E27FC236}">
                <a16:creationId xmlns:a16="http://schemas.microsoft.com/office/drawing/2014/main" id="{BC3F4DB1-715E-49B1-9A55-D5F43B514431}"/>
              </a:ext>
            </a:extLst>
          </p:cNvPr>
          <p:cNvSpPr>
            <a:spLocks xmlns:a="http://schemas.openxmlformats.org/drawingml/2006/main" noGrp="1"/>
          </p:cNvSpPr>
          <p:nvPr/>
        </p:nvSpPr>
        <p:spPr>
          <a:xfrm xmlns:a="http://schemas.openxmlformats.org/drawingml/2006/main">
            <a:off x="1428750" y="4000500"/>
            <a:ext cx="2266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8" b="0">
                <a:solidFill>
                  <a:srgbClr val="64748B"/>
                </a:solidFill>
                <a:latin typeface="Aptos"/>
                <a:ea typeface="Aptos"/>
                <a:cs typeface="Aptos"/>
              </a:defRPr>
            </a:pPr>
            <a:r>
              <a:rPr sz="968" b="0">
                <a:solidFill>
                  <a:srgbClr val="64748B"/>
                </a:solidFill>
                <a:latin typeface="Aptos"/>
                <a:ea typeface="Aptos"/>
                <a:cs typeface="Aptos"/>
              </a:rPr>
              <a:t>Nur Stopps, die Kapazität, Reichweite, Schicht und Öffnung erfüllen.</a:t>
            </a:r>
          </a:p>
        </p:txBody>
      </p:sp>
      <p:sp>
        <p:nvSpPr>
          <p:cNvPr id="22" name="">
            <a:extLst xmlns:a="http://schemas.openxmlformats.org/drawingml/2006/main">
              <a:ext uri="{FF2B5EF4-FFF2-40B4-BE49-F238E27FC236}">
                <a16:creationId xmlns:a16="http://schemas.microsoft.com/office/drawing/2014/main" id="{F0525A39-29F4-4BC2-90C4-29B8298B7256}"/>
              </a:ext>
            </a:extLst>
          </p:cNvPr>
          <p:cNvSpPr>
            <a:spLocks xmlns:a="http://schemas.openxmlformats.org/drawingml/2006/main" noGrp="1"/>
          </p:cNvSpPr>
          <p:nvPr/>
        </p:nvSpPr>
        <p:spPr>
          <a:xfrm xmlns:a="http://schemas.openxmlformats.org/drawingml/2006/main">
            <a:off x="685800" y="4629150"/>
            <a:ext cx="3276600" cy="1219200"/>
          </a:xfrm>
          <a:prstGeom xmlns:a="http://schemas.openxmlformats.org/drawingml/2006/main" prst="roundRect">
            <a:avLst>
              <a:gd name="adj" fmla="val 6250"/>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C36D0D2-C086-4B08-9C68-1478350DA9FC}"/>
              </a:ext>
            </a:extLst>
          </p:cNvPr>
          <p:cNvSpPr>
            <a:spLocks xmlns:a="http://schemas.openxmlformats.org/drawingml/2006/main" noGrp="1"/>
          </p:cNvSpPr>
          <p:nvPr/>
        </p:nvSpPr>
        <p:spPr>
          <a:xfrm xmlns:a="http://schemas.openxmlformats.org/drawingml/2006/main">
            <a:off x="647700" y="4572000"/>
            <a:ext cx="3276600" cy="1219200"/>
          </a:xfrm>
          <a:prstGeom xmlns:a="http://schemas.openxmlformats.org/drawingml/2006/main" prst="roundRect">
            <a:avLst>
              <a:gd name="adj" fmla="val 6250"/>
            </a:avLst>
          </a:prstGeom>
          <a:solidFill xmlns:a="http://schemas.openxmlformats.org/drawingml/2006/main">
            <a:srgbClr val="FFF7E8"/>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01416702-524B-4409-B664-C795CC935D75}"/>
              </a:ext>
            </a:extLst>
          </p:cNvPr>
          <p:cNvSpPr>
            <a:spLocks xmlns:a="http://schemas.openxmlformats.org/drawingml/2006/main" noGrp="1"/>
          </p:cNvSpPr>
          <p:nvPr/>
        </p:nvSpPr>
        <p:spPr>
          <a:xfrm xmlns:a="http://schemas.openxmlformats.org/drawingml/2006/main">
            <a:off x="647700" y="4572000"/>
            <a:ext cx="66675" cy="12192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8D82B62-705D-4861-9583-880D718F1FC2}"/>
              </a:ext>
            </a:extLst>
          </p:cNvPr>
          <p:cNvSpPr>
            <a:spLocks xmlns:a="http://schemas.openxmlformats.org/drawingml/2006/main" noGrp="1"/>
          </p:cNvSpPr>
          <p:nvPr/>
        </p:nvSpPr>
        <p:spPr>
          <a:xfrm xmlns:a="http://schemas.openxmlformats.org/drawingml/2006/main">
            <a:off x="876300" y="4781550"/>
            <a:ext cx="381000" cy="381000"/>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79D09F7-3D70-42E2-9D43-D67F8CC873FE}"/>
              </a:ext>
            </a:extLst>
          </p:cNvPr>
          <p:cNvSpPr>
            <a:spLocks xmlns:a="http://schemas.openxmlformats.org/drawingml/2006/main" noGrp="1"/>
          </p:cNvSpPr>
          <p:nvPr/>
        </p:nvSpPr>
        <p:spPr>
          <a:xfrm xmlns:a="http://schemas.openxmlformats.org/drawingml/2006/main">
            <a:off x="876300" y="4810125"/>
            <a:ext cx="381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7e4e44a2a854c05">
            <a:extLst>
              <a:ext uri="{96DAC541-7B7A-43D3-8B79-37D633B846F1}">
                <asvg:svgBlip xmlns:asvg="http://schemas.microsoft.com/office/drawing/2016/SVG/main" r:embed="R9e67a93cd77e4f74"/>
              </a:ext>
            </a:extLst>
          </a:blip>
          <a:stretch xmlns:a="http://schemas.openxmlformats.org/drawingml/2006/main"/>
        </p:blipFill>
        <p:spPr>
          <a:xfrm xmlns:a="http://schemas.openxmlformats.org/drawingml/2006/main">
            <a:off x="3429000" y="4791075"/>
            <a:ext cx="266700" cy="2667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95446433-8112-4ECE-A69B-B4F075A465BF}"/>
              </a:ext>
            </a:extLst>
          </p:cNvPr>
          <p:cNvSpPr>
            <a:spLocks xmlns:a="http://schemas.openxmlformats.org/drawingml/2006/main" noGrp="1"/>
          </p:cNvSpPr>
          <p:nvPr/>
        </p:nvSpPr>
        <p:spPr>
          <a:xfrm xmlns:a="http://schemas.openxmlformats.org/drawingml/2006/main">
            <a:off x="1428750" y="4772025"/>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88" b="1">
                <a:solidFill>
                  <a:srgbClr val="1E293B"/>
                </a:solidFill>
                <a:latin typeface="Aptos Display"/>
                <a:ea typeface="Aptos Display"/>
                <a:cs typeface="Aptos Display"/>
              </a:defRPr>
            </a:pPr>
            <a:r>
              <a:rPr sz="1388" b="1">
                <a:solidFill>
                  <a:srgbClr val="1E293B"/>
                </a:solidFill>
                <a:latin typeface="Aptos Display"/>
                <a:ea typeface="Aptos Display"/>
                <a:cs typeface="Aptos Display"/>
              </a:rPr>
              <a:t>Stopp wählen</a:t>
            </a:r>
          </a:p>
        </p:txBody>
      </p:sp>
      <p:sp>
        <p:nvSpPr>
          <p:cNvPr id="29" name="">
            <a:extLst xmlns:a="http://schemas.openxmlformats.org/drawingml/2006/main">
              <a:ext uri="{FF2B5EF4-FFF2-40B4-BE49-F238E27FC236}">
                <a16:creationId xmlns:a16="http://schemas.microsoft.com/office/drawing/2014/main" id="{8BFE8FDF-EA2F-49BC-950C-F8AFFA213897}"/>
              </a:ext>
            </a:extLst>
          </p:cNvPr>
          <p:cNvSpPr>
            <a:spLocks xmlns:a="http://schemas.openxmlformats.org/drawingml/2006/main" noGrp="1"/>
          </p:cNvSpPr>
          <p:nvPr/>
        </p:nvSpPr>
        <p:spPr>
          <a:xfrm xmlns:a="http://schemas.openxmlformats.org/drawingml/2006/main">
            <a:off x="1428750" y="5086350"/>
            <a:ext cx="22669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8" b="0">
                <a:solidFill>
                  <a:srgbClr val="64748B"/>
                </a:solidFill>
                <a:latin typeface="Aptos"/>
                <a:ea typeface="Aptos"/>
                <a:cs typeface="Aptos"/>
              </a:defRPr>
            </a:pPr>
            <a:r>
              <a:rPr sz="968" b="0">
                <a:solidFill>
                  <a:srgbClr val="64748B"/>
                </a:solidFill>
                <a:latin typeface="Aptos"/>
                <a:ea typeface="Aptos"/>
                <a:cs typeface="Aptos"/>
              </a:rPr>
              <a:t>Kleinster gewichteter Score gewinnt; danach sinkt Restkapazität und der nächste Stopp wird gesucht.</a:t>
            </a:r>
          </a:p>
        </p:txBody>
      </p:sp>
      <p:sp>
        <p:nvSpPr>
          <p:cNvPr id="30" name="">
            <a:extLst xmlns:a="http://schemas.openxmlformats.org/drawingml/2006/main">
              <a:ext uri="{FF2B5EF4-FFF2-40B4-BE49-F238E27FC236}">
                <a16:creationId xmlns:a16="http://schemas.microsoft.com/office/drawing/2014/main" id="{1E3E68DB-FA0D-4F79-B1AD-D54BF3E9A14F}"/>
              </a:ext>
            </a:extLst>
          </p:cNvPr>
          <p:cNvSpPr>
            <a:spLocks xmlns:a="http://schemas.openxmlformats.org/drawingml/2006/main" noGrp="1"/>
          </p:cNvSpPr>
          <p:nvPr/>
        </p:nvSpPr>
        <p:spPr>
          <a:xfrm xmlns:a="http://schemas.openxmlformats.org/drawingml/2006/main">
            <a:off x="4324350" y="2400300"/>
            <a:ext cx="3600450" cy="1104900"/>
          </a:xfrm>
          <a:prstGeom xmlns:a="http://schemas.openxmlformats.org/drawingml/2006/main" prst="roundRect">
            <a:avLst>
              <a:gd name="adj" fmla="val 6897"/>
            </a:avLst>
          </a:prstGeom>
          <a:solidFill xmlns:a="http://schemas.openxmlformats.org/drawingml/2006/main">
            <a:srgbClr val="101826"/>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786D0B35-F5DF-4F4F-AC0A-6E8022ECF481}"/>
              </a:ext>
            </a:extLst>
          </p:cNvPr>
          <p:cNvSpPr>
            <a:spLocks xmlns:a="http://schemas.openxmlformats.org/drawingml/2006/main" noGrp="1"/>
          </p:cNvSpPr>
          <p:nvPr/>
        </p:nvSpPr>
        <p:spPr>
          <a:xfrm xmlns:a="http://schemas.openxmlformats.org/drawingml/2006/main">
            <a:off x="4476750" y="2514600"/>
            <a:ext cx="32956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8" b="1">
                <a:solidFill>
                  <a:srgbClr val="D7E2F1"/>
                </a:solidFill>
                <a:latin typeface="Aptos Mono"/>
                <a:ea typeface="Aptos Mono"/>
                <a:cs typeface="Aptos Mono"/>
              </a:defRPr>
            </a:pPr>
            <a:r>
              <a:rPr sz="1058" b="1">
                <a:solidFill>
                  <a:srgbClr val="D7E2F1"/>
                </a:solidFill>
                <a:latin typeface="Aptos Mono"/>
                <a:ea typeface="Aptos Mono"/>
                <a:cs typeface="Aptos Mono"/>
              </a:rPr>
              <a:t>Δkm, Δh = zusätzliche Strecke und Zeit</a:t>
            </a:r>
          </a:p>
          <a:p xmlns:a="http://schemas.openxmlformats.org/drawingml/2006/main">
            <a:pPr algn="l">
              <a:defRPr sz="1058" b="1">
                <a:solidFill>
                  <a:srgbClr val="D7E2F1"/>
                </a:solidFill>
                <a:latin typeface="Aptos Mono"/>
                <a:ea typeface="Aptos Mono"/>
                <a:cs typeface="Aptos Mono"/>
              </a:defRPr>
            </a:pPr>
            <a:r>
              <a:rPr sz="1058" b="1">
                <a:solidFill>
                  <a:srgbClr val="D7E2F1"/>
                </a:solidFill>
                <a:latin typeface="Aptos Mono"/>
                <a:ea typeface="Aptos Mono"/>
                <a:cs typeface="Aptos Mono"/>
              </a:rPr>
              <a:t>ΔCHF = Δkm·CHF/km + Δh·Fahrerlohn</a:t>
            </a:r>
          </a:p>
          <a:p xmlns:a="http://schemas.openxmlformats.org/drawingml/2006/main">
            <a:pPr algn="l">
              <a:defRPr sz="1058" b="1">
                <a:solidFill>
                  <a:srgbClr val="D7E2F1"/>
                </a:solidFill>
                <a:latin typeface="Aptos Mono"/>
                <a:ea typeface="Aptos Mono"/>
                <a:cs typeface="Aptos Mono"/>
              </a:defRPr>
            </a:pPr>
            <a:r>
              <a:rPr sz="1058" b="1">
                <a:solidFill>
                  <a:srgbClr val="D7E2F1"/>
                </a:solidFill>
                <a:latin typeface="Aptos Mono"/>
                <a:ea typeface="Aptos Mono"/>
                <a:cs typeface="Aptos Mono"/>
              </a:rPr>
              <a:t>score = wc·norm(ΔCHF) + wt·norm(Δh) + we·norm(ΔCO2)</a:t>
            </a:r>
          </a:p>
        </p:txBody>
      </p:sp>
      <p:sp>
        <p:nvSpPr>
          <p:cNvPr id="32" name="">
            <a:extLst xmlns:a="http://schemas.openxmlformats.org/drawingml/2006/main">
              <a:ext uri="{FF2B5EF4-FFF2-40B4-BE49-F238E27FC236}">
                <a16:creationId xmlns:a16="http://schemas.microsoft.com/office/drawing/2014/main" id="{53EC1C4E-E98F-4854-BE27-605B53D9A1FF}"/>
              </a:ext>
            </a:extLst>
          </p:cNvPr>
          <p:cNvSpPr>
            <a:spLocks xmlns:a="http://schemas.openxmlformats.org/drawingml/2006/main" noGrp="1"/>
          </p:cNvSpPr>
          <p:nvPr/>
        </p:nvSpPr>
        <p:spPr>
          <a:xfrm xmlns:a="http://schemas.openxmlformats.org/drawingml/2006/main">
            <a:off x="4362450" y="3752850"/>
            <a:ext cx="3600450" cy="1257300"/>
          </a:xfrm>
          <a:prstGeom xmlns:a="http://schemas.openxmlformats.org/drawingml/2006/main" prst="roundRect">
            <a:avLst>
              <a:gd name="adj" fmla="val 6061"/>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57720B8F-24A7-4987-AC3F-8A2642D193F8}"/>
              </a:ext>
            </a:extLst>
          </p:cNvPr>
          <p:cNvSpPr>
            <a:spLocks xmlns:a="http://schemas.openxmlformats.org/drawingml/2006/main" noGrp="1"/>
          </p:cNvSpPr>
          <p:nvPr/>
        </p:nvSpPr>
        <p:spPr>
          <a:xfrm xmlns:a="http://schemas.openxmlformats.org/drawingml/2006/main">
            <a:off x="4324350" y="3695700"/>
            <a:ext cx="3600450" cy="1257300"/>
          </a:xfrm>
          <a:prstGeom xmlns:a="http://schemas.openxmlformats.org/drawingml/2006/main" prst="roundRect">
            <a:avLst>
              <a:gd name="adj" fmla="val 6061"/>
            </a:avLst>
          </a:prstGeom>
          <a:solidFill xmlns:a="http://schemas.openxmlformats.org/drawingml/2006/main">
            <a:srgbClr val="F4F8FB"/>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5FEF8543-392D-4322-AB65-D7B28B31CE82}"/>
              </a:ext>
            </a:extLst>
          </p:cNvPr>
          <p:cNvSpPr>
            <a:spLocks xmlns:a="http://schemas.openxmlformats.org/drawingml/2006/main" noGrp="1"/>
          </p:cNvSpPr>
          <p:nvPr/>
        </p:nvSpPr>
        <p:spPr>
          <a:xfrm xmlns:a="http://schemas.openxmlformats.org/drawingml/2006/main">
            <a:off x="4533900" y="3838575"/>
            <a:ext cx="3181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293B"/>
                </a:solidFill>
                <a:latin typeface="Aptos Display"/>
                <a:ea typeface="Aptos Display"/>
                <a:cs typeface="Aptos Display"/>
              </a:defRPr>
            </a:pPr>
            <a:r>
              <a:rPr sz="1350" b="1">
                <a:solidFill>
                  <a:srgbClr val="1E293B"/>
                </a:solidFill>
                <a:latin typeface="Aptos Display"/>
                <a:ea typeface="Aptos Display"/>
                <a:cs typeface="Aptos Display"/>
              </a:rPr>
              <a:t>Zulässige Kandidaten</a:t>
            </a:r>
          </a:p>
        </p:txBody>
      </p:sp>
      <p:sp>
        <p:nvSpPr>
          <p:cNvPr id="35" name="">
            <a:extLst xmlns:a="http://schemas.openxmlformats.org/drawingml/2006/main">
              <a:ext uri="{FF2B5EF4-FFF2-40B4-BE49-F238E27FC236}">
                <a16:creationId xmlns:a16="http://schemas.microsoft.com/office/drawing/2014/main" id="{5A9AE3FA-B60A-433B-82AC-135DC946F87A}"/>
              </a:ext>
            </a:extLst>
          </p:cNvPr>
          <p:cNvSpPr>
            <a:spLocks xmlns:a="http://schemas.openxmlformats.org/drawingml/2006/main" noGrp="1"/>
          </p:cNvSpPr>
          <p:nvPr/>
        </p:nvSpPr>
        <p:spPr>
          <a:xfrm xmlns:a="http://schemas.openxmlformats.org/drawingml/2006/main">
            <a:off x="4533900" y="4219575"/>
            <a:ext cx="66675" cy="66675"/>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12295380-B973-4C30-979C-383865EA0B9C}"/>
              </a:ext>
            </a:extLst>
          </p:cNvPr>
          <p:cNvSpPr>
            <a:spLocks xmlns:a="http://schemas.openxmlformats.org/drawingml/2006/main" noGrp="1"/>
          </p:cNvSpPr>
          <p:nvPr/>
        </p:nvSpPr>
        <p:spPr>
          <a:xfrm xmlns:a="http://schemas.openxmlformats.org/drawingml/2006/main">
            <a:off x="4724400" y="4171950"/>
            <a:ext cx="742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E293B"/>
                </a:solidFill>
                <a:latin typeface="Aptos"/>
                <a:ea typeface="Aptos"/>
                <a:cs typeface="Aptos"/>
              </a:defRPr>
            </a:pPr>
            <a:r>
              <a:rPr sz="930" b="1">
                <a:solidFill>
                  <a:srgbClr val="1E293B"/>
                </a:solidFill>
                <a:latin typeface="Aptos"/>
                <a:ea typeface="Aptos"/>
                <a:cs typeface="Aptos"/>
              </a:rPr>
              <a:t>Kapazität</a:t>
            </a:r>
          </a:p>
        </p:txBody>
      </p:sp>
      <p:sp>
        <p:nvSpPr>
          <p:cNvPr id="37" name="">
            <a:extLst xmlns:a="http://schemas.openxmlformats.org/drawingml/2006/main">
              <a:ext uri="{FF2B5EF4-FFF2-40B4-BE49-F238E27FC236}">
                <a16:creationId xmlns:a16="http://schemas.microsoft.com/office/drawing/2014/main" id="{D02313BC-1FB5-4F82-A9A9-682FD129097E}"/>
              </a:ext>
            </a:extLst>
          </p:cNvPr>
          <p:cNvSpPr>
            <a:spLocks xmlns:a="http://schemas.openxmlformats.org/drawingml/2006/main" noGrp="1"/>
          </p:cNvSpPr>
          <p:nvPr/>
        </p:nvSpPr>
        <p:spPr>
          <a:xfrm xmlns:a="http://schemas.openxmlformats.org/drawingml/2006/main">
            <a:off x="5505450" y="4171950"/>
            <a:ext cx="2247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64748B"/>
                </a:solidFill>
                <a:latin typeface="Aptos"/>
                <a:ea typeface="Aptos"/>
                <a:cs typeface="Aptos"/>
              </a:defRPr>
            </a:pPr>
            <a:r>
              <a:rPr sz="870" b="0">
                <a:solidFill>
                  <a:srgbClr val="64748B"/>
                </a:solidFill>
                <a:latin typeface="Aptos"/>
                <a:ea typeface="Aptos"/>
                <a:cs typeface="Aptos"/>
              </a:rPr>
              <a:t>demand ≤ items_loaded</a:t>
            </a:r>
          </a:p>
        </p:txBody>
      </p:sp>
      <p:sp>
        <p:nvSpPr>
          <p:cNvPr id="38" name="">
            <a:extLst xmlns:a="http://schemas.openxmlformats.org/drawingml/2006/main">
              <a:ext uri="{FF2B5EF4-FFF2-40B4-BE49-F238E27FC236}">
                <a16:creationId xmlns:a16="http://schemas.microsoft.com/office/drawing/2014/main" id="{3A5BE58B-78A6-419A-BF63-F4FEFF8E096F}"/>
              </a:ext>
            </a:extLst>
          </p:cNvPr>
          <p:cNvSpPr>
            <a:spLocks xmlns:a="http://schemas.openxmlformats.org/drawingml/2006/main" noGrp="1"/>
          </p:cNvSpPr>
          <p:nvPr/>
        </p:nvSpPr>
        <p:spPr>
          <a:xfrm xmlns:a="http://schemas.openxmlformats.org/drawingml/2006/main">
            <a:off x="4533900" y="4448175"/>
            <a:ext cx="66675" cy="66675"/>
          </a:xfrm>
          <a:prstGeom xmlns:a="http://schemas.openxmlformats.org/drawingml/2006/main" prst="ellipse">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A647B3B2-AA64-4893-AF60-808C6D56462C}"/>
              </a:ext>
            </a:extLst>
          </p:cNvPr>
          <p:cNvSpPr>
            <a:spLocks xmlns:a="http://schemas.openxmlformats.org/drawingml/2006/main" noGrp="1"/>
          </p:cNvSpPr>
          <p:nvPr/>
        </p:nvSpPr>
        <p:spPr>
          <a:xfrm xmlns:a="http://schemas.openxmlformats.org/drawingml/2006/main">
            <a:off x="4724400" y="4400550"/>
            <a:ext cx="742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E293B"/>
                </a:solidFill>
                <a:latin typeface="Aptos"/>
                <a:ea typeface="Aptos"/>
                <a:cs typeface="Aptos"/>
              </a:defRPr>
            </a:pPr>
            <a:r>
              <a:rPr sz="930" b="1">
                <a:solidFill>
                  <a:srgbClr val="1E293B"/>
                </a:solidFill>
                <a:latin typeface="Aptos"/>
                <a:ea typeface="Aptos"/>
                <a:cs typeface="Aptos"/>
              </a:rPr>
              <a:t>Reichweite</a:t>
            </a:r>
          </a:p>
        </p:txBody>
      </p:sp>
      <p:sp>
        <p:nvSpPr>
          <p:cNvPr id="40" name="">
            <a:extLst xmlns:a="http://schemas.openxmlformats.org/drawingml/2006/main">
              <a:ext uri="{FF2B5EF4-FFF2-40B4-BE49-F238E27FC236}">
                <a16:creationId xmlns:a16="http://schemas.microsoft.com/office/drawing/2014/main" id="{B4FC0337-FF97-4F12-B5C9-A6DDA81A0FA2}"/>
              </a:ext>
            </a:extLst>
          </p:cNvPr>
          <p:cNvSpPr>
            <a:spLocks xmlns:a="http://schemas.openxmlformats.org/drawingml/2006/main" noGrp="1"/>
          </p:cNvSpPr>
          <p:nvPr/>
        </p:nvSpPr>
        <p:spPr>
          <a:xfrm xmlns:a="http://schemas.openxmlformats.org/drawingml/2006/main">
            <a:off x="5505450" y="4400550"/>
            <a:ext cx="2247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64748B"/>
                </a:solidFill>
                <a:latin typeface="Aptos"/>
                <a:ea typeface="Aptos"/>
                <a:cs typeface="Aptos"/>
              </a:defRPr>
            </a:pPr>
            <a:r>
              <a:rPr sz="870" b="0">
                <a:solidFill>
                  <a:srgbClr val="64748B"/>
                </a:solidFill>
                <a:latin typeface="Aptos"/>
                <a:ea typeface="Aptos"/>
                <a:cs typeface="Aptos"/>
              </a:rPr>
              <a:t>km + hin + zurück ≤ range</a:t>
            </a:r>
          </a:p>
        </p:txBody>
      </p:sp>
      <p:sp>
        <p:nvSpPr>
          <p:cNvPr id="41" name="">
            <a:extLst xmlns:a="http://schemas.openxmlformats.org/drawingml/2006/main">
              <a:ext uri="{FF2B5EF4-FFF2-40B4-BE49-F238E27FC236}">
                <a16:creationId xmlns:a16="http://schemas.microsoft.com/office/drawing/2014/main" id="{BEBE8B49-ED74-4C87-B5C1-C188AFE41245}"/>
              </a:ext>
            </a:extLst>
          </p:cNvPr>
          <p:cNvSpPr>
            <a:spLocks xmlns:a="http://schemas.openxmlformats.org/drawingml/2006/main" noGrp="1"/>
          </p:cNvSpPr>
          <p:nvPr/>
        </p:nvSpPr>
        <p:spPr>
          <a:xfrm xmlns:a="http://schemas.openxmlformats.org/drawingml/2006/main">
            <a:off x="4533900" y="4676775"/>
            <a:ext cx="66675" cy="66675"/>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0841F702-6C2F-4329-8F13-62661923F9CB}"/>
              </a:ext>
            </a:extLst>
          </p:cNvPr>
          <p:cNvSpPr>
            <a:spLocks xmlns:a="http://schemas.openxmlformats.org/drawingml/2006/main" noGrp="1"/>
          </p:cNvSpPr>
          <p:nvPr/>
        </p:nvSpPr>
        <p:spPr>
          <a:xfrm xmlns:a="http://schemas.openxmlformats.org/drawingml/2006/main">
            <a:off x="4724400" y="4629150"/>
            <a:ext cx="742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E293B"/>
                </a:solidFill>
                <a:latin typeface="Aptos"/>
                <a:ea typeface="Aptos"/>
                <a:cs typeface="Aptos"/>
              </a:defRPr>
            </a:pPr>
            <a:r>
              <a:rPr sz="930" b="1">
                <a:solidFill>
                  <a:srgbClr val="1E293B"/>
                </a:solidFill>
                <a:latin typeface="Aptos"/>
                <a:ea typeface="Aptos"/>
                <a:cs typeface="Aptos"/>
              </a:rPr>
              <a:t>Schicht</a:t>
            </a:r>
          </a:p>
        </p:txBody>
      </p:sp>
      <p:sp>
        <p:nvSpPr>
          <p:cNvPr id="43" name="">
            <a:extLst xmlns:a="http://schemas.openxmlformats.org/drawingml/2006/main">
              <a:ext uri="{FF2B5EF4-FFF2-40B4-BE49-F238E27FC236}">
                <a16:creationId xmlns:a16="http://schemas.microsoft.com/office/drawing/2014/main" id="{B1D3E707-3DD0-44F8-9A97-5698AE7F572B}"/>
              </a:ext>
            </a:extLst>
          </p:cNvPr>
          <p:cNvSpPr>
            <a:spLocks xmlns:a="http://schemas.openxmlformats.org/drawingml/2006/main" noGrp="1"/>
          </p:cNvSpPr>
          <p:nvPr/>
        </p:nvSpPr>
        <p:spPr>
          <a:xfrm xmlns:a="http://schemas.openxmlformats.org/drawingml/2006/main">
            <a:off x="5505450" y="4629150"/>
            <a:ext cx="2247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64748B"/>
                </a:solidFill>
                <a:latin typeface="Aptos"/>
                <a:ea typeface="Aptos"/>
                <a:cs typeface="Aptos"/>
              </a:defRPr>
            </a:pPr>
            <a:r>
              <a:rPr sz="870" b="0">
                <a:solidFill>
                  <a:srgbClr val="64748B"/>
                </a:solidFill>
                <a:latin typeface="Aptos"/>
                <a:ea typeface="Aptos"/>
                <a:cs typeface="Aptos"/>
              </a:rPr>
              <a:t>Fahrzeit + Service ≤ shift</a:t>
            </a:r>
          </a:p>
        </p:txBody>
      </p:sp>
      <p:sp>
        <p:nvSpPr>
          <p:cNvPr id="44" name="">
            <a:extLst xmlns:a="http://schemas.openxmlformats.org/drawingml/2006/main">
              <a:ext uri="{FF2B5EF4-FFF2-40B4-BE49-F238E27FC236}">
                <a16:creationId xmlns:a16="http://schemas.microsoft.com/office/drawing/2014/main" id="{160D6A07-9A71-4879-96F2-F48AC58ADDA5}"/>
              </a:ext>
            </a:extLst>
          </p:cNvPr>
          <p:cNvSpPr>
            <a:spLocks xmlns:a="http://schemas.openxmlformats.org/drawingml/2006/main" noGrp="1"/>
          </p:cNvSpPr>
          <p:nvPr/>
        </p:nvSpPr>
        <p:spPr>
          <a:xfrm xmlns:a="http://schemas.openxmlformats.org/drawingml/2006/main">
            <a:off x="4533900" y="4905375"/>
            <a:ext cx="66675" cy="66675"/>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C6DD20EE-1B80-4736-9A42-DDECD9A1B1E6}"/>
              </a:ext>
            </a:extLst>
          </p:cNvPr>
          <p:cNvSpPr>
            <a:spLocks xmlns:a="http://schemas.openxmlformats.org/drawingml/2006/main" noGrp="1"/>
          </p:cNvSpPr>
          <p:nvPr/>
        </p:nvSpPr>
        <p:spPr>
          <a:xfrm xmlns:a="http://schemas.openxmlformats.org/drawingml/2006/main">
            <a:off x="4724400" y="4857750"/>
            <a:ext cx="742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E293B"/>
                </a:solidFill>
                <a:latin typeface="Aptos"/>
                <a:ea typeface="Aptos"/>
                <a:cs typeface="Aptos"/>
              </a:defRPr>
            </a:pPr>
            <a:r>
              <a:rPr sz="930" b="1">
                <a:solidFill>
                  <a:srgbClr val="1E293B"/>
                </a:solidFill>
                <a:latin typeface="Aptos"/>
                <a:ea typeface="Aptos"/>
                <a:cs typeface="Aptos"/>
              </a:rPr>
              <a:t>Öffnung</a:t>
            </a:r>
          </a:p>
        </p:txBody>
      </p:sp>
      <p:sp>
        <p:nvSpPr>
          <p:cNvPr id="46" name="">
            <a:extLst xmlns:a="http://schemas.openxmlformats.org/drawingml/2006/main">
              <a:ext uri="{FF2B5EF4-FFF2-40B4-BE49-F238E27FC236}">
                <a16:creationId xmlns:a16="http://schemas.microsoft.com/office/drawing/2014/main" id="{BA7C4DF2-7A1B-4F61-86EC-2B04FA2C15EA}"/>
              </a:ext>
            </a:extLst>
          </p:cNvPr>
          <p:cNvSpPr>
            <a:spLocks xmlns:a="http://schemas.openxmlformats.org/drawingml/2006/main" noGrp="1"/>
          </p:cNvSpPr>
          <p:nvPr/>
        </p:nvSpPr>
        <p:spPr>
          <a:xfrm xmlns:a="http://schemas.openxmlformats.org/drawingml/2006/main">
            <a:off x="5505450" y="4857750"/>
            <a:ext cx="2247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64748B"/>
                </a:solidFill>
                <a:latin typeface="Aptos"/>
                <a:ea typeface="Aptos"/>
                <a:cs typeface="Aptos"/>
              </a:defRPr>
            </a:pPr>
            <a:r>
              <a:rPr sz="870" b="0">
                <a:solidFill>
                  <a:srgbClr val="64748B"/>
                </a:solidFill>
                <a:latin typeface="Aptos"/>
                <a:ea typeface="Aptos"/>
                <a:cs typeface="Aptos"/>
              </a:rPr>
              <a:t>Ankunft liegt im Zeitfenster</a:t>
            </a:r>
          </a:p>
        </p:txBody>
      </p:sp>
      <p:sp>
        <p:nvSpPr>
          <p:cNvPr id="47" name="">
            <a:extLst xmlns:a="http://schemas.openxmlformats.org/drawingml/2006/main">
              <a:ext uri="{FF2B5EF4-FFF2-40B4-BE49-F238E27FC236}">
                <a16:creationId xmlns:a16="http://schemas.microsoft.com/office/drawing/2014/main" id="{C8E291C2-869D-4632-BC3A-E71AE8E7E0FD}"/>
              </a:ext>
            </a:extLst>
          </p:cNvPr>
          <p:cNvSpPr>
            <a:spLocks xmlns:a="http://schemas.openxmlformats.org/drawingml/2006/main" noGrp="1"/>
          </p:cNvSpPr>
          <p:nvPr/>
        </p:nvSpPr>
        <p:spPr>
          <a:xfrm xmlns:a="http://schemas.openxmlformats.org/drawingml/2006/main">
            <a:off x="4362450" y="5219700"/>
            <a:ext cx="3600450" cy="628650"/>
          </a:xfrm>
          <a:prstGeom xmlns:a="http://schemas.openxmlformats.org/drawingml/2006/main" prst="roundRect">
            <a:avLst>
              <a:gd name="adj" fmla="val 12121"/>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9C195BDA-9205-44BB-A4B4-1BE83A19C14F}"/>
              </a:ext>
            </a:extLst>
          </p:cNvPr>
          <p:cNvSpPr>
            <a:spLocks xmlns:a="http://schemas.openxmlformats.org/drawingml/2006/main" noGrp="1"/>
          </p:cNvSpPr>
          <p:nvPr/>
        </p:nvSpPr>
        <p:spPr>
          <a:xfrm xmlns:a="http://schemas.openxmlformats.org/drawingml/2006/main">
            <a:off x="4324350" y="5162550"/>
            <a:ext cx="36004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E2E8F0"/>
            </a:solidFill>
            <a:prstDash val="solid"/>
          </a:ln>
        </p:spPr>
      </p:sp>
      <p:sp>
        <p:nvSpPr>
          <p:cNvPr id="49" name="">
            <a:extLst xmlns:a="http://schemas.openxmlformats.org/drawingml/2006/main">
              <a:ext uri="{FF2B5EF4-FFF2-40B4-BE49-F238E27FC236}">
                <a16:creationId xmlns:a16="http://schemas.microsoft.com/office/drawing/2014/main" id="{F70A0ACA-1664-466D-A223-4BF1550ED5A6}"/>
              </a:ext>
            </a:extLst>
          </p:cNvPr>
          <p:cNvSpPr>
            <a:spLocks xmlns:a="http://schemas.openxmlformats.org/drawingml/2006/main" noGrp="1"/>
          </p:cNvSpPr>
          <p:nvPr/>
        </p:nvSpPr>
        <p:spPr>
          <a:xfrm xmlns:a="http://schemas.openxmlformats.org/drawingml/2006/main">
            <a:off x="4533900" y="5286375"/>
            <a:ext cx="1657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E293B"/>
                </a:solidFill>
                <a:latin typeface="Aptos Display"/>
                <a:ea typeface="Aptos Display"/>
                <a:cs typeface="Aptos Display"/>
              </a:defRPr>
            </a:pPr>
            <a:r>
              <a:rPr sz="1163" b="1">
                <a:solidFill>
                  <a:srgbClr val="1E293B"/>
                </a:solidFill>
                <a:latin typeface="Aptos Display"/>
                <a:ea typeface="Aptos Display"/>
                <a:cs typeface="Aptos Display"/>
              </a:rPr>
              <a:t>Fahrzeugreihenfolge</a:t>
            </a:r>
          </a:p>
        </p:txBody>
      </p:sp>
      <p:sp>
        <p:nvSpPr>
          <p:cNvPr id="50" name="">
            <a:extLst xmlns:a="http://schemas.openxmlformats.org/drawingml/2006/main">
              <a:ext uri="{FF2B5EF4-FFF2-40B4-BE49-F238E27FC236}">
                <a16:creationId xmlns:a16="http://schemas.microsoft.com/office/drawing/2014/main" id="{3F6F60E7-99D4-4EFE-957E-992C393AB689}"/>
              </a:ext>
            </a:extLst>
          </p:cNvPr>
          <p:cNvSpPr>
            <a:spLocks xmlns:a="http://schemas.openxmlformats.org/drawingml/2006/main" noGrp="1"/>
          </p:cNvSpPr>
          <p:nvPr/>
        </p:nvSpPr>
        <p:spPr>
          <a:xfrm xmlns:a="http://schemas.openxmlformats.org/drawingml/2006/main">
            <a:off x="6267450" y="5314950"/>
            <a:ext cx="1466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64748B"/>
                </a:solidFill>
                <a:latin typeface="Aptos"/>
                <a:ea typeface="Aptos"/>
                <a:cs typeface="Aptos"/>
              </a:defRPr>
            </a:pPr>
            <a:r>
              <a:rPr sz="810" b="0">
                <a:solidFill>
                  <a:srgbClr val="64748B"/>
                </a:solidFill>
                <a:latin typeface="Aptos"/>
                <a:ea typeface="Aptos"/>
                <a:cs typeface="Aptos"/>
              </a:rPr>
              <a:t>Kosten: günstig · Zeit: schnell · Umwelt: CO2-arm</a:t>
            </a:r>
          </a:p>
        </p:txBody>
      </p:sp>
      <p:sp>
        <p:nvSpPr>
          <p:cNvPr id="51" name="">
            <a:extLst xmlns:a="http://schemas.openxmlformats.org/drawingml/2006/main">
              <a:ext uri="{FF2B5EF4-FFF2-40B4-BE49-F238E27FC236}">
                <a16:creationId xmlns:a16="http://schemas.microsoft.com/office/drawing/2014/main" id="{85FDDDB7-0FB5-4704-BD90-765EAAFC0C37}"/>
              </a:ext>
            </a:extLst>
          </p:cNvPr>
          <p:cNvSpPr>
            <a:spLocks xmlns:a="http://schemas.openxmlformats.org/drawingml/2006/main" noGrp="1"/>
          </p:cNvSpPr>
          <p:nvPr/>
        </p:nvSpPr>
        <p:spPr>
          <a:xfrm xmlns:a="http://schemas.openxmlformats.org/drawingml/2006/main">
            <a:off x="6267450" y="5524500"/>
            <a:ext cx="323850" cy="57150"/>
          </a:xfrm>
          <a:prstGeom xmlns:a="http://schemas.openxmlformats.org/drawingml/2006/main" prst="roundRect">
            <a:avLst>
              <a:gd name="adj" fmla="val 50000"/>
            </a:avLst>
          </a:prstGeom>
          <a:solidFill xmlns:a="http://schemas.openxmlformats.org/drawingml/2006/main">
            <a:srgbClr val="0F4C81"/>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4BFB5526-D2EC-4E01-9570-331E78B2934E}"/>
              </a:ext>
            </a:extLst>
          </p:cNvPr>
          <p:cNvSpPr>
            <a:spLocks xmlns:a="http://schemas.openxmlformats.org/drawingml/2006/main" noGrp="1"/>
          </p:cNvSpPr>
          <p:nvPr/>
        </p:nvSpPr>
        <p:spPr>
          <a:xfrm xmlns:a="http://schemas.openxmlformats.org/drawingml/2006/main">
            <a:off x="6724650" y="5524500"/>
            <a:ext cx="323850" cy="571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DE5B2F7C-8EF7-4463-8E13-B4AC97C8797B}"/>
              </a:ext>
            </a:extLst>
          </p:cNvPr>
          <p:cNvSpPr>
            <a:spLocks xmlns:a="http://schemas.openxmlformats.org/drawingml/2006/main" noGrp="1"/>
          </p:cNvSpPr>
          <p:nvPr/>
        </p:nvSpPr>
        <p:spPr>
          <a:xfrm xmlns:a="http://schemas.openxmlformats.org/drawingml/2006/main">
            <a:off x="7181850" y="5524500"/>
            <a:ext cx="323850" cy="57150"/>
          </a:xfrm>
          <a:prstGeom xmlns:a="http://schemas.openxmlformats.org/drawingml/2006/main" prst="roundRect">
            <a:avLst>
              <a:gd name="adj" fmla="val 50000"/>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2FB72585-9152-43F2-8E75-90B0D9292D58}"/>
              </a:ext>
            </a:extLst>
          </p:cNvPr>
          <p:cNvSpPr>
            <a:spLocks xmlns:a="http://schemas.openxmlformats.org/drawingml/2006/main" noGrp="1"/>
          </p:cNvSpPr>
          <p:nvPr/>
        </p:nvSpPr>
        <p:spPr>
          <a:xfrm xmlns:a="http://schemas.openxmlformats.org/drawingml/2006/main">
            <a:off x="8343900" y="2457450"/>
            <a:ext cx="3238500" cy="3390900"/>
          </a:xfrm>
          <a:prstGeom xmlns:a="http://schemas.openxmlformats.org/drawingml/2006/main" prst="roundRect">
            <a:avLst>
              <a:gd name="adj" fmla="val 2353"/>
            </a:avLst>
          </a:prstGeom>
          <a:solidFill xmlns:a="http://schemas.openxmlformats.org/drawingml/2006/main">
            <a:srgbClr val="D6DEE8"/>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92FDEBA3-C864-42A4-BB33-52C1701BE053}"/>
              </a:ext>
            </a:extLst>
          </p:cNvPr>
          <p:cNvSpPr>
            <a:spLocks xmlns:a="http://schemas.openxmlformats.org/drawingml/2006/main" noGrp="1"/>
          </p:cNvSpPr>
          <p:nvPr/>
        </p:nvSpPr>
        <p:spPr>
          <a:xfrm xmlns:a="http://schemas.openxmlformats.org/drawingml/2006/main">
            <a:off x="8305800" y="2400300"/>
            <a:ext cx="3238500" cy="33909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E2E8F0"/>
            </a:solidFill>
            <a:prstDash val="solid"/>
          </a:ln>
        </p:spPr>
      </p:sp>
      <p:sp>
        <p:nvSpPr>
          <p:cNvPr id="56" name="">
            <a:extLst xmlns:a="http://schemas.openxmlformats.org/drawingml/2006/main">
              <a:ext uri="{FF2B5EF4-FFF2-40B4-BE49-F238E27FC236}">
                <a16:creationId xmlns:a16="http://schemas.microsoft.com/office/drawing/2014/main" id="{7EEA2E72-8391-417F-A0E8-F5CCE0807F53}"/>
              </a:ext>
            </a:extLst>
          </p:cNvPr>
          <p:cNvSpPr>
            <a:spLocks xmlns:a="http://schemas.openxmlformats.org/drawingml/2006/main" noGrp="1"/>
          </p:cNvSpPr>
          <p:nvPr/>
        </p:nvSpPr>
        <p:spPr>
          <a:xfrm xmlns:a="http://schemas.openxmlformats.org/drawingml/2006/main">
            <a:off x="8534400" y="2571750"/>
            <a:ext cx="2781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293B"/>
                </a:solidFill>
                <a:latin typeface="Aptos Display"/>
                <a:ea typeface="Aptos Display"/>
                <a:cs typeface="Aptos Display"/>
              </a:defRPr>
            </a:pPr>
            <a:r>
              <a:rPr sz="1350" b="1">
                <a:solidFill>
                  <a:srgbClr val="1E293B"/>
                </a:solidFill>
                <a:latin typeface="Aptos Display"/>
                <a:ea typeface="Aptos Display"/>
                <a:cs typeface="Aptos Display"/>
              </a:rPr>
              <a:t>Greedy-Tour pro Hub</a:t>
            </a:r>
          </a:p>
        </p:txBody>
      </p:sp>
      <p:sp>
        <p:nvSpPr>
          <p:cNvPr id="57" name="">
            <a:extLst xmlns:a="http://schemas.openxmlformats.org/drawingml/2006/main">
              <a:ext uri="{FF2B5EF4-FFF2-40B4-BE49-F238E27FC236}">
                <a16:creationId xmlns:a16="http://schemas.microsoft.com/office/drawing/2014/main" id="{10801AC2-C625-4F2B-A8AA-FA1677B1B719}"/>
              </a:ext>
            </a:extLst>
          </p:cNvPr>
          <p:cNvSpPr>
            <a:spLocks xmlns:a="http://schemas.openxmlformats.org/drawingml/2006/main" noGrp="1"/>
          </p:cNvSpPr>
          <p:nvPr/>
        </p:nvSpPr>
        <p:spPr>
          <a:xfrm xmlns:a="http://schemas.openxmlformats.org/drawingml/2006/main">
            <a:off x="8534400" y="2809875"/>
            <a:ext cx="2781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Hub → Stop → Stop → zurück</a:t>
            </a:r>
          </a:p>
        </p:txBody>
      </p:sp>
      <p:sp>
        <p:nvSpPr>
          <p:cNvPr id="58" name="">
            <a:extLst xmlns:a="http://schemas.openxmlformats.org/drawingml/2006/main">
              <a:ext uri="{FF2B5EF4-FFF2-40B4-BE49-F238E27FC236}">
                <a16:creationId xmlns:a16="http://schemas.microsoft.com/office/drawing/2014/main" id="{F30904C0-8405-48B8-B78A-0838CD363350}"/>
              </a:ext>
            </a:extLst>
          </p:cNvPr>
          <p:cNvSpPr>
            <a:spLocks xmlns:a="http://schemas.openxmlformats.org/drawingml/2006/main" noGrp="1"/>
          </p:cNvSpPr>
          <p:nvPr/>
        </p:nvSpPr>
        <p:spPr>
          <a:xfrm xmlns:a="http://schemas.openxmlformats.org/drawingml/2006/main">
            <a:off x="8591550" y="3086100"/>
            <a:ext cx="2667000" cy="2190750"/>
          </a:xfrm>
          <a:prstGeom xmlns:a="http://schemas.openxmlformats.org/drawingml/2006/main" prst="roundRect">
            <a:avLst>
              <a:gd name="adj" fmla="val 3478"/>
            </a:avLst>
          </a:prstGeom>
          <a:solidFill xmlns:a="http://schemas.openxmlformats.org/drawingml/2006/main">
            <a:srgbClr val="F7FAFC"/>
          </a:solidFill>
          <a:ln xmlns:a="http://schemas.openxmlformats.org/drawingml/2006/main" w="9525">
            <a:solidFill>
              <a:srgbClr val="DDE7F0"/>
            </a:solidFill>
            <a:prstDash val="solid"/>
          </a:ln>
        </p:spPr>
      </p:sp>
      <p:sp>
        <p:nvSpPr>
          <p:cNvPr id="59" name="">
            <a:extLst xmlns:a="http://schemas.openxmlformats.org/drawingml/2006/main">
              <a:ext uri="{FF2B5EF4-FFF2-40B4-BE49-F238E27FC236}">
                <a16:creationId xmlns:a16="http://schemas.microsoft.com/office/drawing/2014/main" id="{D2BA2389-909E-426E-85CD-2D6569EE3C59}"/>
              </a:ext>
            </a:extLst>
          </p:cNvPr>
          <p:cNvSpPr>
            <a:spLocks xmlns:a="http://schemas.openxmlformats.org/drawingml/2006/main" noGrp="1"/>
          </p:cNvSpPr>
          <p:nvPr/>
        </p:nvSpPr>
        <p:spPr>
          <a:xfrm xmlns:a="http://schemas.openxmlformats.org/drawingml/2006/main" rot="-3785634">
            <a:off x="9067800" y="4876800"/>
            <a:ext cx="1431288" cy="28575"/>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18638DB8-28CC-48BD-9185-08E3D7232B34}"/>
              </a:ext>
            </a:extLst>
          </p:cNvPr>
          <p:cNvSpPr>
            <a:spLocks xmlns:a="http://schemas.openxmlformats.org/drawingml/2006/main" noGrp="1"/>
          </p:cNvSpPr>
          <p:nvPr/>
        </p:nvSpPr>
        <p:spPr>
          <a:xfrm xmlns:a="http://schemas.openxmlformats.org/drawingml/2006/main" rot="956724">
            <a:off x="9715500" y="3600450"/>
            <a:ext cx="832117" cy="28575"/>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AD4586E1-686F-4C85-BC37-86EE2CF95AFA}"/>
              </a:ext>
            </a:extLst>
          </p:cNvPr>
          <p:cNvSpPr>
            <a:spLocks xmlns:a="http://schemas.openxmlformats.org/drawingml/2006/main" noGrp="1"/>
          </p:cNvSpPr>
          <p:nvPr/>
        </p:nvSpPr>
        <p:spPr>
          <a:xfrm xmlns:a="http://schemas.openxmlformats.org/drawingml/2006/main" rot="3074069">
            <a:off x="10515600" y="3829050"/>
            <a:ext cx="806256" cy="28575"/>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646B3375-9195-491E-9F20-8580274AF3CC}"/>
              </a:ext>
            </a:extLst>
          </p:cNvPr>
          <p:cNvSpPr>
            <a:spLocks xmlns:a="http://schemas.openxmlformats.org/drawingml/2006/main" noGrp="1"/>
          </p:cNvSpPr>
          <p:nvPr/>
        </p:nvSpPr>
        <p:spPr>
          <a:xfrm xmlns:a="http://schemas.openxmlformats.org/drawingml/2006/main" rot="10121404">
            <a:off x="11020425" y="4457700"/>
            <a:ext cx="1019931" cy="28575"/>
          </a:xfrm>
          <a:prstGeom xmlns:a="http://schemas.openxmlformats.org/drawingml/2006/main" prst="roundRect">
            <a:avLst>
              <a:gd name="adj" fmla="val 50000"/>
            </a:avLst>
          </a:prstGeom>
          <a:solidFill xmlns:a="http://schemas.openxmlformats.org/drawingml/2006/main">
            <a:srgbClr val="0D9488"/>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26257B2C-6925-40BD-9C48-AAC5EE16C0B4}"/>
              </a:ext>
            </a:extLst>
          </p:cNvPr>
          <p:cNvSpPr>
            <a:spLocks xmlns:a="http://schemas.openxmlformats.org/drawingml/2006/main" noGrp="1"/>
          </p:cNvSpPr>
          <p:nvPr/>
        </p:nvSpPr>
        <p:spPr>
          <a:xfrm xmlns:a="http://schemas.openxmlformats.org/drawingml/2006/main" rot="10022834">
            <a:off x="10020300" y="4657725"/>
            <a:ext cx="977369" cy="28575"/>
          </a:xfrm>
          <a:prstGeom xmlns:a="http://schemas.openxmlformats.org/drawingml/2006/main" prst="roundRect">
            <a:avLst>
              <a:gd name="adj" fmla="val 50000"/>
            </a:avLst>
          </a:prstGeom>
          <a:solidFill xmlns:a="http://schemas.openxmlformats.org/drawingml/2006/main">
            <a:srgbClr val="B8C7D8"/>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D37D76E2-2475-4F66-B6C2-A19BBA7E75AD}"/>
              </a:ext>
            </a:extLst>
          </p:cNvPr>
          <p:cNvSpPr>
            <a:spLocks xmlns:a="http://schemas.openxmlformats.org/drawingml/2006/main" noGrp="1"/>
          </p:cNvSpPr>
          <p:nvPr/>
        </p:nvSpPr>
        <p:spPr>
          <a:xfrm xmlns:a="http://schemas.openxmlformats.org/drawingml/2006/main">
            <a:off x="8953500" y="4762500"/>
            <a:ext cx="228600" cy="228600"/>
          </a:xfrm>
          <a:prstGeom xmlns:a="http://schemas.openxmlformats.org/drawingml/2006/main" prst="roundRect">
            <a:avLst>
              <a:gd name="adj" fmla="val 33333"/>
            </a:avLst>
          </a:prstGeom>
          <a:solidFill xmlns:a="http://schemas.openxmlformats.org/drawingml/2006/main">
            <a:srgbClr val="0F4C81"/>
          </a:solidFill>
          <a:ln xmlns:a="http://schemas.openxmlformats.org/drawingml/2006/main" w="9525">
            <a:solidFill>
              <a:srgbClr val="FFFFFF"/>
            </a:solidFill>
            <a:prstDash val="solid"/>
          </a:ln>
        </p:spPr>
      </p:sp>
      <p:sp>
        <p:nvSpPr>
          <p:cNvPr id="65" name="">
            <a:extLst xmlns:a="http://schemas.openxmlformats.org/drawingml/2006/main">
              <a:ext uri="{FF2B5EF4-FFF2-40B4-BE49-F238E27FC236}">
                <a16:creationId xmlns:a16="http://schemas.microsoft.com/office/drawing/2014/main" id="{64AE778A-B85E-46E1-AAC3-955D0DDCD8ED}"/>
              </a:ext>
            </a:extLst>
          </p:cNvPr>
          <p:cNvSpPr>
            <a:spLocks xmlns:a="http://schemas.openxmlformats.org/drawingml/2006/main" noGrp="1"/>
          </p:cNvSpPr>
          <p:nvPr/>
        </p:nvSpPr>
        <p:spPr>
          <a:xfrm xmlns:a="http://schemas.openxmlformats.org/drawingml/2006/main">
            <a:off x="8972550" y="4800600"/>
            <a:ext cx="190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H</a:t>
            </a:r>
          </a:p>
        </p:txBody>
      </p:sp>
      <p:sp>
        <p:nvSpPr>
          <p:cNvPr id="66" name="">
            <a:extLst xmlns:a="http://schemas.openxmlformats.org/drawingml/2006/main">
              <a:ext uri="{FF2B5EF4-FFF2-40B4-BE49-F238E27FC236}">
                <a16:creationId xmlns:a16="http://schemas.microsoft.com/office/drawing/2014/main" id="{1B3E9853-9F27-4B16-B3B7-D2EF60499BC6}"/>
              </a:ext>
            </a:extLst>
          </p:cNvPr>
          <p:cNvSpPr>
            <a:spLocks xmlns:a="http://schemas.openxmlformats.org/drawingml/2006/main" noGrp="1"/>
          </p:cNvSpPr>
          <p:nvPr/>
        </p:nvSpPr>
        <p:spPr>
          <a:xfrm xmlns:a="http://schemas.openxmlformats.org/drawingml/2006/main">
            <a:off x="9620250" y="3505200"/>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0D9488"/>
            </a:solidFill>
            <a:prstDash val="solid"/>
          </a:ln>
        </p:spPr>
      </p:sp>
      <p:sp>
        <p:nvSpPr>
          <p:cNvPr id="67" name="">
            <a:extLst xmlns:a="http://schemas.openxmlformats.org/drawingml/2006/main">
              <a:ext uri="{FF2B5EF4-FFF2-40B4-BE49-F238E27FC236}">
                <a16:creationId xmlns:a16="http://schemas.microsoft.com/office/drawing/2014/main" id="{0EEE615A-CC43-4D14-96D7-6544F76ED7DC}"/>
              </a:ext>
            </a:extLst>
          </p:cNvPr>
          <p:cNvSpPr>
            <a:spLocks xmlns:a="http://schemas.openxmlformats.org/drawingml/2006/main" noGrp="1"/>
          </p:cNvSpPr>
          <p:nvPr/>
        </p:nvSpPr>
        <p:spPr>
          <a:xfrm xmlns:a="http://schemas.openxmlformats.org/drawingml/2006/main">
            <a:off x="9639300" y="3533775"/>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D9488"/>
                </a:solidFill>
                <a:latin typeface="Aptos"/>
                <a:ea typeface="Aptos"/>
                <a:cs typeface="Aptos"/>
              </a:defRPr>
            </a:pPr>
            <a:r>
              <a:rPr sz="675" b="1">
                <a:solidFill>
                  <a:srgbClr val="0D9488"/>
                </a:solidFill>
                <a:latin typeface="Aptos"/>
                <a:ea typeface="Aptos"/>
                <a:cs typeface="Aptos"/>
              </a:rPr>
              <a:t>1</a:t>
            </a:r>
          </a:p>
        </p:txBody>
      </p:sp>
      <p:sp>
        <p:nvSpPr>
          <p:cNvPr id="68" name="">
            <a:extLst xmlns:a="http://schemas.openxmlformats.org/drawingml/2006/main">
              <a:ext uri="{FF2B5EF4-FFF2-40B4-BE49-F238E27FC236}">
                <a16:creationId xmlns:a16="http://schemas.microsoft.com/office/drawing/2014/main" id="{08DC228C-D575-453B-8700-C6B98D554172}"/>
              </a:ext>
            </a:extLst>
          </p:cNvPr>
          <p:cNvSpPr>
            <a:spLocks xmlns:a="http://schemas.openxmlformats.org/drawingml/2006/main" noGrp="1"/>
          </p:cNvSpPr>
          <p:nvPr/>
        </p:nvSpPr>
        <p:spPr>
          <a:xfrm xmlns:a="http://schemas.openxmlformats.org/drawingml/2006/main">
            <a:off x="10420350" y="3733800"/>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0D9488"/>
            </a:solidFill>
            <a:prstDash val="solid"/>
          </a:ln>
        </p:spPr>
      </p:sp>
      <p:sp>
        <p:nvSpPr>
          <p:cNvPr id="69" name="">
            <a:extLst xmlns:a="http://schemas.openxmlformats.org/drawingml/2006/main">
              <a:ext uri="{FF2B5EF4-FFF2-40B4-BE49-F238E27FC236}">
                <a16:creationId xmlns:a16="http://schemas.microsoft.com/office/drawing/2014/main" id="{2CA24969-02DB-4D2C-9776-C209B8B82544}"/>
              </a:ext>
            </a:extLst>
          </p:cNvPr>
          <p:cNvSpPr>
            <a:spLocks xmlns:a="http://schemas.openxmlformats.org/drawingml/2006/main" noGrp="1"/>
          </p:cNvSpPr>
          <p:nvPr/>
        </p:nvSpPr>
        <p:spPr>
          <a:xfrm xmlns:a="http://schemas.openxmlformats.org/drawingml/2006/main">
            <a:off x="10439400" y="3762375"/>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D9488"/>
                </a:solidFill>
                <a:latin typeface="Aptos"/>
                <a:ea typeface="Aptos"/>
                <a:cs typeface="Aptos"/>
              </a:defRPr>
            </a:pPr>
            <a:r>
              <a:rPr sz="675" b="1">
                <a:solidFill>
                  <a:srgbClr val="0D9488"/>
                </a:solidFill>
                <a:latin typeface="Aptos"/>
                <a:ea typeface="Aptos"/>
                <a:cs typeface="Aptos"/>
              </a:rPr>
              <a:t>2</a:t>
            </a:r>
          </a:p>
        </p:txBody>
      </p:sp>
      <p:sp>
        <p:nvSpPr>
          <p:cNvPr id="70" name="">
            <a:extLst xmlns:a="http://schemas.openxmlformats.org/drawingml/2006/main">
              <a:ext uri="{FF2B5EF4-FFF2-40B4-BE49-F238E27FC236}">
                <a16:creationId xmlns:a16="http://schemas.microsoft.com/office/drawing/2014/main" id="{52868C42-D461-4628-B64D-748014CDCE12}"/>
              </a:ext>
            </a:extLst>
          </p:cNvPr>
          <p:cNvSpPr>
            <a:spLocks xmlns:a="http://schemas.openxmlformats.org/drawingml/2006/main" noGrp="1"/>
          </p:cNvSpPr>
          <p:nvPr/>
        </p:nvSpPr>
        <p:spPr>
          <a:xfrm xmlns:a="http://schemas.openxmlformats.org/drawingml/2006/main">
            <a:off x="10925175" y="4362450"/>
            <a:ext cx="190500" cy="190500"/>
          </a:xfrm>
          <a:prstGeom xmlns:a="http://schemas.openxmlformats.org/drawingml/2006/main" prst="ellipse">
            <a:avLst/>
          </a:prstGeom>
          <a:solidFill xmlns:a="http://schemas.openxmlformats.org/drawingml/2006/main">
            <a:srgbClr val="D97706"/>
          </a:solidFill>
          <a:ln xmlns:a="http://schemas.openxmlformats.org/drawingml/2006/main" w="9525">
            <a:solidFill>
              <a:srgbClr val="FFFFFF"/>
            </a:solidFill>
            <a:prstDash val="solid"/>
          </a:ln>
        </p:spPr>
      </p:sp>
      <p:sp>
        <p:nvSpPr>
          <p:cNvPr id="71" name="">
            <a:extLst xmlns:a="http://schemas.openxmlformats.org/drawingml/2006/main">
              <a:ext uri="{FF2B5EF4-FFF2-40B4-BE49-F238E27FC236}">
                <a16:creationId xmlns:a16="http://schemas.microsoft.com/office/drawing/2014/main" id="{0870E0E3-5DF6-4E56-BF36-41C05BD0085B}"/>
              </a:ext>
            </a:extLst>
          </p:cNvPr>
          <p:cNvSpPr>
            <a:spLocks xmlns:a="http://schemas.openxmlformats.org/drawingml/2006/main" noGrp="1"/>
          </p:cNvSpPr>
          <p:nvPr/>
        </p:nvSpPr>
        <p:spPr>
          <a:xfrm xmlns:a="http://schemas.openxmlformats.org/drawingml/2006/main">
            <a:off x="10944225" y="4391025"/>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3</a:t>
            </a:r>
          </a:p>
        </p:txBody>
      </p:sp>
      <p:sp>
        <p:nvSpPr>
          <p:cNvPr id="72" name="">
            <a:extLst xmlns:a="http://schemas.openxmlformats.org/drawingml/2006/main">
              <a:ext uri="{FF2B5EF4-FFF2-40B4-BE49-F238E27FC236}">
                <a16:creationId xmlns:a16="http://schemas.microsoft.com/office/drawing/2014/main" id="{B2B951CC-6C50-40A9-989C-464DFAF13B72}"/>
              </a:ext>
            </a:extLst>
          </p:cNvPr>
          <p:cNvSpPr>
            <a:spLocks xmlns:a="http://schemas.openxmlformats.org/drawingml/2006/main" noGrp="1"/>
          </p:cNvSpPr>
          <p:nvPr/>
        </p:nvSpPr>
        <p:spPr>
          <a:xfrm xmlns:a="http://schemas.openxmlformats.org/drawingml/2006/main">
            <a:off x="9925050" y="4562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0D9488"/>
            </a:solidFill>
            <a:prstDash val="solid"/>
          </a:ln>
        </p:spPr>
      </p:sp>
      <p:sp>
        <p:nvSpPr>
          <p:cNvPr id="73" name="">
            <a:extLst xmlns:a="http://schemas.openxmlformats.org/drawingml/2006/main">
              <a:ext uri="{FF2B5EF4-FFF2-40B4-BE49-F238E27FC236}">
                <a16:creationId xmlns:a16="http://schemas.microsoft.com/office/drawing/2014/main" id="{AD175F4B-97F5-4796-80B8-8962788203F3}"/>
              </a:ext>
            </a:extLst>
          </p:cNvPr>
          <p:cNvSpPr>
            <a:spLocks xmlns:a="http://schemas.openxmlformats.org/drawingml/2006/main" noGrp="1"/>
          </p:cNvSpPr>
          <p:nvPr/>
        </p:nvSpPr>
        <p:spPr>
          <a:xfrm xmlns:a="http://schemas.openxmlformats.org/drawingml/2006/main">
            <a:off x="9944100" y="4591050"/>
            <a:ext cx="152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D9488"/>
                </a:solidFill>
                <a:latin typeface="Aptos"/>
                <a:ea typeface="Aptos"/>
                <a:cs typeface="Aptos"/>
              </a:defRPr>
            </a:pPr>
            <a:r>
              <a:rPr sz="675" b="1">
                <a:solidFill>
                  <a:srgbClr val="0D9488"/>
                </a:solidFill>
                <a:latin typeface="Aptos"/>
                <a:ea typeface="Aptos"/>
                <a:cs typeface="Aptos"/>
              </a:rPr>
              <a:t>4</a:t>
            </a:r>
          </a:p>
        </p:txBody>
      </p:sp>
      <p:sp>
        <p:nvSpPr>
          <p:cNvPr id="74" name="">
            <a:extLst xmlns:a="http://schemas.openxmlformats.org/drawingml/2006/main">
              <a:ext uri="{FF2B5EF4-FFF2-40B4-BE49-F238E27FC236}">
                <a16:creationId xmlns:a16="http://schemas.microsoft.com/office/drawing/2014/main" id="{9E88FA35-31B5-49F7-857C-43D644CA6B9E}"/>
              </a:ext>
            </a:extLst>
          </p:cNvPr>
          <p:cNvSpPr>
            <a:spLocks xmlns:a="http://schemas.openxmlformats.org/drawingml/2006/main" noGrp="1"/>
          </p:cNvSpPr>
          <p:nvPr/>
        </p:nvSpPr>
        <p:spPr>
          <a:xfrm xmlns:a="http://schemas.openxmlformats.org/drawingml/2006/main">
            <a:off x="8763000" y="3257550"/>
            <a:ext cx="1104900" cy="323850"/>
          </a:xfrm>
          <a:prstGeom xmlns:a="http://schemas.openxmlformats.org/drawingml/2006/main" prst="roundRect">
            <a:avLst>
              <a:gd name="adj" fmla="val 23529"/>
            </a:avLst>
          </a:prstGeom>
          <a:solidFill xmlns:a="http://schemas.openxmlformats.org/drawingml/2006/main">
            <a:srgbClr val="ECFDF3"/>
          </a:solidFill>
          <a:ln xmlns:a="http://schemas.openxmlformats.org/drawingml/2006/main" w="9525">
            <a:solidFill>
              <a:srgbClr val="B9E7C9"/>
            </a:solidFill>
            <a:prstDash val="solid"/>
          </a:ln>
        </p:spPr>
      </p:sp>
      <p:sp>
        <p:nvSpPr>
          <p:cNvPr id="75" name="">
            <a:extLst xmlns:a="http://schemas.openxmlformats.org/drawingml/2006/main">
              <a:ext uri="{FF2B5EF4-FFF2-40B4-BE49-F238E27FC236}">
                <a16:creationId xmlns:a16="http://schemas.microsoft.com/office/drawing/2014/main" id="{CCF32123-3D7F-4802-9D25-56BA5E51448B}"/>
              </a:ext>
            </a:extLst>
          </p:cNvPr>
          <p:cNvSpPr>
            <a:spLocks xmlns:a="http://schemas.openxmlformats.org/drawingml/2006/main" noGrp="1"/>
          </p:cNvSpPr>
          <p:nvPr/>
        </p:nvSpPr>
        <p:spPr>
          <a:xfrm xmlns:a="http://schemas.openxmlformats.org/drawingml/2006/main">
            <a:off x="8858250" y="3324225"/>
            <a:ext cx="914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6A34A"/>
                </a:solidFill>
                <a:latin typeface="Aptos"/>
                <a:ea typeface="Aptos"/>
                <a:cs typeface="Aptos"/>
              </a:defRPr>
            </a:pPr>
            <a:r>
              <a:rPr sz="788" b="1">
                <a:solidFill>
                  <a:srgbClr val="16A34A"/>
                </a:solidFill>
                <a:latin typeface="Aptos"/>
                <a:ea typeface="Aptos"/>
                <a:cs typeface="Aptos"/>
              </a:rPr>
              <a:t>nächster Stop = kleinster Score</a:t>
            </a:r>
          </a:p>
        </p:txBody>
      </p:sp>
      <p:sp>
        <p:nvSpPr>
          <p:cNvPr id="76" name="">
            <a:extLst xmlns:a="http://schemas.openxmlformats.org/drawingml/2006/main">
              <a:ext uri="{FF2B5EF4-FFF2-40B4-BE49-F238E27FC236}">
                <a16:creationId xmlns:a16="http://schemas.microsoft.com/office/drawing/2014/main" id="{131E337A-B2BE-4BB4-89FD-C783C2404FFB}"/>
              </a:ext>
            </a:extLst>
          </p:cNvPr>
          <p:cNvSpPr>
            <a:spLocks xmlns:a="http://schemas.openxmlformats.org/drawingml/2006/main" noGrp="1"/>
          </p:cNvSpPr>
          <p:nvPr/>
        </p:nvSpPr>
        <p:spPr>
          <a:xfrm xmlns:a="http://schemas.openxmlformats.org/drawingml/2006/main">
            <a:off x="8591550" y="5429250"/>
            <a:ext cx="114300" cy="114300"/>
          </a:xfrm>
          <a:prstGeom xmlns:a="http://schemas.openxmlformats.org/drawingml/2006/main" prst="roundRect">
            <a:avLst>
              <a:gd name="adj" fmla="val 50000"/>
            </a:avLst>
          </a:prstGeom>
          <a:solidFill xmlns:a="http://schemas.openxmlformats.org/drawingml/2006/main">
            <a:srgbClr val="0F4C81"/>
          </a:solidFill>
          <a:ln xmlns:a="http://schemas.openxmlformats.org/drawingml/2006/main" w="0">
            <a:solidFill>
              <a:srgbClr val="000000">
                <a:alpha val="0"/>
              </a:srgbClr>
            </a:solidFill>
            <a:prstDash val="solid"/>
          </a:ln>
        </p:spPr>
      </p:sp>
      <p:sp>
        <p:nvSpPr>
          <p:cNvPr id="77" name="">
            <a:extLst xmlns:a="http://schemas.openxmlformats.org/drawingml/2006/main">
              <a:ext uri="{FF2B5EF4-FFF2-40B4-BE49-F238E27FC236}">
                <a16:creationId xmlns:a16="http://schemas.microsoft.com/office/drawing/2014/main" id="{79732648-3FED-444C-9FB2-7E23C318A8D8}"/>
              </a:ext>
            </a:extLst>
          </p:cNvPr>
          <p:cNvSpPr>
            <a:spLocks xmlns:a="http://schemas.openxmlformats.org/drawingml/2006/main" noGrp="1"/>
          </p:cNvSpPr>
          <p:nvPr/>
        </p:nvSpPr>
        <p:spPr>
          <a:xfrm xmlns:a="http://schemas.openxmlformats.org/drawingml/2006/main">
            <a:off x="8763000" y="5410200"/>
            <a:ext cx="36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Hub</a:t>
            </a:r>
          </a:p>
        </p:txBody>
      </p:sp>
      <p:sp>
        <p:nvSpPr>
          <p:cNvPr id="78" name="">
            <a:extLst xmlns:a="http://schemas.openxmlformats.org/drawingml/2006/main">
              <a:ext uri="{FF2B5EF4-FFF2-40B4-BE49-F238E27FC236}">
                <a16:creationId xmlns:a16="http://schemas.microsoft.com/office/drawing/2014/main" id="{2372A29B-CD59-42ED-BAF9-72A652FF4201}"/>
              </a:ext>
            </a:extLst>
          </p:cNvPr>
          <p:cNvSpPr>
            <a:spLocks xmlns:a="http://schemas.openxmlformats.org/drawingml/2006/main" noGrp="1"/>
          </p:cNvSpPr>
          <p:nvPr/>
        </p:nvSpPr>
        <p:spPr>
          <a:xfrm xmlns:a="http://schemas.openxmlformats.org/drawingml/2006/main">
            <a:off x="9334500" y="5429250"/>
            <a:ext cx="114300" cy="114300"/>
          </a:xfrm>
          <a:prstGeom xmlns:a="http://schemas.openxmlformats.org/drawingml/2006/main" prst="ellipse">
            <a:avLst/>
          </a:prstGeom>
          <a:solidFill xmlns:a="http://schemas.openxmlformats.org/drawingml/2006/main">
            <a:srgbClr val="FFFFFF"/>
          </a:solidFill>
          <a:ln xmlns:a="http://schemas.openxmlformats.org/drawingml/2006/main" w="9525">
            <a:solidFill>
              <a:srgbClr val="0D9488"/>
            </a:solidFill>
            <a:prstDash val="solid"/>
          </a:ln>
        </p:spPr>
      </p:sp>
      <p:sp>
        <p:nvSpPr>
          <p:cNvPr id="79" name="">
            <a:extLst xmlns:a="http://schemas.openxmlformats.org/drawingml/2006/main">
              <a:ext uri="{FF2B5EF4-FFF2-40B4-BE49-F238E27FC236}">
                <a16:creationId xmlns:a16="http://schemas.microsoft.com/office/drawing/2014/main" id="{71F7A5A9-5769-4B2E-AF9E-323CF9639282}"/>
              </a:ext>
            </a:extLst>
          </p:cNvPr>
          <p:cNvSpPr>
            <a:spLocks xmlns:a="http://schemas.openxmlformats.org/drawingml/2006/main" noGrp="1"/>
          </p:cNvSpPr>
          <p:nvPr/>
        </p:nvSpPr>
        <p:spPr>
          <a:xfrm xmlns:a="http://schemas.openxmlformats.org/drawingml/2006/main">
            <a:off x="9505950" y="5410200"/>
            <a:ext cx="685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Apotheke</a:t>
            </a:r>
          </a:p>
        </p:txBody>
      </p:sp>
      <p:sp>
        <p:nvSpPr>
          <p:cNvPr id="80" name="">
            <a:extLst xmlns:a="http://schemas.openxmlformats.org/drawingml/2006/main">
              <a:ext uri="{FF2B5EF4-FFF2-40B4-BE49-F238E27FC236}">
                <a16:creationId xmlns:a16="http://schemas.microsoft.com/office/drawing/2014/main" id="{2DF557B0-D538-48DA-BEBA-1552BC64871F}"/>
              </a:ext>
            </a:extLst>
          </p:cNvPr>
          <p:cNvSpPr>
            <a:spLocks xmlns:a="http://schemas.openxmlformats.org/drawingml/2006/main" noGrp="1"/>
          </p:cNvSpPr>
          <p:nvPr/>
        </p:nvSpPr>
        <p:spPr>
          <a:xfrm xmlns:a="http://schemas.openxmlformats.org/drawingml/2006/main">
            <a:off x="10344150" y="5429250"/>
            <a:ext cx="114300" cy="114300"/>
          </a:xfrm>
          <a:prstGeom xmlns:a="http://schemas.openxmlformats.org/drawingml/2006/main" prst="ellipse">
            <a:avLst/>
          </a:prstGeom>
          <a:solidFill xmlns:a="http://schemas.openxmlformats.org/drawingml/2006/main">
            <a:srgbClr val="D97706"/>
          </a:solidFill>
          <a:ln xmlns:a="http://schemas.openxmlformats.org/drawingml/2006/main" w="0">
            <a:solidFill>
              <a:srgbClr val="000000">
                <a:alpha val="0"/>
              </a:srgbClr>
            </a:solidFill>
            <a:prstDash val="solid"/>
          </a:ln>
        </p:spPr>
      </p:sp>
      <p:sp>
        <p:nvSpPr>
          <p:cNvPr id="81" name="">
            <a:extLst xmlns:a="http://schemas.openxmlformats.org/drawingml/2006/main">
              <a:ext uri="{FF2B5EF4-FFF2-40B4-BE49-F238E27FC236}">
                <a16:creationId xmlns:a16="http://schemas.microsoft.com/office/drawing/2014/main" id="{6A06D835-2F9B-4D02-B607-C02E09207951}"/>
              </a:ext>
            </a:extLst>
          </p:cNvPr>
          <p:cNvSpPr>
            <a:spLocks xmlns:a="http://schemas.openxmlformats.org/drawingml/2006/main" noGrp="1"/>
          </p:cNvSpPr>
          <p:nvPr/>
        </p:nvSpPr>
        <p:spPr>
          <a:xfrm xmlns:a="http://schemas.openxmlformats.org/drawingml/2006/main">
            <a:off x="10515600" y="5410200"/>
            <a:ext cx="590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gewählt</a:t>
            </a:r>
          </a:p>
        </p:txBody>
      </p:sp>
      <p:sp>
        <p:nvSpPr>
          <p:cNvPr id="82" name="">
            <a:extLst xmlns:a="http://schemas.openxmlformats.org/drawingml/2006/main">
              <a:ext uri="{FF2B5EF4-FFF2-40B4-BE49-F238E27FC236}">
                <a16:creationId xmlns:a16="http://schemas.microsoft.com/office/drawing/2014/main" id="{45B5E67D-788B-478B-8FD3-640D8137BCD8}"/>
              </a:ext>
            </a:extLst>
          </p:cNvPr>
          <p:cNvSpPr>
            <a:spLocks xmlns:a="http://schemas.openxmlformats.org/drawingml/2006/main" noGrp="1"/>
          </p:cNvSpPr>
          <p:nvPr/>
        </p:nvSpPr>
        <p:spPr>
          <a:xfrm xmlns:a="http://schemas.openxmlformats.org/drawingml/2006/main">
            <a:off x="647700" y="6115050"/>
            <a:ext cx="10515600" cy="9525"/>
          </a:xfrm>
          <a:prstGeom xmlns:a="http://schemas.openxmlformats.org/drawingml/2006/main" prst="rect">
            <a:avLst/>
          </a:prstGeom>
          <a:solidFill xmlns:a="http://schemas.openxmlformats.org/drawingml/2006/main">
            <a:srgbClr val="D7DEE8"/>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EE974DBE-9C5D-4873-8097-B52AC44A22D4}"/>
              </a:ext>
            </a:extLst>
          </p:cNvPr>
          <p:cNvSpPr>
            <a:spLocks xmlns:a="http://schemas.openxmlformats.org/drawingml/2006/main" noGrp="1"/>
          </p:cNvSpPr>
          <p:nvPr/>
        </p:nvSpPr>
        <p:spPr>
          <a:xfrm xmlns:a="http://schemas.openxmlformats.org/drawingml/2006/main">
            <a:off x="647700" y="61912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Optimierung von Logistikrouten</a:t>
            </a:r>
          </a:p>
        </p:txBody>
      </p:sp>
      <p:sp>
        <p:nvSpPr>
          <p:cNvPr id="84" name="">
            <a:extLst xmlns:a="http://schemas.openxmlformats.org/drawingml/2006/main">
              <a:ext uri="{FF2B5EF4-FFF2-40B4-BE49-F238E27FC236}">
                <a16:creationId xmlns:a16="http://schemas.microsoft.com/office/drawing/2014/main" id="{D1EA56FE-6AE4-4421-B052-562657ABB2CC}"/>
              </a:ext>
            </a:extLst>
          </p:cNvPr>
          <p:cNvSpPr>
            <a:spLocks xmlns:a="http://schemas.openxmlformats.org/drawingml/2006/main" noGrp="1"/>
          </p:cNvSpPr>
          <p:nvPr/>
        </p:nvSpPr>
        <p:spPr>
          <a:xfrm xmlns:a="http://schemas.openxmlformats.org/drawingml/2006/main">
            <a:off x="10820400" y="619125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4748B"/>
                </a:solidFill>
                <a:latin typeface="Aptos"/>
                <a:ea typeface="Aptos"/>
                <a:cs typeface="Aptos"/>
              </a:defRPr>
            </a:pPr>
            <a:r>
              <a:rPr sz="750" b="0">
                <a:solidFill>
                  <a:srgbClr val="64748B"/>
                </a:solidFill>
                <a:latin typeface="Aptos"/>
                <a:ea typeface="Aptos"/>
                <a:cs typeface="Aptos"/>
              </a:rPr>
              <a:t>06</a:t>
            </a:r>
          </a:p>
        </p:txBody>
      </p:sp>
    </p:spTree>
    <p:extLst>
      <p:ext uri="{BB962C8B-B14F-4D97-AF65-F5344CB8AC3E}">
        <p14:creationId xmlns:p14="http://schemas.microsoft.com/office/powerpoint/2010/main" val="420314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2026-06-10T23:30:11.7630000Z</dcterms:created>
  <dcterms:modified xsi:type="dcterms:W3CDTF">2026-06-10T23:30:11.7630000Z</dcterms:modified>
</coreProperties>
</file>