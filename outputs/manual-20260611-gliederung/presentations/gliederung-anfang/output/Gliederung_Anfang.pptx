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e3442b999345ae" /><Relationship Type="http://schemas.openxmlformats.org/officeDocument/2006/relationships/extended-properties" Target="/docProps/app.xml" Id="R1429c075f66e4ecf" /><Relationship Type="http://schemas.openxmlformats.org/officeDocument/2006/relationships/officeDocument" Target="/ppt/presentation.xml" Id="R6cb81fa6fe054b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33e8bc622f4ae9"/>
  </p:sldMasterIdLst>
  <p:notesMasterIdLst>
    <p:notesMasterId xmlns:r="http://schemas.openxmlformats.org/officeDocument/2006/relationships" r:id="Rea7af53ca8184e95"/>
  </p:notesMasterIdLst>
  <p:sldIdLst>
    <p:sldId xmlns:r="http://schemas.openxmlformats.org/officeDocument/2006/relationships" id="256" r:id="R6e503b02fa0146a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70baa84bae42bb" /><Relationship Type="http://schemas.openxmlformats.org/officeDocument/2006/relationships/slideMaster" Target="/ppt/slideMasters/slideMaster1.xml" Id="R2333e8bc622f4ae9" /><Relationship Type="http://schemas.openxmlformats.org/officeDocument/2006/relationships/notesMaster" Target="/ppt/notesMasters/notesMaster1.xml" Id="Rea7af53ca8184e95" /><Relationship Type="http://schemas.openxmlformats.org/officeDocument/2006/relationships/presProps" Target="/ppt/presProps.xml" Id="R69216658d8e34e21" /><Relationship Type="http://schemas.openxmlformats.org/officeDocument/2006/relationships/viewProps" Target="/ppt/viewProps.xml" Id="R7338127258774f9d" /><Relationship Type="http://schemas.openxmlformats.org/officeDocument/2006/relationships/tableStyles" Target="/ppt/tableStyles.xml" Id="Ra86f9e1f50d7457b" /><Relationship Type="http://schemas.openxmlformats.org/officeDocument/2006/relationships/slide" Target="/ppt/slides/slide1.xml" Id="R6e503b02fa0146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bb8b44b97949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28bcc75ac34d42" /><Relationship Type="http://schemas.openxmlformats.org/officeDocument/2006/relationships/notesMaster" Target="/ppt/notesMasters/notesMaster1.xml" Id="R4c744fee9ceb41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987a078f447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7bc8e6c81d4cff" /><Relationship Type="http://schemas.openxmlformats.org/officeDocument/2006/relationships/slideLayout" Target="/ppt/slideLayouts/slideLayout1.xml" Id="R0f499492ad624f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499492ad624f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d440bfe6d4a3c" /><Relationship Type="http://schemas.openxmlformats.org/officeDocument/2006/relationships/image" Target="/ppt/media/image.png" Id="R0001ac2e17354e2a" /><Relationship Type="http://schemas.openxmlformats.org/officeDocument/2006/relationships/image" Target="/ppt/media/image.svg" Id="Rdf137bd33c6140e4" /><Relationship Type="http://schemas.openxmlformats.org/officeDocument/2006/relationships/image" Target="/ppt/media/image2.png" Id="Rebf22353c4f74fda" /><Relationship Type="http://schemas.openxmlformats.org/officeDocument/2006/relationships/image" Target="/ppt/media/image2.svg" Id="R84f21417b2474e87" /><Relationship Type="http://schemas.openxmlformats.org/officeDocument/2006/relationships/image" Target="/ppt/media/image3.png" Id="R9477b54fff20447d" /><Relationship Type="http://schemas.openxmlformats.org/officeDocument/2006/relationships/image" Target="/ppt/media/image3.svg" Id="R03da7221873b49d5" /><Relationship Type="http://schemas.openxmlformats.org/officeDocument/2006/relationships/image" Target="/ppt/media/image4.png" Id="Rf0dbd700f47d4acf" /><Relationship Type="http://schemas.openxmlformats.org/officeDocument/2006/relationships/image" Target="/ppt/media/image4.svg" Id="R810f6328e74e46f3" /><Relationship Type="http://schemas.openxmlformats.org/officeDocument/2006/relationships/image" Target="/ppt/media/image5.png" Id="R5cadf74888f84be3" /><Relationship Type="http://schemas.openxmlformats.org/officeDocument/2006/relationships/image" Target="/ppt/media/image5.svg" Id="R4ce25d9e7ab74539" /><Relationship Type="http://schemas.openxmlformats.org/officeDocument/2006/relationships/image" Target="/ppt/media/image6.png" Id="R0ec369738d074d5d" /><Relationship Type="http://schemas.openxmlformats.org/officeDocument/2006/relationships/image" Target="/ppt/media/image6.svg" Id="R46b0c42463734860" /><Relationship Type="http://schemas.openxmlformats.org/officeDocument/2006/relationships/image" Target="/ppt/media/image7.png" Id="R106f6081391f4420" /><Relationship Type="http://schemas.openxmlformats.org/officeDocument/2006/relationships/image" Target="/ppt/media/image7.svg" Id="R6817d7813ac64747" /><Relationship Type="http://schemas.openxmlformats.org/officeDocument/2006/relationships/image" Target="/ppt/media/image8.png" Id="Rea1b678f5b054a27" /><Relationship Type="http://schemas.openxmlformats.org/officeDocument/2006/relationships/image" Target="/ppt/media/image8.svg" Id="R91411932ce824d74" /><Relationship Type="http://schemas.openxmlformats.org/officeDocument/2006/relationships/image" Target="/ppt/media/image9.png" Id="Ra198e136b1c24ce5" /><Relationship Type="http://schemas.openxmlformats.org/officeDocument/2006/relationships/image" Target="/ppt/media/image9.svg" Id="R81078cf8b1aa4888" /><Relationship Type="http://schemas.openxmlformats.org/officeDocument/2006/relationships/image" Target="/ppt/media/image10.png" Id="Rb6027b81ec4b48f4" /><Relationship Type="http://schemas.openxmlformats.org/officeDocument/2006/relationships/image" Target="/ppt/media/image10.svg" Id="R3c322aa915564703" /><Relationship Type="http://schemas.openxmlformats.org/officeDocument/2006/relationships/image" Target="/ppt/media/image11.png" Id="Rccbe5d34afd045c6" /><Relationship Type="http://schemas.openxmlformats.org/officeDocument/2006/relationships/image" Target="/ppt/media/image11.svg" Id="Race25276edc34963" /><Relationship Type="http://schemas.openxmlformats.org/officeDocument/2006/relationships/notesSlide" Target="/ppt/notesSlides/notesSlide1.xml" Id="Ref04a253b13f4c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EBC2A9-6813-4CEB-97EB-C62C90D3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B9376-BC99-435F-9C48-7163E904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5325A-4C6A-42C7-9566-F2422377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762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F4C81"/>
                </a:solidFill>
                <a:latin typeface="Aptos Display"/>
                <a:ea typeface="Aptos Display"/>
                <a:cs typeface="Aptos Display"/>
              </a:rPr>
              <a:t>ÜBERBLICK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1E006-51FA-49F6-91AE-7F1E6B20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Gliederung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2EDD0-9F60-4358-81C9-E45BB27C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Vom Pharma-Anwendungsfall zur optimierten Route: Bedarf, Optimierung, Architektur, Ergebnis und Ausblick.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D51D7-F260-423C-B5AC-BF8AE75F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085850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E44FF-0E1D-4DEA-A1EB-94199D68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028700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BF7"/>
          </a:solidFill>
          <a:ln xmlns:a="http://schemas.openxmlformats.org/drawingml/2006/main" w="9525">
            <a:solidFill>
              <a:srgbClr val="A7E2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DCC8E-4688-45E2-8901-BEBF83D1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0287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BCDF8-6F90-4B29-9514-E90DD51C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2001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D9488"/>
                </a:solidFill>
                <a:latin typeface="Aptos Display"/>
                <a:ea typeface="Aptos Display"/>
                <a:cs typeface="Aptos Display"/>
              </a:rPr>
              <a:t>Leitfrage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C221D-90F1-4415-9051-B4D8551B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38275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Wie lassen sich Apotheken in der Schweiz effizient, pünktlich und CO₂-bewusst beliefern?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8D972-4BD8-4E7F-8292-1CE9F8AD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143375" y="2990850"/>
            <a:ext cx="5715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B4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36B0F-4980-4806-8BDC-B9F604EA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800975" y="2990850"/>
            <a:ext cx="5715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B4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1ac2e17354e2a">
            <a:extLst>
              <a:ext uri="{96DAC541-7B7A-43D3-8B79-37D633B846F1}">
                <asvg:svgBlip xmlns:asvg="http://schemas.microsoft.com/office/drawing/2016/SVG/main" r:embed="Rdf137bd33c6140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95725" y="28765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22353c4f74fda">
            <a:extLst>
              <a:ext uri="{96DAC541-7B7A-43D3-8B79-37D633B846F1}">
                <asvg:svgBlip xmlns:asvg="http://schemas.microsoft.com/office/drawing/2016/SVG/main" r:embed="R84f21417b2474e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53325" y="2876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4F611-BD1A-498E-A6CF-3E590D04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58350" y="3562350"/>
            <a:ext cx="38100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B4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89956-9015-4161-A409-93E5CFA8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658350" y="3943350"/>
            <a:ext cx="731520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B4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EBF20-C928-45AA-AAA6-32E73A41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343150" y="3943350"/>
            <a:ext cx="20955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B4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7b54fff20447d">
            <a:extLst>
              <a:ext uri="{96DAC541-7B7A-43D3-8B79-37D633B846F1}">
                <asvg:svgBlip xmlns:asvg="http://schemas.microsoft.com/office/drawing/2016/SVG/main" r:embed="R03da7221873b49d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28850" y="39433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5A10F6-0DA9-46FE-AB9A-E2B9062D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143375" y="4724400"/>
            <a:ext cx="5715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B4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3FCDC7-95C4-4FA5-A8BF-F79D8B06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800975" y="4724400"/>
            <a:ext cx="5715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B4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bd700f47d4acf">
            <a:extLst>
              <a:ext uri="{96DAC541-7B7A-43D3-8B79-37D633B846F1}">
                <asvg:svgBlip xmlns:asvg="http://schemas.microsoft.com/office/drawing/2016/SVG/main" r:embed="R810f6328e74e46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95725" y="461010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df74888f84be3">
            <a:extLst>
              <a:ext uri="{96DAC541-7B7A-43D3-8B79-37D633B846F1}">
                <asvg:svgBlip xmlns:asvg="http://schemas.microsoft.com/office/drawing/2016/SVG/main" r:embed="R4ce25d9e7ab745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53325" y="46101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C9DF2-8D5D-46FD-97CA-3501571E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390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0A80FC-74D0-4E85-84CF-5024FFCF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3390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D10394-560A-476D-9BE4-EC6193F9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8D692F-28A6-44FB-9DD1-2F85C9F9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1B2A94-965F-41B7-9CAC-9F523975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369738d074d5d">
            <a:extLst>
              <a:ext uri="{96DAC541-7B7A-43D3-8B79-37D633B846F1}">
                <asvg:svgBlip xmlns:asvg="http://schemas.microsoft.com/office/drawing/2016/SVG/main" r:embed="R46b0c424637348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81400" y="2724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1EAA1A-236A-447F-BC1E-208827CD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8605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Anwendungsfall &amp; Ziel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F17613-7082-4E65-A7B9-A750FBAF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52750"/>
            <a:ext cx="243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Pharma-Distribution, Apothekenfokus und Optimierungsziel.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CBB45C-3E78-4D83-92AA-5D2D8C3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3390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2B5B14-FFBC-4E1C-A2B8-200576E5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95550"/>
            <a:ext cx="3390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52CA63-C662-4921-9E6F-88CC604A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955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6D99AF-B29A-4AB9-BF06-7CAC6C35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547E3F-A0E5-4117-8D21-67A81BD4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527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f6081391f4420">
            <a:extLst>
              <a:ext uri="{96DAC541-7B7A-43D3-8B79-37D633B846F1}">
                <asvg:svgBlip xmlns:asvg="http://schemas.microsoft.com/office/drawing/2016/SVG/main" r:embed="R6817d7813ac647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0" y="2724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4D7CBE-4F94-427D-8F15-2CE828B2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8605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Datenbasis &amp; Bedarf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73AF80-DB2D-471D-8D40-95E87170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52750"/>
            <a:ext cx="243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Apotheken, Bevölkerung, Nachfrage und reale Straßendaten.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B4D525-DD10-4C2E-8566-6887D47D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52700"/>
            <a:ext cx="3390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68134D-54C6-4015-B899-24E52254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95550"/>
            <a:ext cx="3390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FC87C6-B2AC-42A3-B58C-3845F666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955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E3E798-DF01-425E-8F39-4C434E0E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05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2D99FE-21F1-4453-AD4D-A281F30B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527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b678f5b054a27">
            <a:extLst>
              <a:ext uri="{96DAC541-7B7A-43D3-8B79-37D633B846F1}">
                <asvg:svgBlip xmlns:asvg="http://schemas.microsoft.com/office/drawing/2016/SVG/main" r:embed="R91411932ce824d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2724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6B8576-2F03-4661-B07B-9560A290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Optimierungs-Pipeline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EC1207-053D-4D11-9CEA-5D9033CE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52750"/>
            <a:ext cx="243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Bedarf, Hub-Placement, Einzugsgebiete und Routen.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8FB713-9577-4CCC-869A-E1CC44BF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390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3232C0-C9BB-408B-ADBF-EFBBE4CE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3390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BE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9F7413-1FB9-4C88-9AFE-C56B3D9E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DD3A50-6D6E-444E-932D-84886EC6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4BC1FB-CF66-4719-8A13-EBAAF4FD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8e136b1c24ce5">
            <a:extLst>
              <a:ext uri="{96DAC541-7B7A-43D3-8B79-37D633B846F1}">
                <asvg:svgBlip xmlns:asvg="http://schemas.microsoft.com/office/drawing/2016/SVG/main" r:embed="R81078cf8b1aa48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81400" y="44577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93A222-CBDE-49C7-8CD9-D0471AB3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1960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Routenberechnung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3292A5-6FA2-4DBE-8B1C-FA7A0C71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86300"/>
            <a:ext cx="243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OSRM, Live Traffic, Fahrzeugauswahl, Kosten, Zeit und CO₂.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5E4942-9ADB-49FF-8BE6-F1523344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86250"/>
            <a:ext cx="3390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3479BC-DFE6-433F-91FB-DDD65588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29100"/>
            <a:ext cx="3390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E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E09FB5-9F53-40E0-AFFA-2140D8E5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291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08D507-9C6B-4F06-A237-DFFFA583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38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022678C-3E00-490B-8E3F-FCA31004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862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27b81ec4b48f4">
            <a:extLst>
              <a:ext uri="{96DAC541-7B7A-43D3-8B79-37D633B846F1}">
                <asvg:svgBlip xmlns:asvg="http://schemas.microsoft.com/office/drawing/2016/SVG/main" r:embed="R3c322aa9155647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0" y="44577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EA01A8-16B0-47A3-ABBF-7EB5C73D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1960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Systemarchitektur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9874E11-B07B-44A0-9F14-418EF428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86300"/>
            <a:ext cx="243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Docker-Compose, nginx, FastAPI, Celery, Redis, PostGIS und OSRM.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A42B408-A048-4DDF-A080-765FD96D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86250"/>
            <a:ext cx="3390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CDC012B-E577-4CB7-8E36-51B397C6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29100"/>
            <a:ext cx="3390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19FDEC9-BB70-40ED-8164-2FB855A1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291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AFD592-C0FC-4324-AEC8-116A3336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6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0A7EB26-657B-439D-B7FA-8443345E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862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e5d34afd045c6">
            <a:extLst>
              <a:ext uri="{96DAC541-7B7A-43D3-8B79-37D633B846F1}">
                <asvg:svgBlip xmlns:asvg="http://schemas.microsoft.com/office/drawing/2016/SVG/main" r:embed="Race25276edc349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44577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0CD7F85-99D1-4152-BD75-1B2B8277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1960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Ergebnis &amp; Ausblick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F5FAAE6-B37D-4DB5-8469-D7877805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86300"/>
            <a:ext cx="243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Interpretation, Grenzen und Multi-Trip-VRP als nächster Schritt.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8FED137-6BCC-4285-8A60-236DBF10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6FFA203-7BE2-498C-ADC0-94031FB1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705600"/>
            <a:ext cx="2381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Optimierung von Logistikrouten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050E5DC-B130-4CD9-AE0F-3E2AD455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705600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6648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2026-06-11T11:17:26.9820000Z</dcterms:created>
  <dcterms:modified xsi:type="dcterms:W3CDTF">2026-06-11T11:17:26.9820000Z</dcterms:modified>
</coreProperties>
</file>