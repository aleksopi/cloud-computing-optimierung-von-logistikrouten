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e7de83c0564ccc" /><Relationship Type="http://schemas.openxmlformats.org/officeDocument/2006/relationships/extended-properties" Target="/docProps/app.xml" Id="Ree07b1f8a4e34501" /><Relationship Type="http://schemas.openxmlformats.org/officeDocument/2006/relationships/officeDocument" Target="/ppt/presentation.xml" Id="Rc6841e77445446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bc62ef9ed94693"/>
  </p:sldMasterIdLst>
  <p:notesMasterIdLst>
    <p:notesMasterId xmlns:r="http://schemas.openxmlformats.org/officeDocument/2006/relationships" r:id="R8d36f1b31a3d4d12"/>
  </p:notesMasterIdLst>
  <p:sldIdLst>
    <p:sldId xmlns:r="http://schemas.openxmlformats.org/officeDocument/2006/relationships" id="256" r:id="R670141fb0f8d4ca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f602f7821645c9" /><Relationship Type="http://schemas.openxmlformats.org/officeDocument/2006/relationships/slideMaster" Target="/ppt/slideMasters/slideMaster1.xml" Id="R53bc62ef9ed94693" /><Relationship Type="http://schemas.openxmlformats.org/officeDocument/2006/relationships/notesMaster" Target="/ppt/notesMasters/notesMaster1.xml" Id="R8d36f1b31a3d4d12" /><Relationship Type="http://schemas.openxmlformats.org/officeDocument/2006/relationships/presProps" Target="/ppt/presProps.xml" Id="Rf75f1fb9305f4515" /><Relationship Type="http://schemas.openxmlformats.org/officeDocument/2006/relationships/viewProps" Target="/ppt/viewProps.xml" Id="R5af26e7800624d2d" /><Relationship Type="http://schemas.openxmlformats.org/officeDocument/2006/relationships/tableStyles" Target="/ppt/tableStyles.xml" Id="Ra2d5b78c5a5249ba" /><Relationship Type="http://schemas.openxmlformats.org/officeDocument/2006/relationships/slide" Target="/ppt/slides/slide1.xml" Id="R670141fb0f8d4c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1e40caeb2c4a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c54479af5a4690" /><Relationship Type="http://schemas.openxmlformats.org/officeDocument/2006/relationships/notesMaster" Target="/ppt/notesMasters/notesMaster1.xml" Id="R8946e8e1bdeb42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3826485c54e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dcafca9670468d" /><Relationship Type="http://schemas.openxmlformats.org/officeDocument/2006/relationships/slideLayout" Target="/ppt/slideLayouts/slideLayout1.xml" Id="R5d713449a3934e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713449a3934e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8ab1b8d254d00" /><Relationship Type="http://schemas.openxmlformats.org/officeDocument/2006/relationships/image" Target="/ppt/media/image.png" Id="R519e4f952d614fa4" /><Relationship Type="http://schemas.openxmlformats.org/officeDocument/2006/relationships/image" Target="/ppt/media/image.svg" Id="Rbc7c7a3563494c9f" /><Relationship Type="http://schemas.openxmlformats.org/officeDocument/2006/relationships/image" Target="/ppt/media/image2.png" Id="R3d3d5c8c725d4f49" /><Relationship Type="http://schemas.openxmlformats.org/officeDocument/2006/relationships/image" Target="/ppt/media/image2.svg" Id="Rd0bd72a7910a42a0" /><Relationship Type="http://schemas.openxmlformats.org/officeDocument/2006/relationships/image" Target="/ppt/media/image3.png" Id="R1fac8abbc5084e78" /><Relationship Type="http://schemas.openxmlformats.org/officeDocument/2006/relationships/image" Target="/ppt/media/image3.svg" Id="R60e818d4df63471b" /><Relationship Type="http://schemas.openxmlformats.org/officeDocument/2006/relationships/image" Target="/ppt/media/image4.png" Id="R1f4acf03551f4f54" /><Relationship Type="http://schemas.openxmlformats.org/officeDocument/2006/relationships/image" Target="/ppt/media/image4.svg" Id="R5626459435f8442f" /><Relationship Type="http://schemas.openxmlformats.org/officeDocument/2006/relationships/image" Target="/ppt/media/image5.png" Id="Rba11d9f3b4f340d1" /><Relationship Type="http://schemas.openxmlformats.org/officeDocument/2006/relationships/image" Target="/ppt/media/image5.svg" Id="R35c999ee84294c02" /><Relationship Type="http://schemas.openxmlformats.org/officeDocument/2006/relationships/image" Target="/ppt/media/image6.png" Id="R32940112f5374308" /><Relationship Type="http://schemas.openxmlformats.org/officeDocument/2006/relationships/image" Target="/ppt/media/image6.svg" Id="R2d6a497b8a5448bf" /><Relationship Type="http://schemas.openxmlformats.org/officeDocument/2006/relationships/image" Target="/ppt/media/image7.png" Id="R7f5c50e9e90e4e43" /><Relationship Type="http://schemas.openxmlformats.org/officeDocument/2006/relationships/image" Target="/ppt/media/image7.svg" Id="R5dbc18117ff54520" /><Relationship Type="http://schemas.openxmlformats.org/officeDocument/2006/relationships/image" Target="/ppt/media/image8.png" Id="Rf9c7d108ed9c46cd" /><Relationship Type="http://schemas.openxmlformats.org/officeDocument/2006/relationships/image" Target="/ppt/media/image8.svg" Id="Rf65e1b25a05f4808" /><Relationship Type="http://schemas.openxmlformats.org/officeDocument/2006/relationships/image" Target="/ppt/media/image9.png" Id="R75276d5959244d3f" /><Relationship Type="http://schemas.openxmlformats.org/officeDocument/2006/relationships/image" Target="/ppt/media/image9.svg" Id="R8a0bc906b2a842bd" /><Relationship Type="http://schemas.openxmlformats.org/officeDocument/2006/relationships/image" Target="/ppt/media/image10.png" Id="R18ddbaee79d24b9d" /><Relationship Type="http://schemas.openxmlformats.org/officeDocument/2006/relationships/image" Target="/ppt/media/image10.svg" Id="Reb41a7567e0e4517" /><Relationship Type="http://schemas.openxmlformats.org/officeDocument/2006/relationships/image" Target="/ppt/media/image11.png" Id="R9a7575bf803f4274" /><Relationship Type="http://schemas.openxmlformats.org/officeDocument/2006/relationships/image" Target="/ppt/media/image11.svg" Id="R8b74e46ac44e4148" /><Relationship Type="http://schemas.openxmlformats.org/officeDocument/2006/relationships/image" Target="/ppt/media/image12.png" Id="Rf601a557e1c64fe3" /><Relationship Type="http://schemas.openxmlformats.org/officeDocument/2006/relationships/image" Target="/ppt/media/image12.svg" Id="R5929c59ed970463c" /><Relationship Type="http://schemas.openxmlformats.org/officeDocument/2006/relationships/notesSlide" Target="/ppt/notesSlides/notesSlide1.xml" Id="Rbc33336fdeb149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72AABF-3EB2-4900-8CE7-D94BDB88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21253-0B99-46A2-B4BD-8F15EAE1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4E46F-7D9F-4179-9C12-C00FEEE7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953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LIEFERKETTE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447FF-5F30-4188-A9BA-49476B27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04900"/>
            <a:ext cx="962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Aufbau der Lieferkette: Backbone und Last-Mile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D63D1-C737-4EAD-A795-69E25683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9906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9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9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Alle Waren starten im HQ Bern. Die Backbone-Ebene versorgt regionale und lokale Hubs; die Last-Mile bringt die Ware von dort zu den Apotheken.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94D11D-6A7B-4323-B662-92BAEAC1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723900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1D74B-F143-47DA-B5C6-17BC5A98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723900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7BAE2-E1C0-4BCE-84AD-B3ED0C32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293B"/>
                </a:solidFill>
                <a:latin typeface="Aptos"/>
                <a:ea typeface="Aptos"/>
                <a:cs typeface="Aptos"/>
              </a:rPr>
              <a:t>Warenfluss im Netz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E94680-F032-491D-8D3F-DEE7CDBF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38400"/>
            <a:ext cx="2095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558BB-DE73-4AB3-84DB-45481280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717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HQ -&gt; VZ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D0CE5-2C7B-49E2-874D-E4C44723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38400"/>
            <a:ext cx="2095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0AF07-A448-4EF8-98AB-B078DC6E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717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VZ -&gt; mVZ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11589-991A-4A9A-B4AE-75718A9F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38400"/>
            <a:ext cx="2095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7F5CDB-DC69-48EA-9EA9-E34EEA0A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717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Hub -&gt; Apotheke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39ED2-8A5A-4142-8EF7-8C03CA26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2095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71E331-C4C4-4B3A-815E-46471273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71725"/>
            <a:ext cx="666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HQ direkt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19AC5-7FC2-4414-9772-A288924C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54522">
            <a:off x="4267200" y="3276600"/>
            <a:ext cx="193908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98CFDD-9863-4F71-AE4D-A9B3DB8D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67200" y="3276600"/>
            <a:ext cx="36195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CA446-C6EB-45F5-8863-8FD8F66C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45478">
            <a:off x="4267200" y="3276600"/>
            <a:ext cx="193908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6F003-A563-4163-91C0-5EF50E9F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24463">
            <a:off x="2362200" y="4267200"/>
            <a:ext cx="67109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18BDC4-7A3F-4102-A1DF-C3C42987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27933">
            <a:off x="2362200" y="4267200"/>
            <a:ext cx="751449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A8ECE8-BFC4-4356-9DBF-CF2C77D8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67200" y="4267200"/>
            <a:ext cx="3810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666790-FCDF-4D1C-B78E-7BE705E2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6896">
            <a:off x="6172200" y="4267200"/>
            <a:ext cx="735093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B32BC0-9179-4341-827A-8ED462D0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21404">
            <a:off x="6172200" y="4267200"/>
            <a:ext cx="68685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120B8-174F-4A78-A130-DC600C07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9B4013-E3A0-4172-9F55-345DA56C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64767C-E832-4C20-A0AC-5DEEEA62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24150"/>
            <a:ext cx="1524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e4f952d614fa4">
            <a:extLst>
              <a:ext uri="{96DAC541-7B7A-43D3-8B79-37D633B846F1}">
                <asvg:svgBlip xmlns:asvg="http://schemas.microsoft.com/office/drawing/2016/SVG/main" r:embed="Rbc7c7a3563494c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38550" y="28575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5382D6-C462-4A14-A74D-DACF4556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38450"/>
            <a:ext cx="971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HQ Bern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4BD3BD-E692-4985-A28E-21C239D1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48000"/>
            <a:ext cx="971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Ursprung aller Waren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247E3D-765A-416C-956A-74681580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71900"/>
            <a:ext cx="1295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B882CB-3B0A-4F19-936D-B5CEE250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1295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A35333-5DCD-48CA-B643-F6425965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14750"/>
            <a:ext cx="1295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d5c8c725d4f49">
            <a:extLst>
              <a:ext uri="{96DAC541-7B7A-43D3-8B79-37D633B846F1}">
                <asvg:svgBlip xmlns:asvg="http://schemas.microsoft.com/office/drawing/2016/SVG/main" r:embed="Rd0bd72a7910a42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47850" y="38481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80BFBB-632E-4035-8F4E-9F6C06FF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29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02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VZ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871A56-A54A-40A4-BED2-D5750632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038600"/>
            <a:ext cx="74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regional · 600 Einh.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33F248-8D67-4B9C-B5F2-8C9DB5A2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71900"/>
            <a:ext cx="1295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2C6F20-E8D2-47C1-B37C-30085B01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1295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343A91-90D2-461A-9586-FD5FEF52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1295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c8abbc5084e78">
            <a:extLst>
              <a:ext uri="{96DAC541-7B7A-43D3-8B79-37D633B846F1}">
                <asvg:svgBlip xmlns:asvg="http://schemas.microsoft.com/office/drawing/2016/SVG/main" r:embed="R60e818d4df6347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52850" y="38481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6D6824-FE67-4073-BEA1-F8E014D8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29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02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VZ 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AA3CF1-05DF-4268-94AA-B9A99256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38600"/>
            <a:ext cx="74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regional · 600 Einh.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8F8C79A-8559-4F23-AC58-AB373F37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71900"/>
            <a:ext cx="1295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25378B-E782-46D0-93A3-8D2BB7B2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1295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685744-AF92-4188-AEE2-AD1BD201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14750"/>
            <a:ext cx="1295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54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acf03551f4f54">
            <a:extLst>
              <a:ext uri="{96DAC541-7B7A-43D3-8B79-37D633B846F1}">
                <asvg:svgBlip xmlns:asvg="http://schemas.microsoft.com/office/drawing/2016/SVG/main" r:embed="R5626459435f844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57850" y="38481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85D348-5E3F-46DB-A29F-A0FCCA5A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829050"/>
            <a:ext cx="742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2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02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VZ 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32C192-9D62-41FF-B088-FE026EEB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38600"/>
            <a:ext cx="74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2454D6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2454D6"/>
                </a:solidFill>
                <a:latin typeface="Aptos"/>
                <a:ea typeface="Aptos"/>
                <a:cs typeface="Aptos"/>
              </a:rPr>
              <a:t>regional · 600 Einh.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FE8B32-805F-49BE-97EA-06CB73D2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8155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AEAB40-E71F-4D23-8AE6-12D99117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244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EBB1FE-E996-435B-A83A-43EA847B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24400"/>
            <a:ext cx="9906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1d9f3b4f340d1">
            <a:extLst>
              <a:ext uri="{96DAC541-7B7A-43D3-8B79-37D633B846F1}">
                <asvg:svgBlip xmlns:asvg="http://schemas.microsoft.com/office/drawing/2016/SVG/main" r:embed="R35c999ee84294c0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47800" y="48577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BA0715-1704-494D-8115-D3D7C348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387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96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mVZ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F9151C-B77C-4D95-87DB-A1859A5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482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lokal · 125 Einh.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7A93B9-5CF8-4B57-9094-B11FD260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78155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C929A1-B7FE-4D6B-831E-3DFC3B2A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244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566E80-B4C0-40A7-8B75-528AD6CE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24400"/>
            <a:ext cx="9906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40112f5374308">
            <a:extLst>
              <a:ext uri="{96DAC541-7B7A-43D3-8B79-37D633B846F1}">
                <asvg:svgBlip xmlns:asvg="http://schemas.microsoft.com/office/drawing/2016/SVG/main" r:embed="R2d6a497b8a5448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47950" y="48577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CDA7ED-73CE-4D88-911E-6C22957F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8387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96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mVZ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EF2591-9E34-4E51-A7D0-BD2822CC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0482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lokal · 125 Einh.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73F410-F5C0-48D5-B5EC-420600D6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8155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8BB4A12-7476-42C5-9F75-DBC0F5CB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244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34DDDD-FB52-4886-8170-C361B32A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724400"/>
            <a:ext cx="9906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c50e9e90e4e43">
            <a:extLst>
              <a:ext uri="{96DAC541-7B7A-43D3-8B79-37D633B846F1}">
                <asvg:svgBlip xmlns:asvg="http://schemas.microsoft.com/office/drawing/2016/SVG/main" r:embed="R5dbc18117ff545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905250" y="48577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032EB0E-3DD9-4314-864F-0C4F93B8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387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96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mVZ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AC03F3-9CED-45D0-A1B6-B30F5374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482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lokal · 125 Einh.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9586483-0747-455A-908B-D3570953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8155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0C8E35D-F82E-4B94-87F0-715D38D8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244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596A043-4F18-4A3B-A11B-968F4D74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24400"/>
            <a:ext cx="9906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7d108ed9c46cd">
            <a:extLst>
              <a:ext uri="{96DAC541-7B7A-43D3-8B79-37D633B846F1}">
                <asvg:svgBlip xmlns:asvg="http://schemas.microsoft.com/office/drawing/2016/SVG/main" r:embed="Rf65e1b25a05f48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181600" y="48577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CB0C92C-9273-47D0-A321-CA81805B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387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96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mVZ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B73227B-C49C-472A-B3C9-5BB6E360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0482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lokal · 125 Einh.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173E2FE-9836-479F-9AE0-8E62B95F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8155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ED0A11A-BAE0-4CA7-B113-06157DEB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24400"/>
            <a:ext cx="9906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4B6C2DA-70E0-4F3E-BAFB-F67FBD5B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24400"/>
            <a:ext cx="9906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276d5959244d3f">
            <a:extLst>
              <a:ext uri="{96DAC541-7B7A-43D3-8B79-37D633B846F1}">
                <asvg:svgBlip xmlns:asvg="http://schemas.microsoft.com/office/drawing/2016/SVG/main" r:embed="R8a0bc906b2a842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1750" y="48577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616DE36-5A16-4D8E-B8A6-2DE558C1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387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6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960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mVZ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F396D89-409E-418A-AF26-E0995F05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438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lokal · 125 Einh.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BBD5C91-4C0E-46C7-AD41-8BE4D73C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1809750" y="5219700"/>
            <a:ext cx="484934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895A1B1-3139-4A0F-98E7-8D274F4A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514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89DA828-52B5-4A11-950E-476F76BE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57192">
            <a:off x="1809750" y="5219700"/>
            <a:ext cx="2476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8F457AC-9C3F-4A10-A419-EECECEFD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0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B1C093E-D9DE-4F5F-9FFE-D402686B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738032">
            <a:off x="1809750" y="5219700"/>
            <a:ext cx="43031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4635922-402F-4176-BD4E-66447FFB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5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6914F3B-4B9A-4300-8E29-CDEF8F6D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290790">
            <a:off x="3009900" y="5219700"/>
            <a:ext cx="485682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2F53966-461E-4642-A8A8-A59625FD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5495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E5D2EF6-D346-40B1-97EF-E6C60E6C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346845">
            <a:off x="3009900" y="5219700"/>
            <a:ext cx="455311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223C226-F4CC-49D4-87AD-FA77AC22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10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39FC857-AB22-4BC7-BF86-CF7BE15A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542175">
            <a:off x="3009900" y="5219700"/>
            <a:ext cx="333239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B0D2BFB-E0B5-43AD-9F68-C890B2C6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457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60EEA13-0FF6-4353-B0CA-2052A867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011872">
            <a:off x="4267200" y="5219700"/>
            <a:ext cx="52551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1F68F13-61AA-4B7B-8EC3-327A0604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55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9785C54-6DD3-4CB0-91AE-96D0E868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426164">
            <a:off x="4267200" y="5219700"/>
            <a:ext cx="259108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171F79A-DAFF-4898-B12E-5B6983CC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419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E35A51A-110A-47BE-86AA-95A4C891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671352">
            <a:off x="4267200" y="5219700"/>
            <a:ext cx="434824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736732F-C771-479D-B962-2D3A7C81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55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D4DA8E6-A1EC-478C-9999-AEB1E547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348677">
            <a:off x="5543550" y="5219700"/>
            <a:ext cx="465947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51D3C33-6D10-41C0-A776-923A014A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47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1A6E187-1845-439E-831D-107A143E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991948">
            <a:off x="5543550" y="5219700"/>
            <a:ext cx="444727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B8298C1-2819-4379-9929-FE5E900B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610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88AEA91-4BDD-4F8B-9093-71CEFAEB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224770">
            <a:off x="5543550" y="5219700"/>
            <a:ext cx="3543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FF5DCB3-4DAA-4F8A-AB87-DBF95B58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5457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0141B98-0967-4ECE-AB82-3EB92E19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6743700" y="5219700"/>
            <a:ext cx="484934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C4D0C40-1D3C-40BF-92EA-C30187C0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514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E34A41A-8D88-4F09-AD6E-6166A1AA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42175">
            <a:off x="6743700" y="5219700"/>
            <a:ext cx="235635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56411EF-2905-43FE-8B55-F968DE30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40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27DE13E-142D-4241-9632-DD23E3FF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418568">
            <a:off x="6743700" y="5219700"/>
            <a:ext cx="454413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DB5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0469898-19C0-4381-A7F6-7D7A5FFC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553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6E3DB19-A161-4A38-926D-BAB9BCC1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10668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0C98D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E7A5B07-0B20-47EA-90E0-040D67FB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819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HQ direkt &lt;=20 km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92283CF-12ED-48F9-9039-1BFCF36A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53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D85A383-456A-4681-8C31-FCD3A336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48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F58DBC7-DF56-457E-92A1-3CE20A7D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15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21D6D72-2A7A-43E4-945A-FC5F3BA7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686425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78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400 Apotheken als Zielpunkte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0020494-F896-4682-991C-C32B3766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33909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95ED66D-8C30-4182-82FF-5B2CDE69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33909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5F5"/>
          </a:solidFill>
          <a:ln xmlns:a="http://schemas.openxmlformats.org/drawingml/2006/main" w="9525">
            <a:solidFill>
              <a:srgbClr val="F2C9C9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5D8DBFB-C3A0-4B8C-B655-A15B77CC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4790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dbaee79d24b9d">
            <a:extLst>
              <a:ext uri="{96DAC541-7B7A-43D3-8B79-37D633B846F1}">
                <asvg:svgBlip xmlns:asvg="http://schemas.microsoft.com/office/drawing/2016/SVG/main" r:embed="Reb41a7567e0e45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01050" y="24193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9E3B523-6614-4FBE-9749-C9B85563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1 Backbone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6C43744-1988-4ABE-AA6E-774DC3D3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2647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Bulk-Transport von HQ -&gt; VZ und VZ -&gt; mVZ. Hier fahren vor allem kapazitaetsstarke Fahrzeuge.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D8D59C0-D447-4335-90B1-C2DE7162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00400"/>
            <a:ext cx="33909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9E6AD4F-5D49-4BE1-AA4E-76EC5FEB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33909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9DBEC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FE34398-92CB-4462-BA45-46EE5DE6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666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575bf803f4274">
            <a:extLst>
              <a:ext uri="{96DAC541-7B7A-43D3-8B79-37D633B846F1}">
                <asvg:svgBlip xmlns:asvg="http://schemas.microsoft.com/office/drawing/2016/SVG/main" r:embed="R8b74e46ac44e41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01050" y="3314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22ADE80-B771-4428-904A-75962C1C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2 Last-Mile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84C8CBF-BC4A-4E91-9C45-1F7BCAF2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43300"/>
            <a:ext cx="2647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Vom Hub zur Apotheke. Jede Hub-Zone wird separat optimiert; Sprinter und Klein-LKW bedienen die Stopps.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71DC79A-78A2-44B5-A1EF-A891B5BA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95750"/>
            <a:ext cx="3390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3E62B1A-7E8F-4D3D-AD72-67243303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33909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1D5AA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1F9B435-7AF7-44C0-9D67-B6DC8FFF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38600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01a557e1c64fe3">
            <a:extLst>
              <a:ext uri="{96DAC541-7B7A-43D3-8B79-37D633B846F1}">
                <asvg:svgBlip xmlns:asvg="http://schemas.microsoft.com/office/drawing/2016/SVG/main" r:embed="R5929c59ed97046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01050" y="42100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A4AA9280-A4FC-4CC4-BD58-F39B4C88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71950"/>
            <a:ext cx="2647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3 HQ-Direkt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9E2C61E-D08B-4C46-9CB0-EA15BF0C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38650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Apotheken im 20-km-Radius koennen direkt aus Bern beliefert werden.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28CE1B8-1587-4EF8-9ED6-65A4E529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72050"/>
            <a:ext cx="3390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D6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E92F823-9782-4F3E-AC48-7CB734A9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14900"/>
            <a:ext cx="3390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952A102-1ABA-4A35-A696-8477A5FC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48250"/>
            <a:ext cx="304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E293B"/>
                </a:solidFill>
                <a:latin typeface="Aptos Display"/>
                <a:ea typeface="Aptos Display"/>
                <a:cs typeface="Aptos Display"/>
              </a:rPr>
              <a:t>Fahrzeuge nach Ebene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5FA97A8-5415-4803-90C4-2CF82CBE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95900"/>
            <a:ext cx="971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9D302F35-136E-4904-A9EB-75D7E6E5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353050"/>
            <a:ext cx="8763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Fahrzeug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4BB3CF5-7A32-4C88-A214-D7771E3E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29590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656B15BE-DCFF-472E-8DA7-DB4E2687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353050"/>
            <a:ext cx="1009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Rolle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6978EF97-AF06-4B04-B39C-FBDD112A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295900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B3E7F62-07E0-4C21-9E74-CE713E49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353050"/>
            <a:ext cx="457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Kap.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F14C39B-33E4-4A54-956D-4AD2EA6E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2959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1B6BA03-1ECA-437A-8C62-6C8455FB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353050"/>
            <a:ext cx="590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CO2/km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CB51339-9570-4CDC-BC9B-EFF7EE5A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505450"/>
            <a:ext cx="971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BFFDED7-07CE-4CAA-86CE-4F51DDF9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543550"/>
            <a:ext cx="876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Sprinter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C336519-370F-4465-9F2B-A6191395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05450"/>
            <a:ext cx="1104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9C64CCD-A665-45C0-8AB0-E64E8400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543550"/>
            <a:ext cx="1009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Last-Mile + Backbone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5FCF77D-7DE5-49B8-ABD2-CE5E076D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505450"/>
            <a:ext cx="552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034BEC0-B2BA-4B04-A10F-133207E7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543550"/>
            <a:ext cx="45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B984C66-DD18-4500-A488-94C3754D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505450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3BC99BC5-0DCD-4CE7-BD4A-12E3DA13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543550"/>
            <a:ext cx="590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185 g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5DF7465-49D8-4FEC-BBF8-1A03560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667375"/>
            <a:ext cx="971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6415562D-B363-4047-AC14-47EA400B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705475"/>
            <a:ext cx="876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Klein-LKW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2BFC8F9-4771-48D6-A277-07050D4E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667375"/>
            <a:ext cx="1104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7F78D124-C3F4-44EC-A1C0-0A1631EF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705475"/>
            <a:ext cx="1009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Last-Mile + Backbone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9D68FDB-AE06-43A5-BC58-1E796320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667375"/>
            <a:ext cx="552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1D679EE-A596-4F66-9C6F-7B5DA4A5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705475"/>
            <a:ext cx="45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0A845EC-FF79-4F9A-AB38-FBE52AF9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667375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ABC2A73-A327-4F84-A7D8-B86D3105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705475"/>
            <a:ext cx="590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230 g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CE1B16F4-AA4C-401F-9FFD-E85DCEA1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829300"/>
            <a:ext cx="971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6A8EACA-1600-4447-A539-FFE96C1F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867400"/>
            <a:ext cx="876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LKW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A8378E3-53F5-412D-9E4E-C2AB9C3D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29300"/>
            <a:ext cx="1104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6147A6A6-9C21-4766-AC7D-8D599E25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867400"/>
            <a:ext cx="1009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Backbone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72E1FBE-F586-4D7E-9C93-F13310D9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829300"/>
            <a:ext cx="552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647EC520-6E1E-4E0A-ABFA-B4B1EBC28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867400"/>
            <a:ext cx="45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200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23188CA-5778-4D85-BAD9-A7A4FA43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829300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89E4506-B9B1-4B21-8965-3FC0A05A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5867400"/>
            <a:ext cx="590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280 g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E8E098B8-C9F4-4F76-9A20-FE52DD18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991225"/>
            <a:ext cx="971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5D58E6F0-028B-42F1-A0A8-F93EA4F9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6029325"/>
            <a:ext cx="8763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Zug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819211A-1FF1-4E51-B1CB-8AB7ABF2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991225"/>
            <a:ext cx="1104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DB16F1A-ECA8-4982-A42C-12F22684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029325"/>
            <a:ext cx="10096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570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Backbone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15D31DD5-D64D-4F27-96F8-2020FD92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91225"/>
            <a:ext cx="5524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ABCF717F-76B5-4561-89D2-36CC73D7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029325"/>
            <a:ext cx="4572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20D8E4B9-1BE5-4E01-91BB-AB8A13DF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991225"/>
            <a:ext cx="6858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DF4"/>
            </a:solidFill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E8ED635-46C8-41FA-9D71-B62B686F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9475" y="6029325"/>
            <a:ext cx="5905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E293B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1E293B"/>
                </a:solidFill>
                <a:latin typeface="Aptos"/>
                <a:ea typeface="Aptos"/>
                <a:cs typeface="Aptos"/>
              </a:rPr>
              <a:t>520 g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7357624-8D6E-4093-A9F5-1CA6A9C7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1030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41115F9-F353-4EB1-9AB2-5EEE2195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00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Optimierung von Logistikrouten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739DF1D1-59F4-4614-BC85-DF7F8F3B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486078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4860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80524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2026-06-11T00:16:01.3200000Z</dcterms:created>
  <dcterms:modified xsi:type="dcterms:W3CDTF">2026-06-11T00:16:01.3200000Z</dcterms:modified>
</coreProperties>
</file>