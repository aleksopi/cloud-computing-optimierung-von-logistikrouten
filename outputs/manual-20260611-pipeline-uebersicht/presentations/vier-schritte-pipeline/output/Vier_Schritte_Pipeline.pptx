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26f8fa69cd401c" /><Relationship Type="http://schemas.openxmlformats.org/officeDocument/2006/relationships/extended-properties" Target="/docProps/app.xml" Id="Rd5e5cf607bcd445d" /><Relationship Type="http://schemas.openxmlformats.org/officeDocument/2006/relationships/officeDocument" Target="/ppt/presentation.xml" Id="R40c201e7698942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6df4052214ba4"/>
  </p:sldMasterIdLst>
  <p:notesMasterIdLst>
    <p:notesMasterId xmlns:r="http://schemas.openxmlformats.org/officeDocument/2006/relationships" r:id="R9658a20262c840f0"/>
  </p:notesMasterIdLst>
  <p:sldIdLst>
    <p:sldId xmlns:r="http://schemas.openxmlformats.org/officeDocument/2006/relationships" id="256" r:id="R2732d0b583f147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49f53d1bee44af" /><Relationship Type="http://schemas.openxmlformats.org/officeDocument/2006/relationships/slideMaster" Target="/ppt/slideMasters/slideMaster1.xml" Id="R6956df4052214ba4" /><Relationship Type="http://schemas.openxmlformats.org/officeDocument/2006/relationships/notesMaster" Target="/ppt/notesMasters/notesMaster1.xml" Id="R9658a20262c840f0" /><Relationship Type="http://schemas.openxmlformats.org/officeDocument/2006/relationships/presProps" Target="/ppt/presProps.xml" Id="R8a27da9362b046b2" /><Relationship Type="http://schemas.openxmlformats.org/officeDocument/2006/relationships/viewProps" Target="/ppt/viewProps.xml" Id="Rb7ef6964c97342e8" /><Relationship Type="http://schemas.openxmlformats.org/officeDocument/2006/relationships/tableStyles" Target="/ppt/tableStyles.xml" Id="R2937b71389724b75" /><Relationship Type="http://schemas.openxmlformats.org/officeDocument/2006/relationships/slide" Target="/ppt/slides/slide1.xml" Id="R2732d0b583f147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5ee2c64cc544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c937af28ee4418" /><Relationship Type="http://schemas.openxmlformats.org/officeDocument/2006/relationships/notesMaster" Target="/ppt/notesMasters/notesMaster1.xml" Id="R368cc83bbd164b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1cfd7803245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1e0a34a29449a3" /><Relationship Type="http://schemas.openxmlformats.org/officeDocument/2006/relationships/slideLayout" Target="/ppt/slideLayouts/slideLayout1.xml" Id="R391fb6709350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fb6709350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07dfd4f324e11" /><Relationship Type="http://schemas.openxmlformats.org/officeDocument/2006/relationships/image" Target="/ppt/media/image.png" Id="R9679b4fbe86e47d1" /><Relationship Type="http://schemas.openxmlformats.org/officeDocument/2006/relationships/image" Target="/ppt/media/image.svg" Id="R55b435724bd7426a" /><Relationship Type="http://schemas.openxmlformats.org/officeDocument/2006/relationships/image" Target="/ppt/media/image2.png" Id="R9e67c04327a54587" /><Relationship Type="http://schemas.openxmlformats.org/officeDocument/2006/relationships/image" Target="/ppt/media/image2.svg" Id="R101ae07f4afc454e" /><Relationship Type="http://schemas.openxmlformats.org/officeDocument/2006/relationships/image" Target="/ppt/media/image3.png" Id="R2c2678aacbb84305" /><Relationship Type="http://schemas.openxmlformats.org/officeDocument/2006/relationships/image" Target="/ppt/media/image3.svg" Id="R3e2cad0ee065495c" /><Relationship Type="http://schemas.openxmlformats.org/officeDocument/2006/relationships/image" Target="/ppt/media/image4.png" Id="Rf5c1d47c88e54d42" /><Relationship Type="http://schemas.openxmlformats.org/officeDocument/2006/relationships/image" Target="/ppt/media/image4.svg" Id="R605d5916ee61415e" /><Relationship Type="http://schemas.openxmlformats.org/officeDocument/2006/relationships/image" Target="/ppt/media/image5.png" Id="R72f89bb339f24c4d" /><Relationship Type="http://schemas.openxmlformats.org/officeDocument/2006/relationships/image" Target="/ppt/media/image5.svg" Id="R3c0a9bc9d51e4ea9" /><Relationship Type="http://schemas.openxmlformats.org/officeDocument/2006/relationships/image" Target="/ppt/media/image6.png" Id="R6aed2c62c2594c4e" /><Relationship Type="http://schemas.openxmlformats.org/officeDocument/2006/relationships/image" Target="/ppt/media/image6.svg" Id="R3b68a498ef95499f" /><Relationship Type="http://schemas.openxmlformats.org/officeDocument/2006/relationships/image" Target="/ppt/media/image7.png" Id="R9800f14063c34d58" /><Relationship Type="http://schemas.openxmlformats.org/officeDocument/2006/relationships/image" Target="/ppt/media/image7.svg" Id="Re2e507ef31674d7f" /><Relationship Type="http://schemas.openxmlformats.org/officeDocument/2006/relationships/image" Target="/ppt/media/image8.png" Id="Re49cca2c8e434cee" /><Relationship Type="http://schemas.openxmlformats.org/officeDocument/2006/relationships/image" Target="/ppt/media/image8.svg" Id="R05839e7b7ae24d69" /><Relationship Type="http://schemas.openxmlformats.org/officeDocument/2006/relationships/image" Target="/ppt/media/image9.png" Id="R95716dda99ee4605" /><Relationship Type="http://schemas.openxmlformats.org/officeDocument/2006/relationships/image" Target="/ppt/media/image9.svg" Id="Rdf7bea3476cf4ae6" /><Relationship Type="http://schemas.openxmlformats.org/officeDocument/2006/relationships/image" Target="/ppt/media/image10.png" Id="R8ac342a039c84504" /><Relationship Type="http://schemas.openxmlformats.org/officeDocument/2006/relationships/image" Target="/ppt/media/image10.svg" Id="R907d0def5a8844c6" /><Relationship Type="http://schemas.openxmlformats.org/officeDocument/2006/relationships/image" Target="/ppt/media/image11.png" Id="R7dc63b3f1d5b4a50" /><Relationship Type="http://schemas.openxmlformats.org/officeDocument/2006/relationships/image" Target="/ppt/media/image11.svg" Id="R8e37976f74f7400d" /><Relationship Type="http://schemas.openxmlformats.org/officeDocument/2006/relationships/image" Target="/ppt/media/image12.png" Id="Re945d395295b4890" /><Relationship Type="http://schemas.openxmlformats.org/officeDocument/2006/relationships/image" Target="/ppt/media/image12.svg" Id="Raf3b3d35e5f74508" /><Relationship Type="http://schemas.openxmlformats.org/officeDocument/2006/relationships/image" Target="/ppt/media/image13.png" Id="Ra9d6d30b57784e97" /><Relationship Type="http://schemas.openxmlformats.org/officeDocument/2006/relationships/image" Target="/ppt/media/image13.svg" Id="Re0a62c5708ac450e" /><Relationship Type="http://schemas.openxmlformats.org/officeDocument/2006/relationships/image" Target="/ppt/media/image14.png" Id="R2e509d02fda74e86" /><Relationship Type="http://schemas.openxmlformats.org/officeDocument/2006/relationships/image" Target="/ppt/media/image14.svg" Id="Rdb7b220ef49f450e" /><Relationship Type="http://schemas.openxmlformats.org/officeDocument/2006/relationships/notesSlide" Target="/ppt/notesSlides/notesSlide1.xml" Id="R025c7daf58f048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CDC62-4E5B-45E3-B752-0C631A3D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B75A-60BE-411E-ACD0-E6AE317E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16BE2-3D42-4AED-97C2-412AD70C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ABLAUF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5B2D5-D0AB-47A4-B931-3638A548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585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Die vierstufige Optimierungs-Pipeline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5B7E8-FF8A-403D-BB3B-96E10B8C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0020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Vom Apothekenbedarf bis zur konkreten Fahrzeugtour: Jeder Schritt erzeugt ein klares Zwischenergebnis und wird in PostgreSQL nachvollziehbar gespeichert.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65BD7-B875-4E94-A8E6-57BBFCC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106299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DF3E4-D584-4F0E-8AF2-50FB332D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761B9-308D-442D-9205-6400338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01346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E3B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79b4fbe86e47d1">
            <a:extLst>
              <a:ext uri="{96DAC541-7B7A-43D3-8B79-37D633B846F1}">
                <asvg:svgBlip xmlns:asvg="http://schemas.microsoft.com/office/drawing/2016/SVG/main" r:embed="R55b435724bd742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6670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2C2B01-0565-418D-8D9F-F9796D9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479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5AA6F8-5B02-4F05-B6C4-31A842A0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47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DCE6F2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DCE6F2"/>
                </a:solidFill>
                <a:latin typeface="Aptos"/>
                <a:ea typeface="Aptos"/>
                <a:cs typeface="Aptos"/>
              </a:rPr>
              <a:t>persistiert Eingangsdaten, Zwischenergebnisse und finale Routen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9B1EF-9F27-4476-B3FE-D0429BC2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0520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0F1A4-0F34-4B3F-A5CF-D4A532C1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6ECC-FA5B-4EBC-8601-DB20980B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48050"/>
            <a:ext cx="2209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FCEE7-39F4-4037-95D4-458038C1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72C43-6B0A-4494-816F-A2E2FB14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052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7c04327a54587">
            <a:extLst>
              <a:ext uri="{96DAC541-7B7A-43D3-8B79-37D633B846F1}">
                <asvg:svgBlip xmlns:asvg="http://schemas.microsoft.com/office/drawing/2016/SVG/main" r:embed="R101ae07f4afc45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14650" y="3705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43F26E-4063-4F54-BC0B-EA2387DE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76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Warenbedarf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7543B-658E-469A-B520-2670206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052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8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818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Catchment-Modell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900DC-6A2D-4ABD-B6CC-CD74B473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36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Einwohner im Umfeld werden je Apotheke in Nachfrage übersetzt.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41747-0A89-44C5-BEDA-B9224319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17907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F4EAE5-2F9C-4818-9A49-0E717D3F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863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Output: Bedarf je Apotheke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678aacbb84305">
            <a:extLst>
              <a:ext uri="{96DAC541-7B7A-43D3-8B79-37D633B846F1}">
                <asvg:svgBlip xmlns:asvg="http://schemas.microsoft.com/office/drawing/2016/SVG/main" r:embed="R3e2cad0ee06549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90750" y="3124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4967CA-872F-46F1-A159-2BBFDF22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0520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FF94C8-AAA0-42D6-A8F6-16684AB4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4805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489286-2F5B-4D38-B2BD-18172254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48050"/>
            <a:ext cx="2209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F1ED7A-BBE6-4E79-A95F-C6DF7E42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76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DB61D-8874-4FC9-826D-D7BFE68C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052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1d47c88e54d42">
            <a:extLst>
              <a:ext uri="{96DAC541-7B7A-43D3-8B79-37D633B846F1}">
                <asvg:svgBlip xmlns:asvg="http://schemas.microsoft.com/office/drawing/2016/SVG/main" r:embed="R605d5916ee6141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429250" y="3705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6E680-1566-4D29-A81A-35B8008A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Hub-</a:t>
            </a:r>
          </a:p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Placement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AE5F4-8910-40E3-BB7A-3292D4F8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052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8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818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Greedy-p-Median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D859D-E3FF-4925-9E6D-A2C8FFC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43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36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VZ und mVZ werden nach Nachfrage und Abdeckung gesetzt.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DF0ECA-E8D5-484D-8C0D-2E952A30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48200"/>
            <a:ext cx="17907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9FAE1C-68F3-4923-9A53-CA2D6571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6863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Output: Hub-Standorte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89bb339f24c4d">
            <a:extLst>
              <a:ext uri="{96DAC541-7B7A-43D3-8B79-37D633B846F1}">
                <asvg:svgBlip xmlns:asvg="http://schemas.microsoft.com/office/drawing/2016/SVG/main" r:embed="R3c0a9bc9d51e4e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05350" y="3124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8479B8-D2E9-4382-9033-EAE81A81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8112B4-CC7D-4AB2-B81A-0FB3A33E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9741AB-A635-4038-818B-3788CE9C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209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B3A4CE-1227-405C-BFE0-D4D72B9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A45217-331B-408F-B34F-E080A80D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052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d2c62c2594c4e">
            <a:extLst>
              <a:ext uri="{96DAC541-7B7A-43D3-8B79-37D633B846F1}">
                <asvg:svgBlip xmlns:asvg="http://schemas.microsoft.com/office/drawing/2016/SVG/main" r:embed="R3b68a498ef9549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43850" y="3705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872128-9AC6-4581-B68E-67E00E16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Einzugs-</a:t>
            </a:r>
          </a:p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gebiete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69FB51-4E4F-46B7-AE95-B98B764A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052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8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818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OSRM-Zeitmatrix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B5A62E-FE7F-42EF-9FAF-4DE2F5E9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43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36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Jede Apotheke wird dem schnellsten zulässigen Hub zugeordnet.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09F425-A33B-444D-9405-C8BE03C5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48200"/>
            <a:ext cx="17907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67AA430-E5CF-46E4-9F8E-5F89DCF3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863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Output: Apotheke -&gt; Hub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0f14063c34d58">
            <a:extLst>
              <a:ext uri="{96DAC541-7B7A-43D3-8B79-37D633B846F1}">
                <asvg:svgBlip xmlns:asvg="http://schemas.microsoft.com/office/drawing/2016/SVG/main" r:embed="Re2e507ef31674d7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19950" y="3124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527C7D-0DCF-4F46-AD3F-34E70CAE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0520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8186D70-19E7-42E1-A72B-0A15F730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48050"/>
            <a:ext cx="22098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01BA08-2BD1-45A3-8383-D80F7216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48050"/>
            <a:ext cx="22098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0C56BF-7802-4461-BA2B-21CAAAE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294FC1-A24C-415C-9974-7487A38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052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cca2c8e434cee">
            <a:extLst>
              <a:ext uri="{96DAC541-7B7A-43D3-8B79-37D633B846F1}">
                <asvg:svgBlip xmlns:asvg="http://schemas.microsoft.com/office/drawing/2016/SVG/main" r:embed="R05839e7b7ae24d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58450" y="3705225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87E0F8-8777-493F-8201-A76182C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76650"/>
            <a:ext cx="104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Routen-</a:t>
            </a:r>
          </a:p>
          <a:p xmlns:a="http://schemas.openxmlformats.org/drawingml/2006/main">
            <a:pPr algn="l">
              <a:def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7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optimierung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C02DF0-E9C5-41F0-BC2C-081F7EC5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05275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1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81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Multi-Ziel-VRP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3C9DED-30C4-4F52-B664-91D71548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43400"/>
            <a:ext cx="1790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6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836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Pro Hub entstehen Touren mit Kosten-, Zeit- und CO2-Score.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245400-E82D-48F7-9E6C-812C36A0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48200"/>
            <a:ext cx="1790700" cy="200025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E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630EDC-34D8-4F18-84B9-F9D1D686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86300"/>
            <a:ext cx="1638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03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Output: Touren + KPIs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16dda99ee4605">
            <a:extLst>
              <a:ext uri="{96DAC541-7B7A-43D3-8B79-37D633B846F1}">
                <asvg:svgBlip xmlns:asvg="http://schemas.microsoft.com/office/drawing/2016/SVG/main" r:embed="Rdf7bea3476cf4a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34550" y="3124200"/>
            <a:ext cx="190500" cy="19050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342a039c84504">
            <a:extLst>
              <a:ext uri="{96DAC541-7B7A-43D3-8B79-37D633B846F1}">
                <asvg:svgBlip xmlns:asvg="http://schemas.microsoft.com/office/drawing/2016/SVG/main" r:embed="R907d0def5a8844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52800" y="40290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63b3f1d5b4a50">
            <a:extLst>
              <a:ext uri="{96DAC541-7B7A-43D3-8B79-37D633B846F1}">
                <asvg:svgBlip xmlns:asvg="http://schemas.microsoft.com/office/drawing/2016/SVG/main" r:embed="R8e37976f74f740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86450" y="4029075"/>
            <a:ext cx="304800" cy="30480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5d395295b4890">
            <a:extLst>
              <a:ext uri="{96DAC541-7B7A-43D3-8B79-37D633B846F1}">
                <asvg:svgBlip xmlns:asvg="http://schemas.microsoft.com/office/drawing/2016/SVG/main" r:embed="Raf3b3d35e5f745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20100" y="4029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8DA73E-DB5C-41F3-A1E0-882FE9F0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24450"/>
            <a:ext cx="459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CFBF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d6d30b57784e97">
            <a:extLst>
              <a:ext uri="{96DAC541-7B7A-43D3-8B79-37D633B846F1}">
                <asvg:svgBlip xmlns:asvg="http://schemas.microsoft.com/office/drawing/2016/SVG/main" r:embed="Re0a62c5708ac45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482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7E462C-90F5-41A3-964F-71DDB8E2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38750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Geodaten + Bedarf treiben Step 1 und Step 2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33BDC9-326D-4717-B6DE-35AB7724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24450"/>
            <a:ext cx="45910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09d02fda74e86">
            <a:extLst>
              <a:ext uri="{96DAC541-7B7A-43D3-8B79-37D633B846F1}">
                <asvg:svgBlip xmlns:asvg="http://schemas.microsoft.com/office/drawing/2016/SVG/main" r:embed="Rdb7b220ef49f450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43650" y="52482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8E76D0-4E3C-4D10-823D-CD2E754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3943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OSRM liefert echte Straßenzeiten für Step 3 und Step 4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56986C1-AFF8-4AEB-9FE0-4E341F36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Leselogik: berechnen -&gt; speichern -&gt; nächster Schritt. So bleiben Ergebnisse reproduzierbar und einzelne Schritte wiederholbar.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4EE827E-0E7D-4145-BA5F-5B1176F6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83F6DCF-CA7C-4F93-80D3-5F05FBD9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055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2AA1E8-06C9-42D3-9A27-5365A066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055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3440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2026-06-10T23:39:08.9190000Z</dcterms:created>
  <dcterms:modified xsi:type="dcterms:W3CDTF">2026-06-10T23:39:08.9190000Z</dcterms:modified>
</coreProperties>
</file>