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42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500982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Begrüßung. Thema: Optimierung von Logistikrouten am realen Anwendungsfall der Schweizer Apothekenlogistik. Ziel des Vortrags: zeigen, wie ein lauffähiger, cloudbasierter Prototyp Transportrouten gleichzeitig nach Kosten, Zeit und Umwelt optimiert — auf Basis echter Straßen- und Bevölkerungsdaten. Dauer ca. 10 Minuten.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Logistik ist Kostentreiber und CO₂-Quelle zugleich. Gleichzeitig ist die Planung komplex: viele Stopps, begrenzte Fahrzeuge, Kapazitäten, Reichweiten, Öffnungszeiten. Genau hier setzt die algorithmische Optimierung an — kleine Effizienzgewinne pro Fahrt summieren sich über die gesamte Flotte zu erheblichen wirtschaftlichen und ökologischen Vorteilen.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Die Aufgabenstellung verlangt dreierlei: erstens Routen nach Kosten, Zeit und Umwelt optimieren; zweitens graphbasierte Algorithmen einsetzen; drittens die Faktoren Entfernung, Verkehr und Transportkapazität wirksam einbeziehen — nicht nur erwähnen. Genau diese drei Anforderungen strukturieren den weiteren Vortrag.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Die Aufgabe zerfällt in zwei klassische, je NP-schwere Teilprobleme: die Standortwahl als p-Median und die Tourenplanung als Vehicle Routing Problem. Erschwerend kommt der Mehrzielkonflikt hinzu — schnell, günstig und sauber sind nicht dasselbe. Ziel ist ein Prototyp, der beides graphbasiert löst und den Nutzen messbar macht.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Die Lösung ist eine vierstufige Pipeline. Bewusst beginnt sie mit dem Warenbedarf, damit Standortwahl und Zuordnung auf echten Bedarfszahlen beruhen. Schritt 2 platziert die Hubs per p-Median, Schritt 3 ordnet Apotheken kapazitätsbewusst nach Fahrzeit zu, Schritt 4 optimiert die Fahrzeugrouten. Jeder Schritt baut auf dem vorherigen auf und läuft asynchron im Hintergrund.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Die Architektur trennt Präsentation, Anwendung und Daten in sechs Container. Nginx leitet weiter, das FastAPI-Backend stößt die Pipeline an, die rechenintensive Arbeit läuft im Celery-Worker mit Redis als Broker. PostgreSQL mit PostGIS persistiert alles, OSRM liefert echte Straßendistanzen und Fahrzeiten. Damit sind Cloud-Betrieb, Asynchronität und Persistenz erfüllt.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Alle Berechnungen beruhen auf realen, frei verfügbaren Daten: rund 400 Apothekenstandorte aus OpenStreetMap, das Eurostat-Bevölkerungsraster als Bedarfs-Proxy und das Schweizer Straßennetz für OSRM. Damit sind Distanzen und Fahrzeiten realistisch — keine Luftlinien, keine erfundenen Werte.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Kern ist die Routenentscheidung nach verallgemeinerten Kosten. Für jeden möglichen nächsten Stopp werden die echten Grenzkosten gebildet: Kosten in CHF aus Distanz und Fahrerlohn, Zeit in Stunden, Umwelt in kg CO₂. Diese drei werden normiert, gewichtet und summiert — der Stopp mit dem kleinsten Score gewinnt. Entscheidend: die Zeit stammt aus echten Straßenfahrzeiten.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Die drei geforderten Faktoren gehen wirksam ein. Entfernung als reale Straßendistanz. Verkehr über echte OSRM-Fahrzeiten — ein Stadtkilometer dauert länger als ein Autobahnkilometer, deshalb ist Zeit nicht proportional zur Distanz; zusätzlich gibt es ein Tageszeit-Modell und optional TomTom-Echtzeit. Kapazität als harte Restriktion je Fahrzeug und je Hub, ergänzt um Reichweite und Schicht.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Das System ist durchgehend graphbasiert: Standorte sind Knoten, Straßen sind Kanten. OSRM liefert kürzeste Wege, ein nachfragegewichteter p-Median platziert das mehrstufige Netz HQ–VZ–mVZ, und ein Greedy-Mehrziel-VRP konstruiert die Touren unter allen Restriktionen. Da beide Probleme NP-schwer sind, liefern die Heuristiken reproduzierbar in Sekunden praxistaugliche Lösungen.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Den Nutzen weist der Prototyp quantitativ aus: Er vergleicht die konsolidierten Mehrstopp-Routen mit einer naiven Referenz aus Einzelfahrten und beziffert die Einsparung in Strecke, Kosten, Fahrzeit und CO₂ — absolut und prozentual, prominent im Dashboard. Sieben Analyse-Reiter und eine interaktive Karte machen jedes Ergebnis nachvollziehbar. Die konkreten Zahlen hängen von der Konfiguration ab.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Der Nutzen ist doppelt. Wirtschaftlich: geringere Transportkosten, höhere Auslastung, eine reproduzierbare, konfigurierbare Planung statt manueller Schätzung. Ökologisch: weniger Kilometer bedeuten direkt weniger CO₂, weil Emissionen als gleichwertige Zielgröße in die Optimierung eingehen und der Ausweis je Fahrzeug transparent ist. Genau das fordert die Aufgabenstellung.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Zusammenfassung: Der Prototyp erfüllt die Aufgabenstellung vollständig — autonome Bearbeitung von der Analyse bis zur lauffähigen Lösung, graphbasierte Optimierung nach Kosten, Zeit und Umwelt, wirksame Einbindung von Entfernung, Verkehr und Kapazität, plus quantitativer Einsparungsnachweis. Ausblick: Solver-basierte Touren, zeitabhängiges VRP, dynamische Re-Optimierung. Danke — gerne Fragen.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09F3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822960" y="2057400"/>
            <a:ext cx="640080" cy="146304"/>
          </a:xfrm>
          <a:prstGeom prst="rect">
            <a:avLst/>
          </a:prstGeom>
          <a:solidFill>
            <a:srgbClr val="E09F3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" name="Text 2"/>
          <p:cNvSpPr/>
          <p:nvPr/>
        </p:nvSpPr>
        <p:spPr>
          <a:xfrm>
            <a:off x="822960" y="1554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kern="0" spc="200" dirty="0">
                <a:solidFill>
                  <a:srgbClr val="9D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DHBW · CLOUD COMPUTING · 4. SEMESTER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2286000"/>
            <a:ext cx="10607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Optimierung von Logistikrouten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822960" y="3611880"/>
            <a:ext cx="9875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Cloudbasierte Optimierung der Schweizer Apothekenlogistik nach Kosten, Zeit und Umweltauswirkungen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22960" y="52120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 „Pharma Logistics CH“</a:t>
            </a:r>
            <a:r>
              <a:rPr lang="en-US" sz="1500" dirty="0">
                <a:solidFill>
                  <a:srgbClr val="9D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·    Prototypische Anwendungslösung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56235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E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Verfasser/in: [Name]   ·   Matrikelnr.: [____]   ·   [Datum]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146304" cy="384048"/>
          </a:xfrm>
          <a:prstGeom prst="rect">
            <a:avLst/>
          </a:prstGeom>
          <a:solidFill>
            <a:srgbClr val="E09F3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789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 &amp; Motivation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86384" y="950976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52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Warum Logistikoptimierung wirtschaftlich und ökologisch zählt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3520440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blurRad="76200" dist="25400" dir="5400000" algn="bl" rotWithShape="0">
              <a:srgbClr val="BBC6D2">
                <a:alpha val="4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3520440" cy="109728"/>
          </a:xfrm>
          <a:prstGeom prst="rect">
            <a:avLst/>
          </a:prstGeom>
          <a:solidFill>
            <a:srgbClr val="2E6DA4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7" name="Text 5"/>
          <p:cNvSpPr/>
          <p:nvPr/>
        </p:nvSpPr>
        <p:spPr>
          <a:xfrm>
            <a:off x="822960" y="228600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E6DA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Kosten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22960" y="2971800"/>
            <a:ext cx="29718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 ist ein zentraler Kostenblock jeder Lieferkette. Strecke, Fahrzeit und Fahrerlohn bestimmen die Betriebskosten.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379976" y="1920240"/>
            <a:ext cx="3520440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blurRad="76200" dist="25400" dir="5400000" algn="bl" rotWithShape="0">
              <a:srgbClr val="BBC6D2">
                <a:alpha val="4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0" name="Shape 8"/>
          <p:cNvSpPr/>
          <p:nvPr/>
        </p:nvSpPr>
        <p:spPr>
          <a:xfrm>
            <a:off x="4379976" y="1920240"/>
            <a:ext cx="3520440" cy="109728"/>
          </a:xfrm>
          <a:prstGeom prst="rect">
            <a:avLst/>
          </a:prstGeom>
          <a:solidFill>
            <a:srgbClr val="3A7D44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1" name="Text 9"/>
          <p:cNvSpPr/>
          <p:nvPr/>
        </p:nvSpPr>
        <p:spPr>
          <a:xfrm>
            <a:off x="4654296" y="228600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A7D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Umwelt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654296" y="2971800"/>
            <a:ext cx="29718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Jeder gefahrene Kilometer verursacht CO₂. Kürzere, konsolidierte Touren senken die Emissionen unmittelbar.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211312" y="1920240"/>
            <a:ext cx="3520440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blurRad="76200" dist="25400" dir="5400000" algn="bl" rotWithShape="0">
              <a:srgbClr val="BBC6D2">
                <a:alpha val="4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4" name="Shape 12"/>
          <p:cNvSpPr/>
          <p:nvPr/>
        </p:nvSpPr>
        <p:spPr>
          <a:xfrm>
            <a:off x="8211312" y="1920240"/>
            <a:ext cx="3520440" cy="109728"/>
          </a:xfrm>
          <a:prstGeom prst="rect">
            <a:avLst/>
          </a:prstGeom>
          <a:solidFill>
            <a:srgbClr val="E09F3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5" name="Text 13"/>
          <p:cNvSpPr/>
          <p:nvPr/>
        </p:nvSpPr>
        <p:spPr>
          <a:xfrm>
            <a:off x="8485632" y="228600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09F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Komplexität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8485632" y="2971800"/>
            <a:ext cx="29718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Viele Stopps, begrenzte Fahrzeuge, Kapazitäten, Reichweiten und Öffnungszeiten — manuelle Planung stößt an Grenzen.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48640" y="52578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52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Schon kleine Effizienzgewinne pro Fahrt summieren sich über Flotte und Lieferzyklus zu erheblichen Einsparungen.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 Logistics CH · Optimierung von Logistikrouten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146304" cy="384048"/>
          </a:xfrm>
          <a:prstGeom prst="rect">
            <a:avLst/>
          </a:prstGeom>
          <a:solidFill>
            <a:srgbClr val="E09F3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789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Aufgabenstellung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1783080"/>
          </a:xfrm>
          <a:prstGeom prst="roundRect">
            <a:avLst>
              <a:gd name="adj" fmla="val 4103"/>
            </a:avLst>
          </a:prstGeom>
          <a:solidFill>
            <a:srgbClr val="EAF1F8"/>
          </a:solidFill>
          <a:ln w="12700">
            <a:solidFill>
              <a:srgbClr val="2E6DA4"/>
            </a:solidFill>
            <a:prstDash val="solid"/>
          </a:ln>
          <a:effectLst>
            <a:outerShdw blurRad="76200" dist="25400" dir="5400000" algn="bl" rotWithShape="0">
              <a:srgbClr val="BBC6D2">
                <a:alpha val="4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685800" y="1554480"/>
            <a:ext cx="548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E6DA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„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1188720" y="1737360"/>
            <a:ext cx="10149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Transportrouten optimieren, um Kosten, Zeit und Umweltauswirkungen zu reduzieren — mit Graphenalgorithmen die effizientesten Wege zwischen Standorten finden, unter Berücksichtigung von Entfernung, Verkehr und Transportkapazität.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548640" y="3840480"/>
            <a:ext cx="35204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blurRad="76200" dist="25400" dir="5400000" algn="bl" rotWithShape="0">
              <a:srgbClr val="BBC6D2">
                <a:alpha val="4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8" name="Shape 6"/>
          <p:cNvSpPr/>
          <p:nvPr/>
        </p:nvSpPr>
        <p:spPr>
          <a:xfrm>
            <a:off x="822960" y="4160520"/>
            <a:ext cx="457200" cy="457200"/>
          </a:xfrm>
          <a:prstGeom prst="ellipse">
            <a:avLst/>
          </a:prstGeom>
          <a:solidFill>
            <a:srgbClr val="2E6DA4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1463040" y="4133088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Ziele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22960" y="475488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2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Kosten · Zeit · Umwelt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379976" y="3840480"/>
            <a:ext cx="35204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blurRad="76200" dist="25400" dir="5400000" algn="bl" rotWithShape="0">
              <a:srgbClr val="BBC6D2">
                <a:alpha val="4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2" name="Shape 10"/>
          <p:cNvSpPr/>
          <p:nvPr/>
        </p:nvSpPr>
        <p:spPr>
          <a:xfrm>
            <a:off x="4654296" y="4160520"/>
            <a:ext cx="457200" cy="457200"/>
          </a:xfrm>
          <a:prstGeom prst="ellipse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3" name="Text 11"/>
          <p:cNvSpPr/>
          <p:nvPr/>
        </p:nvSpPr>
        <p:spPr>
          <a:xfrm>
            <a:off x="5294376" y="4133088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Methodik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654296" y="475488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2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Graphenalgorithmen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211312" y="3840480"/>
            <a:ext cx="35204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blurRad="76200" dist="25400" dir="5400000" algn="bl" rotWithShape="0">
              <a:srgbClr val="BBC6D2">
                <a:alpha val="4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6" name="Shape 14"/>
          <p:cNvSpPr/>
          <p:nvPr/>
        </p:nvSpPr>
        <p:spPr>
          <a:xfrm>
            <a:off x="8485632" y="4160520"/>
            <a:ext cx="457200" cy="457200"/>
          </a:xfrm>
          <a:prstGeom prst="ellipse">
            <a:avLst/>
          </a:prstGeom>
          <a:solidFill>
            <a:srgbClr val="E09F3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7" name="Text 15"/>
          <p:cNvSpPr/>
          <p:nvPr/>
        </p:nvSpPr>
        <p:spPr>
          <a:xfrm>
            <a:off x="9125712" y="4133088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Faktoren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485632" y="475488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2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Entfernung · Verkehr · Kapazität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 Logistics CH · Optimierung von Logistikrouten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146304" cy="384048"/>
          </a:xfrm>
          <a:prstGeom prst="rect">
            <a:avLst/>
          </a:prstGeom>
          <a:solidFill>
            <a:srgbClr val="E09F3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789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Analyse &amp; Zielsetzung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86384" y="950976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52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zusammengesetztes, NP-schweres Optimierungsproblem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4406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blurRad="76200" dist="25400" dir="5400000" algn="bl" rotWithShape="0">
              <a:srgbClr val="BBC6D2">
                <a:alpha val="4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109728" cy="2148840"/>
          </a:xfrm>
          <a:prstGeom prst="rect">
            <a:avLst/>
          </a:prstGeom>
          <a:solidFill>
            <a:srgbClr val="2E6DA4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7" name="Text 5"/>
          <p:cNvSpPr/>
          <p:nvPr/>
        </p:nvSpPr>
        <p:spPr>
          <a:xfrm>
            <a:off x="868680" y="2057400"/>
            <a:ext cx="4892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E6DA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Standortproblem (p-Median)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68680" y="2697480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 Verteilzentren platzieren, sodass die nachfragegewichtete Distanz zu den Apotheken minimal ist?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263640" y="1783080"/>
            <a:ext cx="54406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blurRad="76200" dist="25400" dir="5400000" algn="bl" rotWithShape="0">
              <a:srgbClr val="BBC6D2">
                <a:alpha val="4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0" name="Shape 8"/>
          <p:cNvSpPr/>
          <p:nvPr/>
        </p:nvSpPr>
        <p:spPr>
          <a:xfrm>
            <a:off x="6263640" y="1783080"/>
            <a:ext cx="109728" cy="2148840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1" name="Text 9"/>
          <p:cNvSpPr/>
          <p:nvPr/>
        </p:nvSpPr>
        <p:spPr>
          <a:xfrm>
            <a:off x="6583680" y="2057400"/>
            <a:ext cx="4892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A9D8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Tourenplanung (VRP)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6583680" y="2697480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Fahrzeuge über die Stopps führen, sodass Kosten, Zeit und CO₂ unter allen Restriktionen minimal sind?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416052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  <a:effectLst>
            <a:outerShdw blurRad="76200" dist="25400" dir="5400000" algn="bl" rotWithShape="0">
              <a:srgbClr val="BBC6D2">
                <a:alpha val="4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4" name="Text 12"/>
          <p:cNvSpPr/>
          <p:nvPr/>
        </p:nvSpPr>
        <p:spPr>
          <a:xfrm>
            <a:off x="822960" y="416052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Mehrzielkonflikt: die schnellste Route ist nicht zwingend die günstigste oder emissionsärmste → die Gewichtung muss explizit steuerbar sein.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48640" y="52578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52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Ziel: ein lauffähiger Prototyp, der diese Teilprobleme graphbasiert löst und den Optimierungsnutzen quantitativ nachweist.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 Logistics CH · Optimierung von Logistikrouten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146304" cy="384048"/>
          </a:xfrm>
          <a:prstGeom prst="rect">
            <a:avLst/>
          </a:prstGeom>
          <a:solidFill>
            <a:srgbClr val="E09F3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789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Fachliche Idee der Lösung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86384" y="950976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52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Vierstufige Berechnungs-Pipeline — Bedarf zuerst, dann Standort, Zuordnung, Route</a:t>
            </a:r>
            <a:endParaRPr lang="en-US" sz="1400" dirty="0"/>
          </a:p>
        </p:txBody>
      </p:sp>
      <p:pic>
        <p:nvPicPr>
          <p:cNvPr id="5" name="Image 0" descr="assets/pip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" y="2148840"/>
            <a:ext cx="10241280" cy="349637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 Logistics CH · Optimierung von Logistikrouten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146304" cy="384048"/>
          </a:xfrm>
          <a:prstGeom prst="rect">
            <a:avLst/>
          </a:prstGeom>
          <a:solidFill>
            <a:srgbClr val="E09F3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789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Systemarchitektur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86384" y="950976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52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Sechs containerisierte Dienste, über Docker Compose orchestriert</a:t>
            </a:r>
            <a:endParaRPr lang="en-US" sz="1400" dirty="0"/>
          </a:p>
        </p:txBody>
      </p:sp>
      <p:pic>
        <p:nvPicPr>
          <p:cNvPr id="5" name="Image 0" descr="assets/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00200"/>
            <a:ext cx="6858000" cy="421424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0" y="2194560"/>
            <a:ext cx="38862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 algn="l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Frontend: React + MapLibre GL (interaktive Karte, Dashboard)</a:t>
            </a:r>
            <a:endParaRPr lang="en-US" sz="1450" dirty="0"/>
          </a:p>
          <a:p>
            <a:pPr marL="177800" indent="-177800" algn="l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Backend: FastAPI (REST-API, GeoJSON, Orchestrierung)</a:t>
            </a:r>
            <a:endParaRPr lang="en-US" sz="1450" dirty="0"/>
          </a:p>
          <a:p>
            <a:pPr marL="177800" indent="-177800" algn="l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Worker: Celery + Redis (asynchrone Pipeline)</a:t>
            </a:r>
            <a:endParaRPr lang="en-US" sz="1450" dirty="0"/>
          </a:p>
          <a:p>
            <a:pPr marL="177800" indent="-177800" algn="l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Datenbank: PostgreSQL + PostGIS (Persistenz)</a:t>
            </a:r>
            <a:endParaRPr lang="en-US" sz="1450" dirty="0"/>
          </a:p>
          <a:p>
            <a:pPr marL="177800" indent="-177800" algn="l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Routing: OSRM (reale Distanz + Fahrzeit)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 Logistics CH · Optimierung von Logistikrouten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146304" cy="384048"/>
          </a:xfrm>
          <a:prstGeom prst="rect">
            <a:avLst/>
          </a:prstGeom>
          <a:solidFill>
            <a:srgbClr val="E09F3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789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Datenquellen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86384" y="950976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52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Ausschließlich reale, frei verfügbare Daten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352044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blurRad="76200" dist="25400" dir="5400000" algn="bl" rotWithShape="0">
              <a:srgbClr val="BBC6D2">
                <a:alpha val="4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6" name="Shape 4"/>
          <p:cNvSpPr/>
          <p:nvPr/>
        </p:nvSpPr>
        <p:spPr>
          <a:xfrm>
            <a:off x="1805940" y="2286000"/>
            <a:ext cx="1005840" cy="1005840"/>
          </a:xfrm>
          <a:prstGeom prst="ellipse">
            <a:avLst/>
          </a:prstGeom>
          <a:solidFill>
            <a:srgbClr val="2E6DA4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7" name="Text 5"/>
          <p:cNvSpPr/>
          <p:nvPr/>
        </p:nvSpPr>
        <p:spPr>
          <a:xfrm>
            <a:off x="1805940" y="228600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OSM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347472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F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Apothekenstandorte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822960" y="397764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5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400 Schweizer Apotheken aus OpenStreetMap / Overpass — Koordinaten und Metadaten.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4379976" y="1920240"/>
            <a:ext cx="352044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blurRad="76200" dist="25400" dir="5400000" algn="bl" rotWithShape="0">
              <a:srgbClr val="BBC6D2">
                <a:alpha val="4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1" name="Shape 9"/>
          <p:cNvSpPr/>
          <p:nvPr/>
        </p:nvSpPr>
        <p:spPr>
          <a:xfrm>
            <a:off x="5637276" y="2286000"/>
            <a:ext cx="1005840" cy="1005840"/>
          </a:xfrm>
          <a:prstGeom prst="ellipse">
            <a:avLst/>
          </a:prstGeom>
          <a:solidFill>
            <a:srgbClr val="3A7D44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2" name="Text 10"/>
          <p:cNvSpPr/>
          <p:nvPr/>
        </p:nvSpPr>
        <p:spPr>
          <a:xfrm>
            <a:off x="5637276" y="228600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EU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608576" y="347472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F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Bevölkerungsraster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4654296" y="397764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5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Eurostat Census Grid 2021 — 1-km²-Zellen als Proxy für den Warenbedarf je Apotheke.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8211312" y="1920240"/>
            <a:ext cx="352044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blurRad="76200" dist="25400" dir="5400000" algn="bl" rotWithShape="0">
              <a:srgbClr val="BBC6D2">
                <a:alpha val="4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6" name="Shape 14"/>
          <p:cNvSpPr/>
          <p:nvPr/>
        </p:nvSpPr>
        <p:spPr>
          <a:xfrm>
            <a:off x="9468612" y="2286000"/>
            <a:ext cx="1005840" cy="1005840"/>
          </a:xfrm>
          <a:prstGeom prst="ellipse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7" name="Text 15"/>
          <p:cNvSpPr/>
          <p:nvPr/>
        </p:nvSpPr>
        <p:spPr>
          <a:xfrm>
            <a:off x="9468612" y="228600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OSRM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439912" y="347472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F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Straßennetz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8485632" y="397764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5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Schweizer OSM-Straßennetz (Geofabrik) — reale Distanzen und Fahrzeiten.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 Logistics CH · Optimierung von Logistikrouten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146304" cy="384048"/>
          </a:xfrm>
          <a:prstGeom prst="rect">
            <a:avLst/>
          </a:prstGeom>
          <a:solidFill>
            <a:srgbClr val="E09F3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789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Optimierungslogik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86384" y="950976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52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Verallgemeinerte Kosten — jede Zielgröße in ihrer echten Einheit</a:t>
            </a:r>
            <a:endParaRPr lang="en-US" sz="1400" dirty="0"/>
          </a:p>
        </p:txBody>
      </p:sp>
      <p:pic>
        <p:nvPicPr>
          <p:cNvPr id="5" name="Image 0" descr="assets/optimiz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7048" y="1691640"/>
            <a:ext cx="9144000" cy="413674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60807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i="1" dirty="0">
                <a:solidFill>
                  <a:srgbClr val="52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Min-Max-normiert und gewichtet (Standard 0,40 / 0,35 / 0,25) — kleinster Score gewinnt; Gewichte steuern zusätzlich die Fahrzeugwahl.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 Logistics CH · Optimierung von Logistikrouten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146304" cy="384048"/>
          </a:xfrm>
          <a:prstGeom prst="rect">
            <a:avLst/>
          </a:prstGeom>
          <a:solidFill>
            <a:srgbClr val="E09F3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789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Entfernung, Verkehr &amp; Kapazität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86384" y="950976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52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die drei Faktoren wirksam in die Entscheidung eingehen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520440" cy="361188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blurRad="76200" dist="25400" dir="5400000" algn="bl" rotWithShape="0">
              <a:srgbClr val="BBC6D2">
                <a:alpha val="4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3520440" cy="640080"/>
          </a:xfrm>
          <a:prstGeom prst="rect">
            <a:avLst/>
          </a:prstGeom>
          <a:solidFill>
            <a:srgbClr val="2E6DA4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7" name="Text 5"/>
          <p:cNvSpPr/>
          <p:nvPr/>
        </p:nvSpPr>
        <p:spPr>
          <a:xfrm>
            <a:off x="822960" y="178308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Entfernung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41248" y="2651760"/>
            <a:ext cx="29718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 algn="l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Reale OSRM-Straßendistanz</a:t>
            </a:r>
            <a:endParaRPr lang="en-US" sz="1500" dirty="0"/>
          </a:p>
          <a:p>
            <a:pPr marL="177800" indent="-177800" algn="l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Bestimmt Strecke, Kosten und CO₂</a:t>
            </a:r>
            <a:endParaRPr lang="en-US" sz="1500" dirty="0"/>
          </a:p>
          <a:p>
            <a:pPr marL="177800" indent="-177800" algn="l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Keine Luftlinie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379976" y="1783080"/>
            <a:ext cx="3520440" cy="361188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blurRad="76200" dist="25400" dir="5400000" algn="bl" rotWithShape="0">
              <a:srgbClr val="BBC6D2">
                <a:alpha val="4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0" name="Shape 8"/>
          <p:cNvSpPr/>
          <p:nvPr/>
        </p:nvSpPr>
        <p:spPr>
          <a:xfrm>
            <a:off x="4379976" y="1783080"/>
            <a:ext cx="3520440" cy="640080"/>
          </a:xfrm>
          <a:prstGeom prst="rect">
            <a:avLst/>
          </a:prstGeom>
          <a:solidFill>
            <a:srgbClr val="E09F3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1" name="Text 9"/>
          <p:cNvSpPr/>
          <p:nvPr/>
        </p:nvSpPr>
        <p:spPr>
          <a:xfrm>
            <a:off x="4654296" y="178308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C27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Verkehr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672584" y="2651760"/>
            <a:ext cx="29718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 algn="l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Echte OSRM-Fahrzeiten: Stadt ≠ Autobahn</a:t>
            </a:r>
            <a:endParaRPr lang="en-US" sz="1500" dirty="0"/>
          </a:p>
          <a:p>
            <a:pPr marL="177800" indent="-177800" algn="l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Zeit ≠ Distanz → eigene, schnellere Route</a:t>
            </a:r>
            <a:endParaRPr lang="en-US" sz="1500" dirty="0"/>
          </a:p>
          <a:p>
            <a:pPr marL="177800" indent="-177800" algn="l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Tageszeit-Simulation / TomTom Live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211312" y="1783080"/>
            <a:ext cx="3520440" cy="361188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blurRad="76200" dist="25400" dir="5400000" algn="bl" rotWithShape="0">
              <a:srgbClr val="BBC6D2">
                <a:alpha val="4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4" name="Shape 12"/>
          <p:cNvSpPr/>
          <p:nvPr/>
        </p:nvSpPr>
        <p:spPr>
          <a:xfrm>
            <a:off x="8211312" y="1783080"/>
            <a:ext cx="3520440" cy="640080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5" name="Text 13"/>
          <p:cNvSpPr/>
          <p:nvPr/>
        </p:nvSpPr>
        <p:spPr>
          <a:xfrm>
            <a:off x="8485632" y="178308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Kapazität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503920" y="2651760"/>
            <a:ext cx="29718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 algn="l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Ladekapazität je Fahrzeug</a:t>
            </a:r>
            <a:endParaRPr lang="en-US" sz="1500" dirty="0"/>
          </a:p>
          <a:p>
            <a:pPr marL="177800" indent="-177800" algn="l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Lagerkapazität je Hub</a:t>
            </a:r>
            <a:endParaRPr lang="en-US" sz="1500" dirty="0"/>
          </a:p>
          <a:p>
            <a:pPr marL="177800" indent="-177800" algn="l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Harte Restriktion + Reichweite/Schicht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48640" y="56235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i="1" dirty="0">
                <a:solidFill>
                  <a:srgbClr val="52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Weil die Fahrzeit aus echten Straßenzeiten kommt, verändert die Zeit-Gewichtung die Route real — auch ohne Live-Verkehr.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 Logistics CH · Optimierung von Logistikrouten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146304" cy="384048"/>
          </a:xfrm>
          <a:prstGeom prst="rect">
            <a:avLst/>
          </a:prstGeom>
          <a:solidFill>
            <a:srgbClr val="E09F3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789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Algorithmen &amp; Lieferkette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86384" y="950976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52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Graphbasiert auf dem realen OSRM-Straßennetz</a:t>
            </a:r>
            <a:endParaRPr lang="en-US" sz="1400" dirty="0"/>
          </a:p>
        </p:txBody>
      </p:sp>
      <p:pic>
        <p:nvPicPr>
          <p:cNvPr id="5" name="Image 0" descr="assets/supplych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828800"/>
            <a:ext cx="6766560" cy="26531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543800" y="2103120"/>
            <a:ext cx="41148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 algn="l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Kürzeste Wege: OSRM (Distanz + Fahrzeit)</a:t>
            </a:r>
            <a:endParaRPr lang="en-US" sz="1450" dirty="0"/>
          </a:p>
          <a:p>
            <a:pPr marL="177800" indent="-177800" algn="l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Standort: nachfragegewichteter Greedy-p-Median</a:t>
            </a:r>
            <a:endParaRPr lang="en-US" sz="1450" dirty="0"/>
          </a:p>
          <a:p>
            <a:pPr marL="177800" indent="-177800" algn="l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Touren: Greedy-Mehrziel-VRP (Insertion)</a:t>
            </a:r>
            <a:endParaRPr lang="en-US" sz="1450" dirty="0"/>
          </a:p>
          <a:p>
            <a:pPr marL="177800" indent="-177800" algn="l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Restriktionen: Kapazität, Reichweite, Schicht, Öffnungszeiten</a:t>
            </a:r>
            <a:endParaRPr lang="en-US" sz="1450" dirty="0"/>
          </a:p>
          <a:p>
            <a:pPr marL="177800" indent="-177800" algn="l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NP-schwer → Heuristik: gute Lösung in Sekunden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 Logistics CH · Optimierung von Logistikrouten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146304" cy="384048"/>
          </a:xfrm>
          <a:prstGeom prst="rect">
            <a:avLst/>
          </a:prstGeom>
          <a:solidFill>
            <a:srgbClr val="E09F3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789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Ergebnisse &amp; Visualisierung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86384" y="950976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52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Optimierungsgewinn gegenüber unkonsolidierten Einzelfahrten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2606040" cy="1828800"/>
          </a:xfrm>
          <a:prstGeom prst="roundRect">
            <a:avLst>
              <a:gd name="adj" fmla="val 4000"/>
            </a:avLst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  <a:effectLst>
            <a:outerShdw blurRad="76200" dist="25400" dir="5400000" algn="bl" rotWithShape="0">
              <a:srgbClr val="BBC6D2">
                <a:alpha val="4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548640" y="210312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48640" y="278892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Strecke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548640" y="320040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gespart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429000" y="1828800"/>
            <a:ext cx="2606040" cy="1828800"/>
          </a:xfrm>
          <a:prstGeom prst="roundRect">
            <a:avLst>
              <a:gd name="adj" fmla="val 4000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  <a:effectLst>
            <a:outerShdw blurRad="76200" dist="25400" dir="5400000" algn="bl" rotWithShape="0">
              <a:srgbClr val="BBC6D2">
                <a:alpha val="4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/>
          <p:nvPr/>
        </p:nvSpPr>
        <p:spPr>
          <a:xfrm>
            <a:off x="3429000" y="210312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429000" y="278892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Kosten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429000" y="320040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gespart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309360" y="1828800"/>
            <a:ext cx="2606040" cy="1828800"/>
          </a:xfrm>
          <a:prstGeom prst="roundRect">
            <a:avLst>
              <a:gd name="adj" fmla="val 4000"/>
            </a:avLst>
          </a:prstGeom>
          <a:solidFill>
            <a:srgbClr val="E09F3E"/>
          </a:solidFill>
          <a:ln w="12700">
            <a:solidFill>
              <a:srgbClr val="E09F3E"/>
            </a:solidFill>
            <a:prstDash val="solid"/>
          </a:ln>
          <a:effectLst>
            <a:outerShdw blurRad="76200" dist="25400" dir="5400000" algn="bl" rotWithShape="0">
              <a:srgbClr val="BBC6D2">
                <a:alpha val="4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4" name="Text 12"/>
          <p:cNvSpPr/>
          <p:nvPr/>
        </p:nvSpPr>
        <p:spPr>
          <a:xfrm>
            <a:off x="6309360" y="210312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309360" y="278892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C27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Fahrzeit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6309360" y="320040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A4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gespart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9189720" y="1828800"/>
            <a:ext cx="2606040" cy="1828800"/>
          </a:xfrm>
          <a:prstGeom prst="roundRect">
            <a:avLst>
              <a:gd name="adj" fmla="val 4000"/>
            </a:avLst>
          </a:prstGeom>
          <a:solidFill>
            <a:srgbClr val="3A7D44"/>
          </a:solidFill>
          <a:ln w="12700">
            <a:solidFill>
              <a:srgbClr val="3A7D44"/>
            </a:solidFill>
            <a:prstDash val="solid"/>
          </a:ln>
          <a:effectLst>
            <a:outerShdw blurRad="76200" dist="25400" dir="5400000" algn="bl" rotWithShape="0">
              <a:srgbClr val="BBC6D2">
                <a:alpha val="4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8" name="Text 16"/>
          <p:cNvSpPr/>
          <p:nvPr/>
        </p:nvSpPr>
        <p:spPr>
          <a:xfrm>
            <a:off x="9189720" y="210312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9189720" y="278892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CO₂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9189720" y="320040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gespart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397764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EAF1F8"/>
          </a:solidFill>
          <a:ln w="12700">
            <a:solidFill>
              <a:srgbClr val="2E6DA4"/>
            </a:solidFill>
            <a:prstDash val="solid"/>
          </a:ln>
          <a:effectLst>
            <a:outerShdw blurRad="76200" dist="25400" dir="5400000" algn="bl" rotWithShape="0">
              <a:srgbClr val="BBC6D2">
                <a:alpha val="4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2" name="Text 20"/>
          <p:cNvSpPr/>
          <p:nvPr/>
        </p:nvSpPr>
        <p:spPr>
          <a:xfrm>
            <a:off x="868680" y="4114800"/>
            <a:ext cx="10424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Quantifizierter Nachweis:  </a:t>
            </a:r>
            <a:r>
              <a:rPr lang="en-US" sz="150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Dashboard beziffert die Einsparung der Mehrstopp-Optimierung gegenüber Einzelfahrten (je Apotheke eine Hin-/Rückfahrt) in km, CHF, Stunden und kg CO₂ — absolut und in Prozent.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68680" y="489204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2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Sieben Analyse-Reiter (Übersicht · Last Mile · Hauptlauf · Hubs · Belieferung · Verkehr · CO₂) + interaktive Karte mit Lieferketten-Highlighting.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 Logistics CH · Optimierung von Logistikrouten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146304" cy="384048"/>
          </a:xfrm>
          <a:prstGeom prst="rect">
            <a:avLst/>
          </a:prstGeom>
          <a:solidFill>
            <a:srgbClr val="E09F3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789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Nutzen für Unternehmen &amp; Umwelt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40680" cy="36576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blurRad="76200" dist="25400" dir="5400000" algn="bl" rotWithShape="0">
              <a:srgbClr val="BBC6D2">
                <a:alpha val="4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440680" cy="685800"/>
          </a:xfrm>
          <a:prstGeom prst="rect">
            <a:avLst/>
          </a:prstGeom>
          <a:solidFill>
            <a:srgbClr val="2E6DA4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868680" y="1783080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Wirtschaftlich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14400" y="2743200"/>
            <a:ext cx="475488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 algn="l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Geringere Transportkosten je Lieferzyklus</a:t>
            </a:r>
            <a:endParaRPr lang="en-US" sz="1600" dirty="0"/>
          </a:p>
          <a:p>
            <a:pPr marL="177800" indent="-177800" algn="l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Höhere Fahrzeug- und Lagerauslastung</a:t>
            </a:r>
            <a:endParaRPr lang="en-US" sz="1600" dirty="0"/>
          </a:p>
          <a:p>
            <a:pPr marL="177800" indent="-177800" algn="l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Konfigurierbar: Flotte, Gewichte, Parameter</a:t>
            </a:r>
            <a:endParaRPr lang="en-US" sz="1600" dirty="0"/>
          </a:p>
          <a:p>
            <a:pPr marL="177800" indent="-177800" algn="l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Reproduzierbare, datengetriebene Planung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63640" y="1783080"/>
            <a:ext cx="5440680" cy="36576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blurRad="76200" dist="25400" dir="5400000" algn="bl" rotWithShape="0">
              <a:srgbClr val="BBC6D2">
                <a:alpha val="4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9" name="Shape 7"/>
          <p:cNvSpPr/>
          <p:nvPr/>
        </p:nvSpPr>
        <p:spPr>
          <a:xfrm>
            <a:off x="6263640" y="1783080"/>
            <a:ext cx="5440680" cy="685800"/>
          </a:xfrm>
          <a:prstGeom prst="rect">
            <a:avLst/>
          </a:prstGeom>
          <a:solidFill>
            <a:srgbClr val="3A7D44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/>
          <p:nvPr/>
        </p:nvSpPr>
        <p:spPr>
          <a:xfrm>
            <a:off x="6583680" y="1783080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Ökologisch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629400" y="2743200"/>
            <a:ext cx="475488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 algn="l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Weniger gefahrene Kilometer → weniger CO₂</a:t>
            </a:r>
            <a:endParaRPr lang="en-US" sz="1600" dirty="0"/>
          </a:p>
          <a:p>
            <a:pPr marL="177800" indent="-177800" algn="l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Konsolidierte statt einzelner Touren</a:t>
            </a:r>
            <a:endParaRPr lang="en-US" sz="1600" dirty="0"/>
          </a:p>
          <a:p>
            <a:pPr marL="177800" indent="-177800" algn="l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CO₂ als gleichwertige Zielgröße im Score</a:t>
            </a:r>
            <a:endParaRPr lang="en-US" sz="1600" dirty="0"/>
          </a:p>
          <a:p>
            <a:pPr marL="177800" indent="-177800" algn="l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Transparenter Emissions-Ausweis je Fahrzeug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 Logistics CH · Optimierung von Logistikrouten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09F3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822960" y="868680"/>
            <a:ext cx="640080" cy="146304"/>
          </a:xfrm>
          <a:prstGeom prst="rect">
            <a:avLst/>
          </a:prstGeom>
          <a:solidFill>
            <a:srgbClr val="E09F3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" name="Text 2"/>
          <p:cNvSpPr/>
          <p:nvPr/>
        </p:nvSpPr>
        <p:spPr>
          <a:xfrm>
            <a:off x="777240" y="109728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Fazit &amp; Ausblick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822960" y="2057400"/>
            <a:ext cx="104241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Aufgabenstellung ist vollständig erfüllt: </a:t>
            </a: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lauffähiger, cloudbasierter Prototyp optimiert Logistikrouten graphbasiert nach Kosten, Zeit und Umwelt und bindet Entfernung, Verkehr und Kapazität wirksam ein — der Optimierungsgewinn wird quantitativ belegt.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36118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09F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Ausblick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4114800"/>
            <a:ext cx="104241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 algn="l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E6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Lokale Nachoptimierung (2-opt) bzw. Solver (OR-Tools) für noch bessere Touren</a:t>
            </a:r>
            <a:endParaRPr lang="en-US" sz="1600" dirty="0"/>
          </a:p>
          <a:p>
            <a:pPr marL="177800" indent="-177800" algn="l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E6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Zeitabhängiges VRP mit echten Verkehrsprofilen</a:t>
            </a:r>
            <a:endParaRPr lang="en-US" sz="1600" dirty="0"/>
          </a:p>
          <a:p>
            <a:pPr marL="177800" indent="-177800" algn="l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E6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Dynamische Re-Optimierung bei Störungen, mehrtägige Tourenplanung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58978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i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Vielen Dank — Fragen?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1544</Words>
  <Application>Microsoft Macintosh PowerPoint</Application>
  <PresentationFormat>Breitbild</PresentationFormat>
  <Paragraphs>158</Paragraphs>
  <Slides>13</Slides>
  <Notes>13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13</vt:i4>
      </vt:variant>
    </vt:vector>
  </HeadingPairs>
  <TitlesOfParts>
    <vt:vector size="17" baseType="lpstr">
      <vt:lpstr>Arial</vt:lpstr>
      <vt:lpstr>Calibri</vt:lpstr>
      <vt:lpstr>Trebuchet MS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Optimierung von Logistikrouten</dc:title>
  <dc:subject>PptxGenJS Presentation</dc:subject>
  <dc:creator>Pharma Logistics CH</dc:creator>
  <cp:lastModifiedBy>Aleks Ferro</cp:lastModifiedBy>
  <cp:revision>1</cp:revision>
  <dcterms:created xsi:type="dcterms:W3CDTF">2026-06-09T23:08:29Z</dcterms:created>
  <dcterms:modified xsi:type="dcterms:W3CDTF">2026-06-09T23:20:04Z</dcterms:modified>
</cp:coreProperties>
</file>